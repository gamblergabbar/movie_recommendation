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74" r:id="rId5"/>
    <p:sldId id="259" r:id="rId6"/>
    <p:sldId id="260" r:id="rId7"/>
    <p:sldId id="261" r:id="rId8"/>
    <p:sldId id="262" r:id="rId9"/>
    <p:sldId id="263" r:id="rId10"/>
    <p:sldId id="264" r:id="rId11"/>
    <p:sldId id="265" r:id="rId12"/>
    <p:sldId id="266" r:id="rId13"/>
    <p:sldId id="267" r:id="rId14"/>
    <p:sldId id="269" r:id="rId15"/>
    <p:sldId id="270" r:id="rId16"/>
    <p:sldId id="271" r:id="rId17"/>
    <p:sldId id="272" r:id="rId18"/>
    <p:sldId id="273" r:id="rId19"/>
  </p:sldIdLst>
  <p:sldSz cx="9144000" cy="5143500" type="screen16x9"/>
  <p:notesSz cx="5143500" cy="9144000"/>
  <p:embeddedFontLst>
    <p:embeddedFont>
      <p:font typeface="Consolas" panose="020B0609020204030204" pitchFamily="49" charset="0"/>
      <p:regular r:id="rId21"/>
      <p:bold r:id="rId22"/>
      <p:italic r:id="rId23"/>
      <p:boldItalic r:id="rId24"/>
    </p:embeddedFont>
    <p:embeddedFont>
      <p:font typeface="Gelasio"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3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4915" autoAdjust="0"/>
  </p:normalViewPr>
  <p:slideViewPr>
    <p:cSldViewPr snapToGrid="0" snapToObjects="1">
      <p:cViewPr>
        <p:scale>
          <a:sx n="125" d="100"/>
          <a:sy n="125" d="100"/>
        </p:scale>
        <p:origin x="226" y="72"/>
      </p:cViewPr>
      <p:guideLst/>
    </p:cSldViewPr>
  </p:slideViewPr>
  <p:notesTextViewPr>
    <p:cViewPr>
      <p:scale>
        <a:sx n="1" d="1"/>
        <a:sy n="1" d="1"/>
      </p:scale>
      <p:origin x="0" y="0"/>
    </p:cViewPr>
  </p:notesTextViewPr>
  <p:notesViewPr>
    <p:cSldViewPr snapToGrid="0" snapToObjects="1">
      <p:cViewPr varScale="1">
        <p:scale>
          <a:sx n="72" d="100"/>
          <a:sy n="72" d="100"/>
        </p:scale>
        <p:origin x="3398"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9519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sir. My name is Tejendra Kanwar and today I'll be presenting our Semester 2 Big Data project titled — **Movie Genre Classification and Recommendation </a:t>
            </a:r>
            <a:r>
              <a:rPr lang="en-US" dirty="0" err="1"/>
              <a:t>Pipeline.This</a:t>
            </a:r>
            <a:r>
              <a:rPr lang="en-US" dirty="0"/>
              <a:t> project was built by our team — Sunil Kerketta, Vikas Singh Rajput .</a:t>
            </a:r>
            <a:br>
              <a:rPr lang="en-US" dirty="0"/>
            </a:br>
            <a:r>
              <a:rPr lang="en-US" dirty="0"/>
              <a:t>In this project, we have built a complete system that automatically classifies movies into genres and recommends them to users — using big data tools like Hadoop, Apache Mahout, and Docker."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begin, let me quickly walk you through what we'll be covering today.</a:t>
            </a:r>
          </a:p>
          <a:p>
            <a:r>
              <a:rPr lang="en-US" dirty="0"/>
              <a:t>We'll start with the **problem we are solving* and why it matters. Then we'll explain our *system architecture* — which has 4 layers.</a:t>
            </a:r>
          </a:p>
          <a:p>
            <a:r>
              <a:rPr lang="en-US" dirty="0"/>
              <a:t> After that, we'll go into each layer one by one — starting from *how we collected the data, then **how we stored it, then **how our AI model works, </a:t>
            </a:r>
          </a:p>
          <a:p>
            <a:r>
              <a:rPr lang="en-US" dirty="0"/>
              <a:t>and finally we'll show our **</a:t>
            </a:r>
            <a:r>
              <a:rPr lang="en-US" dirty="0" err="1"/>
              <a:t>CineVault</a:t>
            </a:r>
            <a:r>
              <a:rPr lang="en-US" dirty="0"/>
              <a:t> dashboard, which is the frontend of our system.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problem are we </a:t>
            </a:r>
            <a:r>
              <a:rPr lang="en-US" dirty="0" err="1"/>
              <a:t>solving?Think</a:t>
            </a:r>
            <a:r>
              <a:rPr lang="en-US" dirty="0"/>
              <a:t> about platforms like Netflix or Amazon Prime — they have **millions of movies. Someone has to assign the correct genre — like Action, Drama, or Comedy — to every single movie. Doing this **manually is simply not possible* at that scale.*</a:t>
            </a:r>
          </a:p>
          <a:p>
            <a:r>
              <a:rPr lang="en-US" dirty="0"/>
              <a:t>On top of that, traditional systems that run on a **single computer* cannot handle millions of movie descriptions at once. They run out of memory and become too slow.*</a:t>
            </a:r>
          </a:p>
          <a:p>
            <a:r>
              <a:rPr lang="en-US" dirty="0"/>
              <a:t>There's also another challenge — the data is **imbalanced. For example, we have 3,235 Drama movies but only 117 War movies. This makes it harder to train a fair AI model.</a:t>
            </a:r>
          </a:p>
          <a:p>
            <a:r>
              <a:rPr lang="en-US" dirty="0"/>
              <a:t>Our motivation is simple — if we can accurately predict a movie's genre, we can **improve recommendations* for users, which means they stay on the platform longer.*Our solution is a **distributed big data pipeline* using Docker, Hadoop, Apache Mahout, TF-IDF, and a special algorithm called Complementary Naive Bayes — which we'll explain shortly."*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explain how our system is designed. We have **4 layers, each doing a specific </a:t>
            </a:r>
            <a:r>
              <a:rPr lang="en-US" dirty="0" err="1"/>
              <a:t>job.The</a:t>
            </a:r>
            <a:r>
              <a:rPr lang="en-US" dirty="0"/>
              <a:t> </a:t>
            </a:r>
          </a:p>
          <a:p>
            <a:r>
              <a:rPr lang="en-US" dirty="0"/>
              <a:t>**first layer is Data Ingestion* — this is where we fetch movie data from the internet using the TMDB API, through two Python scripts.</a:t>
            </a:r>
          </a:p>
          <a:p>
            <a:r>
              <a:rPr lang="en-US" dirty="0"/>
              <a:t>*The **second layer is Distributed Storage* — we use Docker to set up a Hadoop HDFS cluster, which stores our data across multiple nodes so it doesn't overload any single machine.</a:t>
            </a:r>
          </a:p>
          <a:p>
            <a:r>
              <a:rPr lang="en-US" dirty="0"/>
              <a:t>*The **third layer is the AI Engine* — this is the brain of our system. It converts the movie text into numbers using TF-IDF, and then trains our classification model using Complementary Naive Bayes.</a:t>
            </a:r>
          </a:p>
          <a:p>
            <a:r>
              <a:rPr lang="en-US" dirty="0"/>
              <a:t>*The **fourth layer is the Dashboard* — this is our </a:t>
            </a:r>
            <a:r>
              <a:rPr lang="en-US" dirty="0" err="1"/>
              <a:t>CineVault</a:t>
            </a:r>
            <a:r>
              <a:rPr lang="en-US" dirty="0"/>
              <a:t> web interface, where users can browse movies and get personalized recommendations.</a:t>
            </a:r>
          </a:p>
          <a:p>
            <a:r>
              <a:rPr lang="en-US" dirty="0"/>
              <a:t>*One important highlight — the **entire system runs with a single command: docker-compose up. Everything is containerized, so it works the same on any machine."---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deeper into the first layer — Data </a:t>
            </a:r>
            <a:r>
              <a:rPr lang="en-US" dirty="0" err="1"/>
              <a:t>Ingestion.We</a:t>
            </a:r>
            <a:r>
              <a:rPr lang="en-US" dirty="0"/>
              <a:t> wrote two Python scripts to collect our data.</a:t>
            </a:r>
          </a:p>
          <a:p>
            <a:r>
              <a:rPr lang="en-US" dirty="0"/>
              <a:t>The **first script, fetch_tmdb_movies.py, connects to the TMDB API — which is a popular public movie database. It fetches movies from four categories: popular, top rated, now playing, and upcoming. It can fetch up to 500 pages of popular movies. If the API is overloaded and rejects our request, the script automatically waits and retries — this is called **exponential backoff. Each movie's title and description is saved as a text file, organized by genre.</a:t>
            </a:r>
          </a:p>
          <a:p>
            <a:r>
              <a:rPr lang="en-US" dirty="0"/>
              <a:t>The **second script, enrich_dataset.py, adds more information to each movie — like the tagline, important keywords, top 3 cast members, and the director. Keywords are given 3 times more weight because they directly describe the movie's </a:t>
            </a:r>
            <a:r>
              <a:rPr lang="en-US" dirty="0" err="1"/>
              <a:t>genre.After</a:t>
            </a:r>
            <a:r>
              <a:rPr lang="en-US" dirty="0"/>
              <a:t> running both scripts, we collected a total of **13,711 movies across 17 genres.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the data we </a:t>
            </a:r>
            <a:r>
              <a:rPr lang="en-US" dirty="0" err="1"/>
              <a:t>collected.In</a:t>
            </a:r>
            <a:r>
              <a:rPr lang="en-US" dirty="0"/>
              <a:t> total, we have **13,711 movies* spread across genres. Initially, we had 19 genres, but we removed 2 of them — History had only 95 movies, and TV Movie had only 37 — which is too little for training a model. So we kept *17 genres, each having at least 100 </a:t>
            </a:r>
            <a:r>
              <a:rPr lang="en-US" dirty="0" err="1"/>
              <a:t>movies.Looking</a:t>
            </a:r>
            <a:r>
              <a:rPr lang="en-US" dirty="0"/>
              <a:t> at the top genres — **Drama has the most movies at 3,235, followed by Comedy with 2,449, and Action with 1,642. Horror and Animation also have good </a:t>
            </a:r>
            <a:r>
              <a:rPr lang="en-US" dirty="0" err="1"/>
              <a:t>numbers.On</a:t>
            </a:r>
            <a:r>
              <a:rPr lang="en-US" dirty="0"/>
              <a:t> the other end, **War has the fewest — just 117 movies, followed by Western with 122 and Music with 135.This big difference — Drama having 3,235 movies versus War having only 117 — creates what we call a **class imbalance. This is a 27 times difference! </a:t>
            </a:r>
            <a:r>
              <a:rPr lang="en-US"/>
              <a:t>This is exactly why we chose the Complementary Naive Bayes algorithm, which handles imbalanced data much better than standard methods — and we'll explain that in a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Complementary Naive Bayes (CNB)</a:t>
            </a:r>
            <a:r>
              <a:rPr lang="en-US" sz="1200" b="0" i="0" kern="1200" dirty="0">
                <a:solidFill>
                  <a:schemeClr val="tx1"/>
                </a:solidFill>
                <a:effectLst/>
                <a:latin typeface="+mn-lt"/>
                <a:ea typeface="+mn-ea"/>
                <a:cs typeface="+mn-cs"/>
              </a:rPr>
              <a:t> is an evolution of the standard Naive Bayes algorithm, specifically designed to fix some of standard Naive Bayes' biggest flaws when dealing with imbalanced datasets.</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Standard Naive Bayes calculates the probability that a movie belongs to a specific genre by looking at its features.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Instead of calculating the probability that a movie </a:t>
            </a:r>
            <a:r>
              <a:rPr lang="en-US" sz="1200" b="0" i="1" kern="1200" dirty="0">
                <a:solidFill>
                  <a:schemeClr val="tx1"/>
                </a:solidFill>
                <a:effectLst/>
                <a:latin typeface="+mn-lt"/>
                <a:ea typeface="+mn-ea"/>
                <a:cs typeface="+mn-cs"/>
              </a:rPr>
              <a:t>belongs to a specific genre</a:t>
            </a:r>
            <a:r>
              <a:rPr lang="en-US" sz="1200" b="0" i="0" kern="1200" dirty="0">
                <a:solidFill>
                  <a:schemeClr val="tx1"/>
                </a:solidFill>
                <a:effectLst/>
                <a:latin typeface="+mn-lt"/>
                <a:ea typeface="+mn-ea"/>
                <a:cs typeface="+mn-cs"/>
              </a:rPr>
              <a:t> (e.g., "What are the odds this is a Drama?"), CNB calculates the probability that the movie </a:t>
            </a:r>
            <a:r>
              <a:rPr lang="en-US" sz="1200" b="1" i="0" kern="1200" dirty="0">
                <a:solidFill>
                  <a:schemeClr val="tx1"/>
                </a:solidFill>
                <a:effectLst/>
                <a:latin typeface="+mn-lt"/>
                <a:ea typeface="+mn-ea"/>
                <a:cs typeface="+mn-cs"/>
              </a:rPr>
              <a:t>belongs to all OTHER genre</a:t>
            </a:r>
            <a:br>
              <a:rPr lang="en-US" sz="1200" b="1" i="0" kern="1200" dirty="0">
                <a:solidFill>
                  <a:schemeClr val="tx1"/>
                </a:solidFill>
                <a:effectLst/>
                <a:latin typeface="+mn-lt"/>
                <a:ea typeface="+mn-ea"/>
                <a:cs typeface="+mn-cs"/>
              </a:rPr>
            </a:br>
            <a:br>
              <a:rPr lang="en-US" sz="1200" b="1" i="0" kern="120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txBody>
          <a:bodyPr/>
          <a:lstStyle/>
          <a:p>
            <a:endParaRPr lang="en-IN"/>
          </a:p>
        </p:txBody>
      </p:sp>
      <p:sp>
        <p:nvSpPr>
          <p:cNvPr id="3" name="Shape 1"/>
          <p:cNvSpPr/>
          <p:nvPr/>
        </p:nvSpPr>
        <p:spPr>
          <a:xfrm>
            <a:off x="0" y="0"/>
            <a:ext cx="9144000" cy="51435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8" Type="http://schemas.openxmlformats.org/officeDocument/2006/relationships/hyperlink" Target="https://lucene.apache.org" TargetMode="External"/><Relationship Id="rId3" Type="http://schemas.openxmlformats.org/officeDocument/2006/relationships/image" Target="../media/image19.png"/><Relationship Id="rId7" Type="http://schemas.openxmlformats.org/officeDocument/2006/relationships/hyperlink" Target="https://docs.docker.com/compose" TargetMode="External"/><Relationship Id="rId2" Type="http://schemas.openxmlformats.org/officeDocument/2006/relationships/notesSlide" Target="../notesSlides/notesSlide17.xml"/><Relationship Id="rId1" Type="http://schemas.openxmlformats.org/officeDocument/2006/relationships/slideLayout" Target="../slideLayouts/slideLayout19.xml"/><Relationship Id="rId6" Type="http://schemas.openxmlformats.org/officeDocument/2006/relationships/hyperlink" Target="https://hadoop.apache.org/docs/r3.2.1" TargetMode="External"/><Relationship Id="rId5" Type="http://schemas.openxmlformats.org/officeDocument/2006/relationships/hyperlink" Target="https://mahout.apache.org" TargetMode="External"/><Relationship Id="rId4" Type="http://schemas.openxmlformats.org/officeDocument/2006/relationships/hyperlink" Target="https://developers.themoviedb.org" TargetMode="External"/><Relationship Id="rId9" Type="http://schemas.openxmlformats.org/officeDocument/2006/relationships/hyperlink" Target="https://github.com/big-data-europe/docker-hadoop"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373433"/>
          </a:solidFill>
          <a:ln/>
        </p:spPr>
        <p:txBody>
          <a:bodyPr/>
          <a:lstStyle/>
          <a:p>
            <a:endParaRPr lang="en-IN"/>
          </a:p>
        </p:txBody>
      </p:sp>
      <p:pic>
        <p:nvPicPr>
          <p:cNvPr id="3" name="Image 0" descr="preencoded.png"/>
          <p:cNvPicPr>
            <a:picLocks noChangeAspect="1"/>
          </p:cNvPicPr>
          <p:nvPr/>
        </p:nvPicPr>
        <p:blipFill>
          <a:blip r:embed="rId3"/>
          <a:stretch>
            <a:fillRect/>
          </a:stretch>
        </p:blipFill>
        <p:spPr>
          <a:xfrm>
            <a:off x="70842" y="380181"/>
            <a:ext cx="3287241" cy="4383063"/>
          </a:xfrm>
          <a:prstGeom prst="rect">
            <a:avLst/>
          </a:prstGeom>
        </p:spPr>
      </p:pic>
      <p:sp>
        <p:nvSpPr>
          <p:cNvPr id="4" name="Text 1"/>
          <p:cNvSpPr/>
          <p:nvPr/>
        </p:nvSpPr>
        <p:spPr>
          <a:xfrm>
            <a:off x="3925119" y="1267569"/>
            <a:ext cx="4722763" cy="1328961"/>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D8B6A4"/>
                </a:solidFill>
                <a:latin typeface="Gelasio" pitchFamily="34" charset="0"/>
                <a:ea typeface="Gelasio" pitchFamily="34" charset="-122"/>
                <a:cs typeface="Gelasio" pitchFamily="34" charset="-120"/>
              </a:rPr>
              <a:t>Movie Genre Classification and Recommendation Pipeline</a:t>
            </a:r>
            <a:endParaRPr lang="en-US" sz="2750" dirty="0"/>
          </a:p>
        </p:txBody>
      </p:sp>
      <p:sp>
        <p:nvSpPr>
          <p:cNvPr id="5" name="Text 2"/>
          <p:cNvSpPr/>
          <p:nvPr/>
        </p:nvSpPr>
        <p:spPr>
          <a:xfrm>
            <a:off x="3925119" y="2809131"/>
            <a:ext cx="5179963" cy="226814"/>
          </a:xfrm>
          <a:prstGeom prst="rect">
            <a:avLst/>
          </a:prstGeom>
          <a:noFill/>
          <a:ln/>
        </p:spPr>
        <p:txBody>
          <a:bodyPr wrap="none" lIns="0" tIns="0" rIns="0" bIns="0" rtlCol="0" anchor="t"/>
          <a:lstStyle/>
          <a:p>
            <a:pPr marL="0" indent="0" algn="l">
              <a:lnSpc>
                <a:spcPct val="133000"/>
              </a:lnSpc>
              <a:buNone/>
            </a:pPr>
            <a:r>
              <a:rPr lang="en-US" sz="1100" dirty="0">
                <a:solidFill>
                  <a:srgbClr val="C9C2C0"/>
                </a:solidFill>
                <a:latin typeface="Gelasio" pitchFamily="34" charset="0"/>
                <a:ea typeface="Gelasio" pitchFamily="34" charset="-122"/>
                <a:cs typeface="Gelasio" pitchFamily="34" charset="-120"/>
              </a:rPr>
              <a:t>Big Data Pipeline — Hadoop HDFS · Apache Mahout · Docker · CineVault</a:t>
            </a:r>
            <a:endParaRPr lang="en-US" sz="1100" dirty="0"/>
          </a:p>
        </p:txBody>
      </p:sp>
      <p:sp>
        <p:nvSpPr>
          <p:cNvPr id="6" name="Text 3"/>
          <p:cNvSpPr/>
          <p:nvPr/>
        </p:nvSpPr>
        <p:spPr>
          <a:xfrm>
            <a:off x="3925119" y="3195414"/>
            <a:ext cx="4722763"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9C2C0"/>
                </a:solidFill>
                <a:latin typeface="Gelasio" pitchFamily="34" charset="0"/>
                <a:ea typeface="Gelasio" pitchFamily="34" charset="-122"/>
                <a:cs typeface="Gelasio" pitchFamily="34" charset="-120"/>
              </a:rPr>
              <a:t>Sunil Kerketta | Vikas Singh Rajput | Tejendra Kanwar</a:t>
            </a:r>
            <a:endParaRPr lang="en-US" sz="1100" dirty="0"/>
          </a:p>
          <a:p>
            <a:pPr marL="0" indent="0" algn="l">
              <a:lnSpc>
                <a:spcPct val="133000"/>
              </a:lnSpc>
              <a:buNone/>
            </a:pPr>
            <a:r>
              <a:rPr lang="en-US" sz="1100" dirty="0">
                <a:solidFill>
                  <a:srgbClr val="C9C2C0"/>
                </a:solidFill>
                <a:latin typeface="Gelasio" pitchFamily="34" charset="0"/>
                <a:ea typeface="Gelasio" pitchFamily="34" charset="-122"/>
                <a:cs typeface="Gelasio" pitchFamily="34" charset="-120"/>
              </a:rPr>
              <a:t>DSAI Branch, IIIT Naya Raipur, Chhattisgarh — Semester 2 Big Data Project</a:t>
            </a:r>
            <a:endParaRPr lang="en-US" sz="1100" dirty="0"/>
          </a:p>
        </p:txBody>
      </p:sp>
      <p:sp>
        <p:nvSpPr>
          <p:cNvPr id="7" name="Rectangle 6">
            <a:extLst>
              <a:ext uri="{FF2B5EF4-FFF2-40B4-BE49-F238E27FC236}">
                <a16:creationId xmlns:a16="http://schemas.microsoft.com/office/drawing/2014/main" id="{370B395D-519F-55B2-3436-11213BEAB356}"/>
              </a:ext>
            </a:extLst>
          </p:cNvPr>
          <p:cNvSpPr/>
          <p:nvPr/>
        </p:nvSpPr>
        <p:spPr>
          <a:xfrm>
            <a:off x="8060788" y="4831849"/>
            <a:ext cx="1012370" cy="226815"/>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88379" y="386060"/>
            <a:ext cx="3945954" cy="436066"/>
          </a:xfrm>
          <a:prstGeom prst="rect">
            <a:avLst/>
          </a:prstGeom>
          <a:noFill/>
          <a:ln/>
        </p:spPr>
        <p:txBody>
          <a:bodyPr wrap="none" lIns="0" tIns="0" rIns="0" bIns="0" rtlCol="0" anchor="t"/>
          <a:lstStyle/>
          <a:p>
            <a:pPr marL="0" indent="0" algn="l">
              <a:lnSpc>
                <a:spcPct val="104000"/>
              </a:lnSpc>
              <a:buNone/>
            </a:pPr>
            <a:r>
              <a:rPr lang="en-US" sz="2700" dirty="0">
                <a:solidFill>
                  <a:srgbClr val="D8B6A4"/>
                </a:solidFill>
                <a:latin typeface="Gelasio" pitchFamily="34" charset="0"/>
                <a:ea typeface="Gelasio" pitchFamily="34" charset="-122"/>
                <a:cs typeface="Gelasio" pitchFamily="34" charset="-120"/>
              </a:rPr>
              <a:t>Agenda</a:t>
            </a:r>
            <a:endParaRPr lang="en-US" sz="2700" dirty="0"/>
          </a:p>
        </p:txBody>
      </p:sp>
      <p:sp>
        <p:nvSpPr>
          <p:cNvPr id="3" name="Text 1"/>
          <p:cNvSpPr/>
          <p:nvPr/>
        </p:nvSpPr>
        <p:spPr>
          <a:xfrm>
            <a:off x="488379" y="1096863"/>
            <a:ext cx="736253" cy="174427"/>
          </a:xfrm>
          <a:prstGeom prst="rect">
            <a:avLst/>
          </a:prstGeom>
          <a:noFill/>
          <a:ln/>
        </p:spPr>
        <p:txBody>
          <a:bodyPr wrap="none" lIns="0" tIns="0" rIns="0" bIns="0" rtlCol="0" anchor="ctr"/>
          <a:lstStyle/>
          <a:p>
            <a:pPr marL="0" indent="0" algn="l">
              <a:lnSpc>
                <a:spcPct val="100000"/>
              </a:lnSpc>
              <a:buNone/>
            </a:pPr>
            <a:r>
              <a:rPr lang="en-US" sz="1050" dirty="0">
                <a:solidFill>
                  <a:srgbClr val="C9C2C0"/>
                </a:solidFill>
                <a:latin typeface="Gelasio Light" pitchFamily="34" charset="0"/>
                <a:ea typeface="Gelasio Light" pitchFamily="34" charset="-122"/>
                <a:cs typeface="Gelasio Light" pitchFamily="34" charset="-120"/>
              </a:rPr>
              <a:t>01</a:t>
            </a:r>
            <a:endParaRPr lang="en-US" sz="1050" dirty="0"/>
          </a:p>
        </p:txBody>
      </p:sp>
      <p:sp>
        <p:nvSpPr>
          <p:cNvPr id="4" name="Shape 2"/>
          <p:cNvSpPr/>
          <p:nvPr/>
        </p:nvSpPr>
        <p:spPr>
          <a:xfrm>
            <a:off x="488379" y="1314971"/>
            <a:ext cx="2630835" cy="19050"/>
          </a:xfrm>
          <a:prstGeom prst="rect">
            <a:avLst/>
          </a:prstGeom>
          <a:solidFill>
            <a:srgbClr val="C49F8C"/>
          </a:solidFill>
          <a:ln/>
        </p:spPr>
        <p:txBody>
          <a:bodyPr/>
          <a:lstStyle/>
          <a:p>
            <a:endParaRPr lang="en-IN"/>
          </a:p>
        </p:txBody>
      </p:sp>
      <p:sp>
        <p:nvSpPr>
          <p:cNvPr id="5" name="Text 3"/>
          <p:cNvSpPr/>
          <p:nvPr/>
        </p:nvSpPr>
        <p:spPr>
          <a:xfrm>
            <a:off x="488379" y="1422797"/>
            <a:ext cx="3005435" cy="218033"/>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Problem Statement &amp; Motivation</a:t>
            </a:r>
            <a:endParaRPr lang="en-US" sz="1350" dirty="0"/>
          </a:p>
        </p:txBody>
      </p:sp>
      <p:sp>
        <p:nvSpPr>
          <p:cNvPr id="6" name="Text 4"/>
          <p:cNvSpPr/>
          <p:nvPr/>
        </p:nvSpPr>
        <p:spPr>
          <a:xfrm>
            <a:off x="3256583" y="1096863"/>
            <a:ext cx="736253" cy="174427"/>
          </a:xfrm>
          <a:prstGeom prst="rect">
            <a:avLst/>
          </a:prstGeom>
          <a:noFill/>
          <a:ln/>
        </p:spPr>
        <p:txBody>
          <a:bodyPr wrap="none" lIns="0" tIns="0" rIns="0" bIns="0" rtlCol="0" anchor="ctr"/>
          <a:lstStyle/>
          <a:p>
            <a:pPr marL="0" indent="0" algn="l">
              <a:lnSpc>
                <a:spcPct val="100000"/>
              </a:lnSpc>
              <a:buNone/>
            </a:pPr>
            <a:r>
              <a:rPr lang="en-US" sz="1050" dirty="0">
                <a:solidFill>
                  <a:srgbClr val="C9C2C0"/>
                </a:solidFill>
                <a:latin typeface="Gelasio Light" pitchFamily="34" charset="0"/>
                <a:ea typeface="Gelasio Light" pitchFamily="34" charset="-122"/>
                <a:cs typeface="Gelasio Light" pitchFamily="34" charset="-120"/>
              </a:rPr>
              <a:t>02</a:t>
            </a:r>
            <a:endParaRPr lang="en-US" sz="1050" dirty="0"/>
          </a:p>
        </p:txBody>
      </p:sp>
      <p:sp>
        <p:nvSpPr>
          <p:cNvPr id="7" name="Shape 5"/>
          <p:cNvSpPr/>
          <p:nvPr/>
        </p:nvSpPr>
        <p:spPr>
          <a:xfrm>
            <a:off x="3256583" y="1314971"/>
            <a:ext cx="2630835" cy="19050"/>
          </a:xfrm>
          <a:prstGeom prst="rect">
            <a:avLst/>
          </a:prstGeom>
          <a:solidFill>
            <a:srgbClr val="C49F8C"/>
          </a:solidFill>
          <a:ln/>
        </p:spPr>
        <p:txBody>
          <a:bodyPr/>
          <a:lstStyle/>
          <a:p>
            <a:endParaRPr lang="en-IN"/>
          </a:p>
        </p:txBody>
      </p:sp>
      <p:sp>
        <p:nvSpPr>
          <p:cNvPr id="8" name="Text 6"/>
          <p:cNvSpPr/>
          <p:nvPr/>
        </p:nvSpPr>
        <p:spPr>
          <a:xfrm>
            <a:off x="3256583" y="1422797"/>
            <a:ext cx="2900288" cy="218033"/>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System Architecture — 4 Layers</a:t>
            </a:r>
            <a:endParaRPr lang="en-US" sz="1350" dirty="0"/>
          </a:p>
        </p:txBody>
      </p:sp>
      <p:sp>
        <p:nvSpPr>
          <p:cNvPr id="9" name="Text 7"/>
          <p:cNvSpPr/>
          <p:nvPr/>
        </p:nvSpPr>
        <p:spPr>
          <a:xfrm>
            <a:off x="6024786" y="1096863"/>
            <a:ext cx="736253" cy="174427"/>
          </a:xfrm>
          <a:prstGeom prst="rect">
            <a:avLst/>
          </a:prstGeom>
          <a:noFill/>
          <a:ln/>
        </p:spPr>
        <p:txBody>
          <a:bodyPr wrap="none" lIns="0" tIns="0" rIns="0" bIns="0" rtlCol="0" anchor="ctr"/>
          <a:lstStyle/>
          <a:p>
            <a:pPr marL="0" indent="0" algn="l">
              <a:lnSpc>
                <a:spcPct val="100000"/>
              </a:lnSpc>
              <a:buNone/>
            </a:pPr>
            <a:r>
              <a:rPr lang="en-US" sz="1050" dirty="0">
                <a:solidFill>
                  <a:srgbClr val="C9C2C0"/>
                </a:solidFill>
                <a:latin typeface="Gelasio Light" pitchFamily="34" charset="0"/>
                <a:ea typeface="Gelasio Light" pitchFamily="34" charset="-122"/>
                <a:cs typeface="Gelasio Light" pitchFamily="34" charset="-120"/>
              </a:rPr>
              <a:t>03</a:t>
            </a:r>
            <a:endParaRPr lang="en-US" sz="1050" dirty="0"/>
          </a:p>
        </p:txBody>
      </p:sp>
      <p:sp>
        <p:nvSpPr>
          <p:cNvPr id="10" name="Shape 8"/>
          <p:cNvSpPr/>
          <p:nvPr/>
        </p:nvSpPr>
        <p:spPr>
          <a:xfrm>
            <a:off x="6024786" y="1314971"/>
            <a:ext cx="2630835" cy="19050"/>
          </a:xfrm>
          <a:prstGeom prst="rect">
            <a:avLst/>
          </a:prstGeom>
          <a:solidFill>
            <a:srgbClr val="C49F8C"/>
          </a:solidFill>
          <a:ln/>
        </p:spPr>
        <p:txBody>
          <a:bodyPr/>
          <a:lstStyle/>
          <a:p>
            <a:endParaRPr lang="en-IN"/>
          </a:p>
        </p:txBody>
      </p:sp>
      <p:sp>
        <p:nvSpPr>
          <p:cNvPr id="11" name="Text 9"/>
          <p:cNvSpPr/>
          <p:nvPr/>
        </p:nvSpPr>
        <p:spPr>
          <a:xfrm>
            <a:off x="6024786" y="1422797"/>
            <a:ext cx="2630835" cy="436066"/>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Data Ingestion Layer (TMDB API)</a:t>
            </a:r>
            <a:endParaRPr lang="en-US" sz="1350" dirty="0"/>
          </a:p>
        </p:txBody>
      </p:sp>
      <p:sp>
        <p:nvSpPr>
          <p:cNvPr id="12" name="Text 10"/>
          <p:cNvSpPr/>
          <p:nvPr/>
        </p:nvSpPr>
        <p:spPr>
          <a:xfrm>
            <a:off x="488379" y="2100858"/>
            <a:ext cx="736253" cy="174427"/>
          </a:xfrm>
          <a:prstGeom prst="rect">
            <a:avLst/>
          </a:prstGeom>
          <a:noFill/>
          <a:ln/>
        </p:spPr>
        <p:txBody>
          <a:bodyPr wrap="none" lIns="0" tIns="0" rIns="0" bIns="0" rtlCol="0" anchor="ctr"/>
          <a:lstStyle/>
          <a:p>
            <a:pPr marL="0" indent="0" algn="l">
              <a:lnSpc>
                <a:spcPct val="100000"/>
              </a:lnSpc>
              <a:buNone/>
            </a:pPr>
            <a:r>
              <a:rPr lang="en-US" sz="1050" dirty="0">
                <a:solidFill>
                  <a:srgbClr val="C9C2C0"/>
                </a:solidFill>
                <a:latin typeface="Gelasio Light" pitchFamily="34" charset="0"/>
                <a:ea typeface="Gelasio Light" pitchFamily="34" charset="-122"/>
                <a:cs typeface="Gelasio Light" pitchFamily="34" charset="-120"/>
              </a:rPr>
              <a:t>04</a:t>
            </a:r>
            <a:endParaRPr lang="en-US" sz="1050" dirty="0"/>
          </a:p>
        </p:txBody>
      </p:sp>
      <p:sp>
        <p:nvSpPr>
          <p:cNvPr id="13" name="Shape 11"/>
          <p:cNvSpPr/>
          <p:nvPr/>
        </p:nvSpPr>
        <p:spPr>
          <a:xfrm>
            <a:off x="488379" y="2318965"/>
            <a:ext cx="2630835" cy="19050"/>
          </a:xfrm>
          <a:prstGeom prst="rect">
            <a:avLst/>
          </a:prstGeom>
          <a:solidFill>
            <a:srgbClr val="C49F8C"/>
          </a:solidFill>
          <a:ln/>
        </p:spPr>
        <p:txBody>
          <a:bodyPr/>
          <a:lstStyle/>
          <a:p>
            <a:endParaRPr lang="en-IN"/>
          </a:p>
        </p:txBody>
      </p:sp>
      <p:sp>
        <p:nvSpPr>
          <p:cNvPr id="14" name="Text 12"/>
          <p:cNvSpPr/>
          <p:nvPr/>
        </p:nvSpPr>
        <p:spPr>
          <a:xfrm>
            <a:off x="488379" y="2426791"/>
            <a:ext cx="2630835" cy="436066"/>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Dataset Overview &amp; Genre Distribution</a:t>
            </a:r>
            <a:endParaRPr lang="en-US" sz="1350" dirty="0"/>
          </a:p>
        </p:txBody>
      </p:sp>
      <p:sp>
        <p:nvSpPr>
          <p:cNvPr id="15" name="Text 13"/>
          <p:cNvSpPr/>
          <p:nvPr/>
        </p:nvSpPr>
        <p:spPr>
          <a:xfrm>
            <a:off x="3256583" y="2100858"/>
            <a:ext cx="736253" cy="174427"/>
          </a:xfrm>
          <a:prstGeom prst="rect">
            <a:avLst/>
          </a:prstGeom>
          <a:noFill/>
          <a:ln/>
        </p:spPr>
        <p:txBody>
          <a:bodyPr wrap="none" lIns="0" tIns="0" rIns="0" bIns="0" rtlCol="0" anchor="ctr"/>
          <a:lstStyle/>
          <a:p>
            <a:pPr marL="0" indent="0" algn="l">
              <a:lnSpc>
                <a:spcPct val="100000"/>
              </a:lnSpc>
              <a:buNone/>
            </a:pPr>
            <a:r>
              <a:rPr lang="en-US" sz="1050" dirty="0">
                <a:solidFill>
                  <a:srgbClr val="C9C2C0"/>
                </a:solidFill>
                <a:latin typeface="Gelasio Light" pitchFamily="34" charset="0"/>
                <a:ea typeface="Gelasio Light" pitchFamily="34" charset="-122"/>
                <a:cs typeface="Gelasio Light" pitchFamily="34" charset="-120"/>
              </a:rPr>
              <a:t>05</a:t>
            </a:r>
            <a:endParaRPr lang="en-US" sz="1050" dirty="0"/>
          </a:p>
        </p:txBody>
      </p:sp>
      <p:sp>
        <p:nvSpPr>
          <p:cNvPr id="16" name="Shape 14"/>
          <p:cNvSpPr/>
          <p:nvPr/>
        </p:nvSpPr>
        <p:spPr>
          <a:xfrm>
            <a:off x="3256583" y="2318965"/>
            <a:ext cx="2630835" cy="19050"/>
          </a:xfrm>
          <a:prstGeom prst="rect">
            <a:avLst/>
          </a:prstGeom>
          <a:solidFill>
            <a:srgbClr val="C49F8C"/>
          </a:solidFill>
          <a:ln/>
        </p:spPr>
        <p:txBody>
          <a:bodyPr/>
          <a:lstStyle/>
          <a:p>
            <a:endParaRPr lang="en-IN"/>
          </a:p>
        </p:txBody>
      </p:sp>
      <p:sp>
        <p:nvSpPr>
          <p:cNvPr id="17" name="Text 15"/>
          <p:cNvSpPr/>
          <p:nvPr/>
        </p:nvSpPr>
        <p:spPr>
          <a:xfrm>
            <a:off x="3256583" y="2426791"/>
            <a:ext cx="2630835" cy="436066"/>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Distributed Storage — Docker + HDFS</a:t>
            </a:r>
            <a:endParaRPr lang="en-US" sz="1350" dirty="0"/>
          </a:p>
        </p:txBody>
      </p:sp>
      <p:sp>
        <p:nvSpPr>
          <p:cNvPr id="18" name="Text 16"/>
          <p:cNvSpPr/>
          <p:nvPr/>
        </p:nvSpPr>
        <p:spPr>
          <a:xfrm>
            <a:off x="6024786" y="2100858"/>
            <a:ext cx="736253" cy="174427"/>
          </a:xfrm>
          <a:prstGeom prst="rect">
            <a:avLst/>
          </a:prstGeom>
          <a:noFill/>
          <a:ln/>
        </p:spPr>
        <p:txBody>
          <a:bodyPr wrap="none" lIns="0" tIns="0" rIns="0" bIns="0" rtlCol="0" anchor="ctr"/>
          <a:lstStyle/>
          <a:p>
            <a:pPr marL="0" indent="0" algn="l">
              <a:lnSpc>
                <a:spcPct val="100000"/>
              </a:lnSpc>
              <a:buNone/>
            </a:pPr>
            <a:r>
              <a:rPr lang="en-US" sz="1050" dirty="0">
                <a:solidFill>
                  <a:srgbClr val="C9C2C0"/>
                </a:solidFill>
                <a:latin typeface="Gelasio Light" pitchFamily="34" charset="0"/>
                <a:ea typeface="Gelasio Light" pitchFamily="34" charset="-122"/>
                <a:cs typeface="Gelasio Light" pitchFamily="34" charset="-120"/>
              </a:rPr>
              <a:t>06</a:t>
            </a:r>
            <a:endParaRPr lang="en-US" sz="1050" dirty="0"/>
          </a:p>
        </p:txBody>
      </p:sp>
      <p:sp>
        <p:nvSpPr>
          <p:cNvPr id="19" name="Shape 17"/>
          <p:cNvSpPr/>
          <p:nvPr/>
        </p:nvSpPr>
        <p:spPr>
          <a:xfrm>
            <a:off x="6024786" y="2318965"/>
            <a:ext cx="2630835" cy="19050"/>
          </a:xfrm>
          <a:prstGeom prst="rect">
            <a:avLst/>
          </a:prstGeom>
          <a:solidFill>
            <a:srgbClr val="C49F8C"/>
          </a:solidFill>
          <a:ln/>
        </p:spPr>
        <p:txBody>
          <a:bodyPr/>
          <a:lstStyle/>
          <a:p>
            <a:endParaRPr lang="en-IN"/>
          </a:p>
        </p:txBody>
      </p:sp>
      <p:sp>
        <p:nvSpPr>
          <p:cNvPr id="20" name="Text 18"/>
          <p:cNvSpPr/>
          <p:nvPr/>
        </p:nvSpPr>
        <p:spPr>
          <a:xfrm>
            <a:off x="6024786" y="2426791"/>
            <a:ext cx="2630835" cy="436066"/>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AI Engine — Mahout MapReduce Pipeline</a:t>
            </a:r>
            <a:endParaRPr lang="en-US" sz="1350" dirty="0"/>
          </a:p>
        </p:txBody>
      </p:sp>
      <p:sp>
        <p:nvSpPr>
          <p:cNvPr id="21" name="Text 19"/>
          <p:cNvSpPr/>
          <p:nvPr/>
        </p:nvSpPr>
        <p:spPr>
          <a:xfrm>
            <a:off x="488379" y="3104852"/>
            <a:ext cx="736253" cy="174427"/>
          </a:xfrm>
          <a:prstGeom prst="rect">
            <a:avLst/>
          </a:prstGeom>
          <a:noFill/>
          <a:ln/>
        </p:spPr>
        <p:txBody>
          <a:bodyPr wrap="none" lIns="0" tIns="0" rIns="0" bIns="0" rtlCol="0" anchor="ctr"/>
          <a:lstStyle/>
          <a:p>
            <a:pPr marL="0" indent="0" algn="l">
              <a:lnSpc>
                <a:spcPct val="100000"/>
              </a:lnSpc>
              <a:buNone/>
            </a:pPr>
            <a:r>
              <a:rPr lang="en-US" sz="1050" dirty="0">
                <a:solidFill>
                  <a:srgbClr val="C9C2C0"/>
                </a:solidFill>
                <a:latin typeface="Gelasio Light" pitchFamily="34" charset="0"/>
                <a:ea typeface="Gelasio Light" pitchFamily="34" charset="-122"/>
                <a:cs typeface="Gelasio Light" pitchFamily="34" charset="-120"/>
              </a:rPr>
              <a:t>07</a:t>
            </a:r>
            <a:endParaRPr lang="en-US" sz="1050" dirty="0"/>
          </a:p>
        </p:txBody>
      </p:sp>
      <p:sp>
        <p:nvSpPr>
          <p:cNvPr id="22" name="Shape 20"/>
          <p:cNvSpPr/>
          <p:nvPr/>
        </p:nvSpPr>
        <p:spPr>
          <a:xfrm>
            <a:off x="488379" y="3322960"/>
            <a:ext cx="2630835" cy="19050"/>
          </a:xfrm>
          <a:prstGeom prst="rect">
            <a:avLst/>
          </a:prstGeom>
          <a:solidFill>
            <a:srgbClr val="C49F8C"/>
          </a:solidFill>
          <a:ln/>
        </p:spPr>
        <p:txBody>
          <a:bodyPr/>
          <a:lstStyle/>
          <a:p>
            <a:endParaRPr lang="en-IN"/>
          </a:p>
        </p:txBody>
      </p:sp>
      <p:sp>
        <p:nvSpPr>
          <p:cNvPr id="23" name="Text 21"/>
          <p:cNvSpPr/>
          <p:nvPr/>
        </p:nvSpPr>
        <p:spPr>
          <a:xfrm>
            <a:off x="488379" y="3430786"/>
            <a:ext cx="2943002" cy="218033"/>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TF-IDF Vectorisation Deep Dive</a:t>
            </a:r>
            <a:endParaRPr lang="en-US" sz="1350" dirty="0"/>
          </a:p>
        </p:txBody>
      </p:sp>
      <p:sp>
        <p:nvSpPr>
          <p:cNvPr id="24" name="Text 22"/>
          <p:cNvSpPr/>
          <p:nvPr/>
        </p:nvSpPr>
        <p:spPr>
          <a:xfrm>
            <a:off x="3256583" y="3104852"/>
            <a:ext cx="736253" cy="174427"/>
          </a:xfrm>
          <a:prstGeom prst="rect">
            <a:avLst/>
          </a:prstGeom>
          <a:noFill/>
          <a:ln/>
        </p:spPr>
        <p:txBody>
          <a:bodyPr wrap="none" lIns="0" tIns="0" rIns="0" bIns="0" rtlCol="0" anchor="ctr"/>
          <a:lstStyle/>
          <a:p>
            <a:pPr marL="0" indent="0" algn="l">
              <a:lnSpc>
                <a:spcPct val="100000"/>
              </a:lnSpc>
              <a:buNone/>
            </a:pPr>
            <a:r>
              <a:rPr lang="en-US" sz="1050" dirty="0">
                <a:solidFill>
                  <a:srgbClr val="C9C2C0"/>
                </a:solidFill>
                <a:latin typeface="Gelasio Light" pitchFamily="34" charset="0"/>
                <a:ea typeface="Gelasio Light" pitchFamily="34" charset="-122"/>
                <a:cs typeface="Gelasio Light" pitchFamily="34" charset="-120"/>
              </a:rPr>
              <a:t>08</a:t>
            </a:r>
            <a:endParaRPr lang="en-US" sz="1050" dirty="0"/>
          </a:p>
        </p:txBody>
      </p:sp>
      <p:sp>
        <p:nvSpPr>
          <p:cNvPr id="25" name="Shape 23"/>
          <p:cNvSpPr/>
          <p:nvPr/>
        </p:nvSpPr>
        <p:spPr>
          <a:xfrm>
            <a:off x="3256583" y="3322960"/>
            <a:ext cx="2630835" cy="19050"/>
          </a:xfrm>
          <a:prstGeom prst="rect">
            <a:avLst/>
          </a:prstGeom>
          <a:solidFill>
            <a:srgbClr val="C49F8C"/>
          </a:solidFill>
          <a:ln/>
        </p:spPr>
        <p:txBody>
          <a:bodyPr/>
          <a:lstStyle/>
          <a:p>
            <a:endParaRPr lang="en-IN"/>
          </a:p>
        </p:txBody>
      </p:sp>
      <p:sp>
        <p:nvSpPr>
          <p:cNvPr id="26" name="Text 24"/>
          <p:cNvSpPr/>
          <p:nvPr/>
        </p:nvSpPr>
        <p:spPr>
          <a:xfrm>
            <a:off x="3256583" y="3430786"/>
            <a:ext cx="2630835" cy="436066"/>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Complementary Naive Bayes Classifier</a:t>
            </a:r>
            <a:endParaRPr lang="en-US" sz="1350" dirty="0"/>
          </a:p>
        </p:txBody>
      </p:sp>
      <p:sp>
        <p:nvSpPr>
          <p:cNvPr id="27" name="Text 25"/>
          <p:cNvSpPr/>
          <p:nvPr/>
        </p:nvSpPr>
        <p:spPr>
          <a:xfrm>
            <a:off x="6024786" y="3104852"/>
            <a:ext cx="736253" cy="174427"/>
          </a:xfrm>
          <a:prstGeom prst="rect">
            <a:avLst/>
          </a:prstGeom>
          <a:noFill/>
          <a:ln/>
        </p:spPr>
        <p:txBody>
          <a:bodyPr wrap="none" lIns="0" tIns="0" rIns="0" bIns="0" rtlCol="0" anchor="ctr"/>
          <a:lstStyle/>
          <a:p>
            <a:pPr marL="0" indent="0" algn="l">
              <a:lnSpc>
                <a:spcPct val="100000"/>
              </a:lnSpc>
              <a:buNone/>
            </a:pPr>
            <a:r>
              <a:rPr lang="en-US" sz="1050" dirty="0">
                <a:solidFill>
                  <a:srgbClr val="C9C2C0"/>
                </a:solidFill>
                <a:latin typeface="Gelasio Light" pitchFamily="34" charset="0"/>
                <a:ea typeface="Gelasio Light" pitchFamily="34" charset="-122"/>
                <a:cs typeface="Gelasio Light" pitchFamily="34" charset="-120"/>
              </a:rPr>
              <a:t>09</a:t>
            </a:r>
            <a:endParaRPr lang="en-US" sz="1050" dirty="0"/>
          </a:p>
        </p:txBody>
      </p:sp>
      <p:sp>
        <p:nvSpPr>
          <p:cNvPr id="28" name="Shape 26"/>
          <p:cNvSpPr/>
          <p:nvPr/>
        </p:nvSpPr>
        <p:spPr>
          <a:xfrm>
            <a:off x="6024786" y="3322960"/>
            <a:ext cx="2630835" cy="19050"/>
          </a:xfrm>
          <a:prstGeom prst="rect">
            <a:avLst/>
          </a:prstGeom>
          <a:solidFill>
            <a:srgbClr val="C49F8C"/>
          </a:solidFill>
          <a:ln/>
        </p:spPr>
        <p:txBody>
          <a:bodyPr/>
          <a:lstStyle/>
          <a:p>
            <a:endParaRPr lang="en-IN"/>
          </a:p>
        </p:txBody>
      </p:sp>
      <p:sp>
        <p:nvSpPr>
          <p:cNvPr id="29" name="Text 27"/>
          <p:cNvSpPr/>
          <p:nvPr/>
        </p:nvSpPr>
        <p:spPr>
          <a:xfrm>
            <a:off x="6024786" y="3430786"/>
            <a:ext cx="2630835" cy="436066"/>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Pipeline Execution Workflow (Commands)</a:t>
            </a:r>
            <a:endParaRPr lang="en-US" sz="1350" dirty="0"/>
          </a:p>
        </p:txBody>
      </p:sp>
      <p:sp>
        <p:nvSpPr>
          <p:cNvPr id="30" name="Text 28"/>
          <p:cNvSpPr/>
          <p:nvPr/>
        </p:nvSpPr>
        <p:spPr>
          <a:xfrm>
            <a:off x="488379" y="4108847"/>
            <a:ext cx="736253" cy="174427"/>
          </a:xfrm>
          <a:prstGeom prst="rect">
            <a:avLst/>
          </a:prstGeom>
          <a:noFill/>
          <a:ln/>
        </p:spPr>
        <p:txBody>
          <a:bodyPr wrap="none" lIns="0" tIns="0" rIns="0" bIns="0" rtlCol="0" anchor="ctr"/>
          <a:lstStyle/>
          <a:p>
            <a:pPr marL="0" indent="0" algn="l">
              <a:lnSpc>
                <a:spcPct val="100000"/>
              </a:lnSpc>
              <a:buNone/>
            </a:pPr>
            <a:r>
              <a:rPr lang="en-US" sz="1050" dirty="0">
                <a:solidFill>
                  <a:srgbClr val="C9C2C0"/>
                </a:solidFill>
                <a:latin typeface="Gelasio Light" pitchFamily="34" charset="0"/>
                <a:ea typeface="Gelasio Light" pitchFamily="34" charset="-122"/>
                <a:cs typeface="Gelasio Light" pitchFamily="34" charset="-120"/>
              </a:rPr>
              <a:t>10</a:t>
            </a:r>
            <a:endParaRPr lang="en-US" sz="1050" dirty="0"/>
          </a:p>
        </p:txBody>
      </p:sp>
      <p:sp>
        <p:nvSpPr>
          <p:cNvPr id="31" name="Shape 29"/>
          <p:cNvSpPr/>
          <p:nvPr/>
        </p:nvSpPr>
        <p:spPr>
          <a:xfrm>
            <a:off x="488379" y="4326954"/>
            <a:ext cx="2630835" cy="19050"/>
          </a:xfrm>
          <a:prstGeom prst="rect">
            <a:avLst/>
          </a:prstGeom>
          <a:solidFill>
            <a:srgbClr val="C49F8C"/>
          </a:solidFill>
          <a:ln/>
        </p:spPr>
        <p:txBody>
          <a:bodyPr/>
          <a:lstStyle/>
          <a:p>
            <a:endParaRPr lang="en-IN"/>
          </a:p>
        </p:txBody>
      </p:sp>
      <p:sp>
        <p:nvSpPr>
          <p:cNvPr id="32" name="Text 30"/>
          <p:cNvSpPr/>
          <p:nvPr/>
        </p:nvSpPr>
        <p:spPr>
          <a:xfrm>
            <a:off x="488379" y="4434780"/>
            <a:ext cx="2614836" cy="218033"/>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CineVault Dashboard Demo</a:t>
            </a:r>
            <a:endParaRPr lang="en-US" sz="1350" dirty="0"/>
          </a:p>
        </p:txBody>
      </p:sp>
      <p:sp>
        <p:nvSpPr>
          <p:cNvPr id="33" name="Text 31"/>
          <p:cNvSpPr/>
          <p:nvPr/>
        </p:nvSpPr>
        <p:spPr>
          <a:xfrm>
            <a:off x="3256583" y="4108847"/>
            <a:ext cx="736253" cy="174427"/>
          </a:xfrm>
          <a:prstGeom prst="rect">
            <a:avLst/>
          </a:prstGeom>
          <a:noFill/>
          <a:ln/>
        </p:spPr>
        <p:txBody>
          <a:bodyPr wrap="none" lIns="0" tIns="0" rIns="0" bIns="0" rtlCol="0" anchor="ctr"/>
          <a:lstStyle/>
          <a:p>
            <a:pPr marL="0" indent="0" algn="l">
              <a:lnSpc>
                <a:spcPct val="100000"/>
              </a:lnSpc>
              <a:buNone/>
            </a:pPr>
            <a:r>
              <a:rPr lang="en-US" sz="1050" dirty="0">
                <a:solidFill>
                  <a:srgbClr val="C9C2C0"/>
                </a:solidFill>
                <a:latin typeface="Gelasio Light" pitchFamily="34" charset="0"/>
                <a:ea typeface="Gelasio Light" pitchFamily="34" charset="-122"/>
                <a:cs typeface="Gelasio Light" pitchFamily="34" charset="-120"/>
              </a:rPr>
              <a:t>11</a:t>
            </a:r>
            <a:endParaRPr lang="en-US" sz="1050" dirty="0"/>
          </a:p>
        </p:txBody>
      </p:sp>
      <p:sp>
        <p:nvSpPr>
          <p:cNvPr id="34" name="Shape 32"/>
          <p:cNvSpPr/>
          <p:nvPr/>
        </p:nvSpPr>
        <p:spPr>
          <a:xfrm>
            <a:off x="3256583" y="4326954"/>
            <a:ext cx="2630835" cy="19050"/>
          </a:xfrm>
          <a:prstGeom prst="rect">
            <a:avLst/>
          </a:prstGeom>
          <a:solidFill>
            <a:srgbClr val="C49F8C"/>
          </a:solidFill>
          <a:ln/>
        </p:spPr>
        <p:txBody>
          <a:bodyPr/>
          <a:lstStyle/>
          <a:p>
            <a:endParaRPr lang="en-IN"/>
          </a:p>
        </p:txBody>
      </p:sp>
      <p:sp>
        <p:nvSpPr>
          <p:cNvPr id="35" name="Text 33"/>
          <p:cNvSpPr/>
          <p:nvPr/>
        </p:nvSpPr>
        <p:spPr>
          <a:xfrm>
            <a:off x="3256583" y="4434780"/>
            <a:ext cx="2646313" cy="218033"/>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Results &amp; Key Achievements</a:t>
            </a:r>
            <a:endParaRPr lang="en-US" sz="1350" dirty="0"/>
          </a:p>
        </p:txBody>
      </p:sp>
      <p:sp>
        <p:nvSpPr>
          <p:cNvPr id="36" name="Text 34"/>
          <p:cNvSpPr/>
          <p:nvPr/>
        </p:nvSpPr>
        <p:spPr>
          <a:xfrm>
            <a:off x="6024786" y="4108847"/>
            <a:ext cx="736253" cy="174427"/>
          </a:xfrm>
          <a:prstGeom prst="rect">
            <a:avLst/>
          </a:prstGeom>
          <a:noFill/>
          <a:ln/>
        </p:spPr>
        <p:txBody>
          <a:bodyPr wrap="none" lIns="0" tIns="0" rIns="0" bIns="0" rtlCol="0" anchor="ctr"/>
          <a:lstStyle/>
          <a:p>
            <a:pPr marL="0" indent="0" algn="l">
              <a:lnSpc>
                <a:spcPct val="100000"/>
              </a:lnSpc>
              <a:buNone/>
            </a:pPr>
            <a:r>
              <a:rPr lang="en-US" sz="1050" dirty="0">
                <a:solidFill>
                  <a:srgbClr val="C9C2C0"/>
                </a:solidFill>
                <a:latin typeface="Gelasio Light" pitchFamily="34" charset="0"/>
                <a:ea typeface="Gelasio Light" pitchFamily="34" charset="-122"/>
                <a:cs typeface="Gelasio Light" pitchFamily="34" charset="-120"/>
              </a:rPr>
              <a:t>12</a:t>
            </a:r>
            <a:endParaRPr lang="en-US" sz="1050" dirty="0"/>
          </a:p>
        </p:txBody>
      </p:sp>
      <p:sp>
        <p:nvSpPr>
          <p:cNvPr id="37" name="Shape 35"/>
          <p:cNvSpPr/>
          <p:nvPr/>
        </p:nvSpPr>
        <p:spPr>
          <a:xfrm>
            <a:off x="6024786" y="4326954"/>
            <a:ext cx="2630835" cy="19050"/>
          </a:xfrm>
          <a:prstGeom prst="rect">
            <a:avLst/>
          </a:prstGeom>
          <a:solidFill>
            <a:srgbClr val="C49F8C"/>
          </a:solidFill>
          <a:ln/>
        </p:spPr>
        <p:txBody>
          <a:bodyPr/>
          <a:lstStyle/>
          <a:p>
            <a:endParaRPr lang="en-IN"/>
          </a:p>
        </p:txBody>
      </p:sp>
      <p:sp>
        <p:nvSpPr>
          <p:cNvPr id="38" name="Text 36"/>
          <p:cNvSpPr/>
          <p:nvPr/>
        </p:nvSpPr>
        <p:spPr>
          <a:xfrm>
            <a:off x="6024786" y="4434780"/>
            <a:ext cx="2518842" cy="218033"/>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Conclusion &amp; Future Work</a:t>
            </a:r>
            <a:endParaRPr lang="en-US" sz="1350" dirty="0"/>
          </a:p>
        </p:txBody>
      </p:sp>
      <p:sp>
        <p:nvSpPr>
          <p:cNvPr id="39" name="Rectangle 38">
            <a:extLst>
              <a:ext uri="{FF2B5EF4-FFF2-40B4-BE49-F238E27FC236}">
                <a16:creationId xmlns:a16="http://schemas.microsoft.com/office/drawing/2014/main" id="{C5492DAC-4E82-F41C-B72D-7413A33666FF}"/>
              </a:ext>
            </a:extLst>
          </p:cNvPr>
          <p:cNvSpPr/>
          <p:nvPr/>
        </p:nvSpPr>
        <p:spPr>
          <a:xfrm>
            <a:off x="8060788" y="4831849"/>
            <a:ext cx="1012370" cy="226815"/>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41871" y="357336"/>
            <a:ext cx="5069681" cy="394543"/>
          </a:xfrm>
          <a:prstGeom prst="rect">
            <a:avLst/>
          </a:prstGeom>
          <a:noFill/>
          <a:ln/>
        </p:spPr>
        <p:txBody>
          <a:bodyPr wrap="none" lIns="0" tIns="0" rIns="0" bIns="0" rtlCol="0" anchor="t"/>
          <a:lstStyle/>
          <a:p>
            <a:pPr marL="0" indent="0" algn="l">
              <a:lnSpc>
                <a:spcPct val="104000"/>
              </a:lnSpc>
              <a:buNone/>
            </a:pPr>
            <a:r>
              <a:rPr lang="en-US" sz="2450" dirty="0">
                <a:solidFill>
                  <a:srgbClr val="D8B6A4"/>
                </a:solidFill>
                <a:latin typeface="Gelasio" pitchFamily="34" charset="0"/>
                <a:ea typeface="Gelasio" pitchFamily="34" charset="-122"/>
                <a:cs typeface="Gelasio" pitchFamily="34" charset="-120"/>
              </a:rPr>
              <a:t>Problem Statement &amp; Motivation</a:t>
            </a:r>
            <a:endParaRPr lang="en-US" sz="2450" dirty="0"/>
          </a:p>
        </p:txBody>
      </p:sp>
      <p:pic>
        <p:nvPicPr>
          <p:cNvPr id="3" name="Image 0" descr="preencoded.png"/>
          <p:cNvPicPr>
            <a:picLocks noChangeAspect="1"/>
          </p:cNvPicPr>
          <p:nvPr/>
        </p:nvPicPr>
        <p:blipFill>
          <a:blip r:embed="rId3"/>
          <a:stretch>
            <a:fillRect/>
          </a:stretch>
        </p:blipFill>
        <p:spPr>
          <a:xfrm>
            <a:off x="441871" y="1047006"/>
            <a:ext cx="4985742" cy="3323779"/>
          </a:xfrm>
          <a:prstGeom prst="rect">
            <a:avLst/>
          </a:prstGeom>
        </p:spPr>
      </p:pic>
      <p:sp>
        <p:nvSpPr>
          <p:cNvPr id="4" name="Text 1"/>
          <p:cNvSpPr/>
          <p:nvPr/>
        </p:nvSpPr>
        <p:spPr>
          <a:xfrm>
            <a:off x="6358756" y="1032942"/>
            <a:ext cx="2035448" cy="197272"/>
          </a:xfrm>
          <a:prstGeom prst="rect">
            <a:avLst/>
          </a:prstGeom>
          <a:noFill/>
          <a:ln/>
        </p:spPr>
        <p:txBody>
          <a:bodyPr wrap="none" lIns="0" tIns="0" rIns="0" bIns="0" rtlCol="0" anchor="t"/>
          <a:lstStyle/>
          <a:p>
            <a:pPr marL="0" indent="0" algn="l">
              <a:lnSpc>
                <a:spcPct val="104000"/>
              </a:lnSpc>
              <a:buNone/>
            </a:pPr>
            <a:r>
              <a:rPr lang="en-US" sz="1200" dirty="0">
                <a:solidFill>
                  <a:srgbClr val="D8B6A4"/>
                </a:solidFill>
                <a:latin typeface="Gelasio" pitchFamily="34" charset="0"/>
                <a:ea typeface="Gelasio" pitchFamily="34" charset="-122"/>
                <a:cs typeface="Gelasio" pitchFamily="34" charset="-120"/>
              </a:rPr>
              <a:t>The Problem</a:t>
            </a:r>
            <a:endParaRPr lang="en-US" sz="1200" dirty="0"/>
          </a:p>
        </p:txBody>
      </p:sp>
      <p:sp>
        <p:nvSpPr>
          <p:cNvPr id="5" name="Text 2"/>
          <p:cNvSpPr/>
          <p:nvPr/>
        </p:nvSpPr>
        <p:spPr>
          <a:xfrm>
            <a:off x="6358756" y="1342653"/>
            <a:ext cx="2348061" cy="1797100"/>
          </a:xfrm>
          <a:prstGeom prst="rect">
            <a:avLst/>
          </a:prstGeom>
          <a:noFill/>
          <a:ln/>
        </p:spPr>
        <p:txBody>
          <a:bodyPr wrap="square" lIns="0" tIns="0" rIns="0" bIns="0" rtlCol="0" anchor="t">
            <a:normAutofit/>
          </a:bodyPr>
          <a:lstStyle/>
          <a:p>
            <a:pPr marL="342900" indent="-342900" algn="l">
              <a:lnSpc>
                <a:spcPct val="126000"/>
              </a:lnSpc>
              <a:buSzPct val="100000"/>
              <a:buChar char="•"/>
            </a:pPr>
            <a:r>
              <a:rPr lang="en-US" sz="950" dirty="0">
                <a:solidFill>
                  <a:srgbClr val="C9C2C0"/>
                </a:solidFill>
                <a:latin typeface="Gelasio" pitchFamily="34" charset="0"/>
                <a:ea typeface="Gelasio" pitchFamily="34" charset="-122"/>
                <a:cs typeface="Gelasio" pitchFamily="34" charset="-120"/>
              </a:rPr>
              <a:t>Streaming platforms host millions of titles — manual genre tagging is infeasible at scale</a:t>
            </a:r>
            <a:endParaRPr lang="en-US" sz="950" dirty="0"/>
          </a:p>
          <a:p>
            <a:pPr marL="342900" indent="-342900" algn="l">
              <a:lnSpc>
                <a:spcPct val="126000"/>
              </a:lnSpc>
              <a:buSzPct val="100000"/>
              <a:buChar char="•"/>
            </a:pPr>
            <a:r>
              <a:rPr lang="en-US" sz="950" dirty="0">
                <a:solidFill>
                  <a:srgbClr val="C9C2C0"/>
                </a:solidFill>
                <a:latin typeface="Gelasio" pitchFamily="34" charset="0"/>
                <a:ea typeface="Gelasio" pitchFamily="34" charset="-122"/>
                <a:cs typeface="Gelasio" pitchFamily="34" charset="-120"/>
              </a:rPr>
              <a:t>Traditional single-node NLP pipelines cannot handle millions of movie descriptions</a:t>
            </a:r>
            <a:endParaRPr lang="en-US" sz="950" dirty="0"/>
          </a:p>
          <a:p>
            <a:pPr marL="342900" indent="-342900" algn="l">
              <a:lnSpc>
                <a:spcPct val="126000"/>
              </a:lnSpc>
              <a:buSzPct val="100000"/>
              <a:buChar char="•"/>
            </a:pPr>
            <a:r>
              <a:rPr lang="en-US" sz="950" dirty="0">
                <a:solidFill>
                  <a:srgbClr val="C9C2C0"/>
                </a:solidFill>
                <a:latin typeface="Gelasio" pitchFamily="34" charset="0"/>
                <a:ea typeface="Gelasio" pitchFamily="34" charset="-122"/>
                <a:cs typeface="Gelasio" pitchFamily="34" charset="-120"/>
              </a:rPr>
              <a:t>Class imbalance: Drama (3,235), Comedy (2,449), Action (1,642) vs. War (117), Western (122)</a:t>
            </a:r>
            <a:endParaRPr lang="en-US" sz="950" dirty="0"/>
          </a:p>
        </p:txBody>
      </p:sp>
      <p:sp>
        <p:nvSpPr>
          <p:cNvPr id="6" name="Text 3"/>
          <p:cNvSpPr/>
          <p:nvPr/>
        </p:nvSpPr>
        <p:spPr>
          <a:xfrm>
            <a:off x="6358756" y="3252192"/>
            <a:ext cx="2035448" cy="197272"/>
          </a:xfrm>
          <a:prstGeom prst="rect">
            <a:avLst/>
          </a:prstGeom>
          <a:noFill/>
          <a:ln/>
        </p:spPr>
        <p:txBody>
          <a:bodyPr wrap="none" lIns="0" tIns="0" rIns="0" bIns="0" rtlCol="0" anchor="t"/>
          <a:lstStyle/>
          <a:p>
            <a:pPr marL="0" indent="0" algn="l">
              <a:lnSpc>
                <a:spcPct val="104000"/>
              </a:lnSpc>
              <a:buNone/>
            </a:pPr>
            <a:r>
              <a:rPr lang="en-US" sz="1200" dirty="0">
                <a:solidFill>
                  <a:srgbClr val="D8B6A4"/>
                </a:solidFill>
                <a:latin typeface="Gelasio" pitchFamily="34" charset="0"/>
                <a:ea typeface="Gelasio" pitchFamily="34" charset="-122"/>
                <a:cs typeface="Gelasio" pitchFamily="34" charset="-120"/>
              </a:rPr>
              <a:t>Motivation &amp; Solution</a:t>
            </a:r>
            <a:endParaRPr lang="en-US" sz="1200" dirty="0"/>
          </a:p>
        </p:txBody>
      </p:sp>
      <p:sp>
        <p:nvSpPr>
          <p:cNvPr id="7" name="Text 4"/>
          <p:cNvSpPr/>
          <p:nvPr/>
        </p:nvSpPr>
        <p:spPr>
          <a:xfrm>
            <a:off x="6358756" y="3561904"/>
            <a:ext cx="2348061" cy="1184970"/>
          </a:xfrm>
          <a:prstGeom prst="rect">
            <a:avLst/>
          </a:prstGeom>
          <a:noFill/>
          <a:ln/>
        </p:spPr>
        <p:txBody>
          <a:bodyPr wrap="square" lIns="0" tIns="0" rIns="0" bIns="0" rtlCol="0" anchor="t">
            <a:normAutofit/>
          </a:bodyPr>
          <a:lstStyle/>
          <a:p>
            <a:pPr marL="342900" indent="-342900" algn="l">
              <a:lnSpc>
                <a:spcPct val="126000"/>
              </a:lnSpc>
              <a:buSzPct val="100000"/>
              <a:buChar char="•"/>
            </a:pPr>
            <a:r>
              <a:rPr lang="en-US" sz="950" dirty="0">
                <a:solidFill>
                  <a:srgbClr val="C9C2C0"/>
                </a:solidFill>
                <a:latin typeface="Gelasio" pitchFamily="34" charset="0"/>
                <a:ea typeface="Gelasio" pitchFamily="34" charset="-122"/>
                <a:cs typeface="Gelasio" pitchFamily="34" charset="-120"/>
              </a:rPr>
              <a:t>Accurate genre prediction directly improves recommendation quality and user retention</a:t>
            </a:r>
            <a:endParaRPr lang="en-US" sz="950" dirty="0"/>
          </a:p>
          <a:p>
            <a:pPr marL="342900" indent="-342900" algn="l">
              <a:lnSpc>
                <a:spcPct val="126000"/>
              </a:lnSpc>
              <a:buSzPct val="100000"/>
              <a:buChar char="•"/>
            </a:pPr>
            <a:r>
              <a:rPr lang="en-US" sz="950" dirty="0">
                <a:solidFill>
                  <a:srgbClr val="C9C2C0"/>
                </a:solidFill>
                <a:latin typeface="Gelasio" pitchFamily="34" charset="0"/>
                <a:ea typeface="Gelasio" pitchFamily="34" charset="-122"/>
                <a:cs typeface="Gelasio" pitchFamily="34" charset="-120"/>
              </a:rPr>
              <a:t>Solution: Distributed Big Data pipeline with Docker + Hadoop + Apache Mahout + TF-IDF + CNB</a:t>
            </a:r>
            <a:endParaRPr lang="en-US" sz="950" dirty="0"/>
          </a:p>
        </p:txBody>
      </p:sp>
      <p:sp>
        <p:nvSpPr>
          <p:cNvPr id="8" name="Rectangle 7">
            <a:extLst>
              <a:ext uri="{FF2B5EF4-FFF2-40B4-BE49-F238E27FC236}">
                <a16:creationId xmlns:a16="http://schemas.microsoft.com/office/drawing/2014/main" id="{E47FA2B7-BD90-EC83-68D0-0E3A8E926130}"/>
              </a:ext>
            </a:extLst>
          </p:cNvPr>
          <p:cNvSpPr/>
          <p:nvPr/>
        </p:nvSpPr>
        <p:spPr>
          <a:xfrm>
            <a:off x="8060788" y="4831849"/>
            <a:ext cx="1012370" cy="226815"/>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329CCA-A7C4-2502-CE8C-4F1153716C1E}"/>
              </a:ext>
            </a:extLst>
          </p:cNvPr>
          <p:cNvSpPr/>
          <p:nvPr/>
        </p:nvSpPr>
        <p:spPr>
          <a:xfrm>
            <a:off x="8060788" y="4852230"/>
            <a:ext cx="1012370" cy="226815"/>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a:extLst>
              <a:ext uri="{FF2B5EF4-FFF2-40B4-BE49-F238E27FC236}">
                <a16:creationId xmlns:a16="http://schemas.microsoft.com/office/drawing/2014/main" id="{9491043E-FC5D-8091-EBFF-4C1DA7743E1F}"/>
              </a:ext>
            </a:extLst>
          </p:cNvPr>
          <p:cNvPicPr>
            <a:picLocks noChangeAspect="1"/>
          </p:cNvPicPr>
          <p:nvPr/>
        </p:nvPicPr>
        <p:blipFill>
          <a:blip r:embed="rId2"/>
          <a:stretch>
            <a:fillRect/>
          </a:stretch>
        </p:blipFill>
        <p:spPr>
          <a:xfrm>
            <a:off x="3900279" y="213915"/>
            <a:ext cx="3924048" cy="4715670"/>
          </a:xfrm>
          <a:prstGeom prst="rect">
            <a:avLst/>
          </a:prstGeom>
        </p:spPr>
      </p:pic>
      <p:sp>
        <p:nvSpPr>
          <p:cNvPr id="5" name="TextBox 4">
            <a:extLst>
              <a:ext uri="{FF2B5EF4-FFF2-40B4-BE49-F238E27FC236}">
                <a16:creationId xmlns:a16="http://schemas.microsoft.com/office/drawing/2014/main" id="{CF661C31-2396-FDEB-4334-C7590D275731}"/>
              </a:ext>
            </a:extLst>
          </p:cNvPr>
          <p:cNvSpPr txBox="1"/>
          <p:nvPr/>
        </p:nvSpPr>
        <p:spPr>
          <a:xfrm>
            <a:off x="947706" y="1849823"/>
            <a:ext cx="3127732" cy="1384995"/>
          </a:xfrm>
          <a:prstGeom prst="rect">
            <a:avLst/>
          </a:prstGeom>
          <a:noFill/>
        </p:spPr>
        <p:txBody>
          <a:bodyPr wrap="square">
            <a:spAutoFit/>
          </a:bodyPr>
          <a:lstStyle/>
          <a:p>
            <a:r>
              <a:rPr lang="en-US" sz="2800" dirty="0">
                <a:solidFill>
                  <a:srgbClr val="D8B6A4"/>
                </a:solidFill>
                <a:latin typeface="Gelasio" pitchFamily="34" charset="0"/>
                <a:ea typeface="Gelasio" pitchFamily="34" charset="-122"/>
                <a:cs typeface="Gelasio" pitchFamily="34" charset="-120"/>
              </a:rPr>
              <a:t>System Architecture Overview</a:t>
            </a:r>
            <a:endParaRPr lang="en-IN" sz="2800" dirty="0"/>
          </a:p>
        </p:txBody>
      </p:sp>
    </p:spTree>
    <p:extLst>
      <p:ext uri="{BB962C8B-B14F-4D97-AF65-F5344CB8AC3E}">
        <p14:creationId xmlns:p14="http://schemas.microsoft.com/office/powerpoint/2010/main" val="459574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436513"/>
            <a:ext cx="7431063" cy="442987"/>
          </a:xfrm>
          <a:prstGeom prst="rect">
            <a:avLst/>
          </a:prstGeom>
          <a:noFill/>
          <a:ln/>
        </p:spPr>
        <p:txBody>
          <a:bodyPr wrap="none" lIns="0" tIns="0" rIns="0" bIns="0" rtlCol="0" anchor="t"/>
          <a:lstStyle/>
          <a:p>
            <a:pPr marL="0" indent="0" algn="l">
              <a:lnSpc>
                <a:spcPct val="104000"/>
              </a:lnSpc>
              <a:buNone/>
            </a:pPr>
            <a:r>
              <a:rPr lang="en-US" sz="2750" dirty="0">
                <a:solidFill>
                  <a:srgbClr val="D8B6A4"/>
                </a:solidFill>
                <a:latin typeface="Gelasio" pitchFamily="34" charset="0"/>
                <a:ea typeface="Gelasio" pitchFamily="34" charset="-122"/>
                <a:cs typeface="Gelasio" pitchFamily="34" charset="-120"/>
              </a:rPr>
              <a:t>System Architecture — 4 Cooperating Layers</a:t>
            </a:r>
            <a:endParaRPr lang="en-US" sz="2750" dirty="0"/>
          </a:p>
        </p:txBody>
      </p:sp>
      <p:pic>
        <p:nvPicPr>
          <p:cNvPr id="3" name="Image 0" descr="preencoded.png"/>
          <p:cNvPicPr>
            <a:picLocks noChangeAspect="1"/>
          </p:cNvPicPr>
          <p:nvPr/>
        </p:nvPicPr>
        <p:blipFill>
          <a:blip r:embed="rId3"/>
          <a:stretch>
            <a:fillRect/>
          </a:stretch>
        </p:blipFill>
        <p:spPr>
          <a:xfrm>
            <a:off x="496119" y="1163017"/>
            <a:ext cx="4075881" cy="567035"/>
          </a:xfrm>
          <a:prstGeom prst="rect">
            <a:avLst/>
          </a:prstGeom>
        </p:spPr>
      </p:pic>
      <p:sp>
        <p:nvSpPr>
          <p:cNvPr id="4" name="Text 1"/>
          <p:cNvSpPr/>
          <p:nvPr/>
        </p:nvSpPr>
        <p:spPr>
          <a:xfrm>
            <a:off x="637877" y="1871811"/>
            <a:ext cx="2408858" cy="221456"/>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Layer 1 — Data Ingestion</a:t>
            </a:r>
            <a:endParaRPr lang="en-US" sz="1350" dirty="0"/>
          </a:p>
        </p:txBody>
      </p:sp>
      <p:sp>
        <p:nvSpPr>
          <p:cNvPr id="5" name="Text 2"/>
          <p:cNvSpPr/>
          <p:nvPr/>
        </p:nvSpPr>
        <p:spPr>
          <a:xfrm>
            <a:off x="637877" y="2178323"/>
            <a:ext cx="4249564" cy="226814"/>
          </a:xfrm>
          <a:prstGeom prst="rect">
            <a:avLst/>
          </a:prstGeom>
          <a:noFill/>
          <a:ln/>
        </p:spPr>
        <p:txBody>
          <a:bodyPr wrap="none" lIns="0" tIns="0" rIns="0" bIns="0" rtlCol="0" anchor="t"/>
          <a:lstStyle/>
          <a:p>
            <a:pPr marL="0" indent="0" algn="l">
              <a:lnSpc>
                <a:spcPct val="133000"/>
              </a:lnSpc>
              <a:buNone/>
            </a:pPr>
            <a:r>
              <a:rPr lang="en-US" sz="1100" dirty="0">
                <a:solidFill>
                  <a:srgbClr val="C9C2C0"/>
                </a:solidFill>
                <a:latin typeface="Gelasio" pitchFamily="34" charset="0"/>
                <a:ea typeface="Gelasio" pitchFamily="34" charset="-122"/>
                <a:cs typeface="Gelasio" pitchFamily="34" charset="-120"/>
              </a:rPr>
              <a:t>TMDB API → fetch_tmdb_movies.py + enrich_dataset.py</a:t>
            </a:r>
            <a:endParaRPr lang="en-US" sz="1100" dirty="0"/>
          </a:p>
        </p:txBody>
      </p:sp>
      <p:pic>
        <p:nvPicPr>
          <p:cNvPr id="6" name="Image 1" descr="preencoded.png"/>
          <p:cNvPicPr>
            <a:picLocks noChangeAspect="1"/>
          </p:cNvPicPr>
          <p:nvPr/>
        </p:nvPicPr>
        <p:blipFill>
          <a:blip r:embed="rId4"/>
          <a:stretch>
            <a:fillRect/>
          </a:stretch>
        </p:blipFill>
        <p:spPr>
          <a:xfrm>
            <a:off x="4572000" y="1163017"/>
            <a:ext cx="4075881" cy="567035"/>
          </a:xfrm>
          <a:prstGeom prst="rect">
            <a:avLst/>
          </a:prstGeom>
        </p:spPr>
      </p:pic>
      <p:sp>
        <p:nvSpPr>
          <p:cNvPr id="7" name="Text 3"/>
          <p:cNvSpPr/>
          <p:nvPr/>
        </p:nvSpPr>
        <p:spPr>
          <a:xfrm>
            <a:off x="4713759" y="1871811"/>
            <a:ext cx="2810024" cy="221456"/>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Layer 2 — Distributed Storage</a:t>
            </a:r>
            <a:endParaRPr lang="en-US" sz="1350" dirty="0"/>
          </a:p>
        </p:txBody>
      </p:sp>
      <p:sp>
        <p:nvSpPr>
          <p:cNvPr id="8" name="Text 4"/>
          <p:cNvSpPr/>
          <p:nvPr/>
        </p:nvSpPr>
        <p:spPr>
          <a:xfrm>
            <a:off x="4713759" y="2178323"/>
            <a:ext cx="4249564" cy="226814"/>
          </a:xfrm>
          <a:prstGeom prst="rect">
            <a:avLst/>
          </a:prstGeom>
          <a:noFill/>
          <a:ln/>
        </p:spPr>
        <p:txBody>
          <a:bodyPr wrap="none" lIns="0" tIns="0" rIns="0" bIns="0" rtlCol="0" anchor="t"/>
          <a:lstStyle/>
          <a:p>
            <a:pPr marL="0" indent="0" algn="l">
              <a:lnSpc>
                <a:spcPct val="133000"/>
              </a:lnSpc>
              <a:buNone/>
            </a:pPr>
            <a:r>
              <a:rPr lang="en-US" sz="1100" dirty="0">
                <a:solidFill>
                  <a:srgbClr val="C9C2C0"/>
                </a:solidFill>
                <a:latin typeface="Gelasio" pitchFamily="34" charset="0"/>
                <a:ea typeface="Gelasio" pitchFamily="34" charset="-122"/>
                <a:cs typeface="Gelasio" pitchFamily="34" charset="-120"/>
              </a:rPr>
              <a:t>Docker Compose → NameNode + DataNode (HDFS)</a:t>
            </a:r>
            <a:endParaRPr lang="en-US" sz="1100" dirty="0"/>
          </a:p>
        </p:txBody>
      </p:sp>
      <p:pic>
        <p:nvPicPr>
          <p:cNvPr id="9" name="Image 2" descr="preencoded.png"/>
          <p:cNvPicPr>
            <a:picLocks noChangeAspect="1"/>
          </p:cNvPicPr>
          <p:nvPr/>
        </p:nvPicPr>
        <p:blipFill>
          <a:blip r:embed="rId5"/>
          <a:stretch>
            <a:fillRect/>
          </a:stretch>
        </p:blipFill>
        <p:spPr>
          <a:xfrm>
            <a:off x="496119" y="2546896"/>
            <a:ext cx="4075881" cy="567035"/>
          </a:xfrm>
          <a:prstGeom prst="rect">
            <a:avLst/>
          </a:prstGeom>
        </p:spPr>
      </p:pic>
      <p:sp>
        <p:nvSpPr>
          <p:cNvPr id="10" name="Text 5"/>
          <p:cNvSpPr/>
          <p:nvPr/>
        </p:nvSpPr>
        <p:spPr>
          <a:xfrm>
            <a:off x="637877" y="3255690"/>
            <a:ext cx="2229222" cy="221456"/>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Layer 3 — AI Engine</a:t>
            </a:r>
            <a:endParaRPr lang="en-US" sz="1350" dirty="0"/>
          </a:p>
        </p:txBody>
      </p:sp>
      <p:sp>
        <p:nvSpPr>
          <p:cNvPr id="11" name="Text 6"/>
          <p:cNvSpPr/>
          <p:nvPr/>
        </p:nvSpPr>
        <p:spPr>
          <a:xfrm>
            <a:off x="637877" y="3562201"/>
            <a:ext cx="4249564" cy="226814"/>
          </a:xfrm>
          <a:prstGeom prst="rect">
            <a:avLst/>
          </a:prstGeom>
          <a:noFill/>
          <a:ln/>
        </p:spPr>
        <p:txBody>
          <a:bodyPr wrap="none" lIns="0" tIns="0" rIns="0" bIns="0" rtlCol="0" anchor="t"/>
          <a:lstStyle/>
          <a:p>
            <a:pPr marL="0" indent="0" algn="l">
              <a:lnSpc>
                <a:spcPct val="133000"/>
              </a:lnSpc>
              <a:buNone/>
            </a:pPr>
            <a:r>
              <a:rPr lang="en-US" sz="1100" dirty="0">
                <a:solidFill>
                  <a:srgbClr val="C9C2C0"/>
                </a:solidFill>
                <a:latin typeface="Gelasio" pitchFamily="34" charset="0"/>
                <a:ea typeface="Gelasio" pitchFamily="34" charset="-122"/>
                <a:cs typeface="Gelasio" pitchFamily="34" charset="-120"/>
              </a:rPr>
              <a:t>seqdirectory → seq2sparse (TF-IDF) → trainnb (CNB)</a:t>
            </a:r>
            <a:endParaRPr lang="en-US" sz="1100" dirty="0"/>
          </a:p>
        </p:txBody>
      </p:sp>
      <p:pic>
        <p:nvPicPr>
          <p:cNvPr id="12" name="Image 3" descr="preencoded.png"/>
          <p:cNvPicPr>
            <a:picLocks noChangeAspect="1"/>
          </p:cNvPicPr>
          <p:nvPr/>
        </p:nvPicPr>
        <p:blipFill>
          <a:blip r:embed="rId6"/>
          <a:stretch>
            <a:fillRect/>
          </a:stretch>
        </p:blipFill>
        <p:spPr>
          <a:xfrm>
            <a:off x="4572000" y="2546896"/>
            <a:ext cx="4075881" cy="567035"/>
          </a:xfrm>
          <a:prstGeom prst="rect">
            <a:avLst/>
          </a:prstGeom>
        </p:spPr>
      </p:pic>
      <p:sp>
        <p:nvSpPr>
          <p:cNvPr id="13" name="Text 7"/>
          <p:cNvSpPr/>
          <p:nvPr/>
        </p:nvSpPr>
        <p:spPr>
          <a:xfrm>
            <a:off x="4713759" y="3255690"/>
            <a:ext cx="2229222" cy="221456"/>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Layer 4 — Dashboard</a:t>
            </a:r>
            <a:endParaRPr lang="en-US" sz="1350" dirty="0"/>
          </a:p>
        </p:txBody>
      </p:sp>
      <p:sp>
        <p:nvSpPr>
          <p:cNvPr id="14" name="Text 8"/>
          <p:cNvSpPr/>
          <p:nvPr/>
        </p:nvSpPr>
        <p:spPr>
          <a:xfrm>
            <a:off x="4713759" y="3562201"/>
            <a:ext cx="4249564" cy="226814"/>
          </a:xfrm>
          <a:prstGeom prst="rect">
            <a:avLst/>
          </a:prstGeom>
          <a:noFill/>
          <a:ln/>
        </p:spPr>
        <p:txBody>
          <a:bodyPr wrap="none" lIns="0" tIns="0" rIns="0" bIns="0" rtlCol="0" anchor="t"/>
          <a:lstStyle/>
          <a:p>
            <a:pPr marL="0" indent="0" algn="l">
              <a:lnSpc>
                <a:spcPct val="133000"/>
              </a:lnSpc>
              <a:buNone/>
            </a:pPr>
            <a:r>
              <a:rPr lang="en-US" sz="1100" dirty="0">
                <a:solidFill>
                  <a:srgbClr val="C9C2C0"/>
                </a:solidFill>
                <a:latin typeface="Gelasio" pitchFamily="34" charset="0"/>
                <a:ea typeface="Gelasio" pitchFamily="34" charset="-122"/>
                <a:cs typeface="Gelasio" pitchFamily="34" charset="-120"/>
              </a:rPr>
              <a:t>CineVault Web UI (movie_recommender/index.html)</a:t>
            </a:r>
            <a:endParaRPr lang="en-US" sz="1100" dirty="0"/>
          </a:p>
        </p:txBody>
      </p:sp>
      <p:sp>
        <p:nvSpPr>
          <p:cNvPr id="15" name="Shape 9"/>
          <p:cNvSpPr/>
          <p:nvPr/>
        </p:nvSpPr>
        <p:spPr>
          <a:xfrm>
            <a:off x="496119" y="4090243"/>
            <a:ext cx="8151763" cy="616669"/>
          </a:xfrm>
          <a:prstGeom prst="roundRect">
            <a:avLst>
              <a:gd name="adj" fmla="val 3448"/>
            </a:avLst>
          </a:prstGeom>
          <a:solidFill>
            <a:srgbClr val="022349"/>
          </a:solidFill>
          <a:ln/>
        </p:spPr>
        <p:txBody>
          <a:bodyPr/>
          <a:lstStyle/>
          <a:p>
            <a:endParaRPr lang="en-IN"/>
          </a:p>
        </p:txBody>
      </p:sp>
      <p:pic>
        <p:nvPicPr>
          <p:cNvPr id="16" name="Image 4" descr="preencoded.png"/>
          <p:cNvPicPr>
            <a:picLocks noChangeAspect="1"/>
          </p:cNvPicPr>
          <p:nvPr/>
        </p:nvPicPr>
        <p:blipFill>
          <a:blip r:embed="rId7"/>
          <a:stretch>
            <a:fillRect/>
          </a:stretch>
        </p:blipFill>
        <p:spPr>
          <a:xfrm>
            <a:off x="637877" y="4295775"/>
            <a:ext cx="177180" cy="141759"/>
          </a:xfrm>
          <a:prstGeom prst="rect">
            <a:avLst/>
          </a:prstGeom>
        </p:spPr>
      </p:pic>
      <p:sp>
        <p:nvSpPr>
          <p:cNvPr id="17" name="Text 10"/>
          <p:cNvSpPr/>
          <p:nvPr/>
        </p:nvSpPr>
        <p:spPr>
          <a:xfrm>
            <a:off x="956816" y="4267423"/>
            <a:ext cx="8006507" cy="241102"/>
          </a:xfrm>
          <a:prstGeom prst="rect">
            <a:avLst/>
          </a:prstGeom>
          <a:noFill/>
          <a:ln/>
        </p:spPr>
        <p:txBody>
          <a:bodyPr wrap="none" lIns="0" tIns="0" rIns="0" bIns="0" rtlCol="0" anchor="t"/>
          <a:lstStyle/>
          <a:p>
            <a:pPr marL="0" indent="0" algn="l">
              <a:lnSpc>
                <a:spcPct val="133000"/>
              </a:lnSpc>
              <a:buNone/>
            </a:pPr>
            <a:r>
              <a:rPr lang="en-US" sz="1100" dirty="0">
                <a:solidFill>
                  <a:srgbClr val="FFFFFF"/>
                </a:solidFill>
                <a:latin typeface="Gelasio" pitchFamily="34" charset="0"/>
                <a:ea typeface="Gelasio" pitchFamily="34" charset="-122"/>
                <a:cs typeface="Gelasio" pitchFamily="34" charset="-120"/>
              </a:rPr>
              <a:t>All layers containerised for full reproducibility — one </a:t>
            </a:r>
            <a:r>
              <a:rPr lang="en-US" sz="1100" dirty="0">
                <a:solidFill>
                  <a:srgbClr val="FFFFFF"/>
                </a:solidFill>
                <a:highlight>
                  <a:srgbClr val="53504F"/>
                </a:highlight>
                <a:latin typeface="Consolas" pitchFamily="34" charset="0"/>
                <a:ea typeface="Consolas" pitchFamily="34" charset="-122"/>
                <a:cs typeface="Consolas" pitchFamily="34" charset="-120"/>
              </a:rPr>
              <a:t>docker-compose up</a:t>
            </a:r>
            <a:r>
              <a:rPr lang="en-US" sz="1100" dirty="0">
                <a:solidFill>
                  <a:srgbClr val="FFFFFF"/>
                </a:solidFill>
                <a:latin typeface="Gelasio" pitchFamily="34" charset="0"/>
                <a:ea typeface="Gelasio" pitchFamily="34" charset="-122"/>
                <a:cs typeface="Gelasio" pitchFamily="34" charset="-120"/>
              </a:rPr>
              <a:t> command</a:t>
            </a:r>
            <a:endParaRPr lang="en-US" sz="1100" dirty="0"/>
          </a:p>
        </p:txBody>
      </p:sp>
      <p:sp>
        <p:nvSpPr>
          <p:cNvPr id="18" name="Rectangle 17">
            <a:extLst>
              <a:ext uri="{FF2B5EF4-FFF2-40B4-BE49-F238E27FC236}">
                <a16:creationId xmlns:a16="http://schemas.microsoft.com/office/drawing/2014/main" id="{FD7F53D4-EF8C-145F-10CD-52C2F6449CE8}"/>
              </a:ext>
            </a:extLst>
          </p:cNvPr>
          <p:cNvSpPr/>
          <p:nvPr/>
        </p:nvSpPr>
        <p:spPr>
          <a:xfrm>
            <a:off x="8060788" y="4831849"/>
            <a:ext cx="1012370" cy="226815"/>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72901" y="568003"/>
            <a:ext cx="3835226" cy="422300"/>
          </a:xfrm>
          <a:prstGeom prst="rect">
            <a:avLst/>
          </a:prstGeom>
          <a:noFill/>
          <a:ln/>
        </p:spPr>
        <p:txBody>
          <a:bodyPr wrap="none" lIns="0" tIns="0" rIns="0" bIns="0" rtlCol="0" anchor="t"/>
          <a:lstStyle/>
          <a:p>
            <a:pPr marL="0" indent="0" algn="l">
              <a:lnSpc>
                <a:spcPct val="104000"/>
              </a:lnSpc>
              <a:buNone/>
            </a:pPr>
            <a:r>
              <a:rPr lang="en-US" sz="2650" dirty="0">
                <a:solidFill>
                  <a:srgbClr val="D8B6A4"/>
                </a:solidFill>
                <a:latin typeface="Gelasio" pitchFamily="34" charset="0"/>
                <a:ea typeface="Gelasio" pitchFamily="34" charset="-122"/>
                <a:cs typeface="Gelasio" pitchFamily="34" charset="-120"/>
              </a:rPr>
              <a:t>Data Ingestion Layer</a:t>
            </a:r>
            <a:endParaRPr lang="en-US" sz="2650" dirty="0"/>
          </a:p>
        </p:txBody>
      </p:sp>
      <p:sp>
        <p:nvSpPr>
          <p:cNvPr id="3" name="Text 1"/>
          <p:cNvSpPr/>
          <p:nvPr/>
        </p:nvSpPr>
        <p:spPr>
          <a:xfrm>
            <a:off x="472901" y="1312218"/>
            <a:ext cx="2846933" cy="211113"/>
          </a:xfrm>
          <a:prstGeom prst="rect">
            <a:avLst/>
          </a:prstGeom>
          <a:noFill/>
          <a:ln/>
        </p:spPr>
        <p:txBody>
          <a:bodyPr wrap="none" lIns="0" tIns="0" rIns="0" bIns="0" rtlCol="0" anchor="t"/>
          <a:lstStyle/>
          <a:p>
            <a:pPr marL="0" indent="0" algn="l">
              <a:lnSpc>
                <a:spcPct val="104000"/>
              </a:lnSpc>
              <a:buNone/>
            </a:pPr>
            <a:r>
              <a:rPr lang="en-US" sz="1300" dirty="0">
                <a:solidFill>
                  <a:srgbClr val="D8B6A4"/>
                </a:solidFill>
                <a:latin typeface="Gelasio" pitchFamily="34" charset="0"/>
                <a:ea typeface="Gelasio" pitchFamily="34" charset="-122"/>
                <a:cs typeface="Gelasio" pitchFamily="34" charset="-120"/>
              </a:rPr>
              <a:t>Script 1: fetch_tmdb_movies.py</a:t>
            </a:r>
            <a:endParaRPr lang="en-US" sz="1300" dirty="0"/>
          </a:p>
        </p:txBody>
      </p:sp>
      <p:sp>
        <p:nvSpPr>
          <p:cNvPr id="4" name="Text 2"/>
          <p:cNvSpPr/>
          <p:nvPr/>
        </p:nvSpPr>
        <p:spPr>
          <a:xfrm>
            <a:off x="472901" y="1652067"/>
            <a:ext cx="3934271" cy="1416025"/>
          </a:xfrm>
          <a:prstGeom prst="rect">
            <a:avLst/>
          </a:prstGeom>
          <a:noFill/>
          <a:ln/>
        </p:spPr>
        <p:txBody>
          <a:bodyPr wrap="square" lIns="0" tIns="0" rIns="0" bIns="0" rtlCol="0" anchor="t">
            <a:normAutofit fontScale="92500"/>
          </a:bodyPr>
          <a:lstStyle/>
          <a:p>
            <a:pPr marL="342900" indent="-342900" algn="l">
              <a:lnSpc>
                <a:spcPct val="130000"/>
              </a:lnSpc>
              <a:buSzPct val="100000"/>
              <a:buChar char="•"/>
            </a:pPr>
            <a:r>
              <a:rPr lang="en-US" sz="1050" dirty="0">
                <a:solidFill>
                  <a:srgbClr val="C9C2C0"/>
                </a:solidFill>
                <a:latin typeface="Gelasio" pitchFamily="34" charset="0"/>
                <a:ea typeface="Gelasio" pitchFamily="34" charset="-122"/>
                <a:cs typeface="Gelasio" pitchFamily="34" charset="-120"/>
              </a:rPr>
              <a:t>Endpoints: /movie/popular, /movie/top_rated, /movie/now_playing, /movie/upcoming</a:t>
            </a:r>
            <a:endParaRPr lang="en-US" sz="1050" dirty="0"/>
          </a:p>
          <a:p>
            <a:pPr marL="342900" indent="-342900" algn="l">
              <a:lnSpc>
                <a:spcPct val="130000"/>
              </a:lnSpc>
              <a:buSzPct val="100000"/>
              <a:buChar char="•"/>
            </a:pPr>
            <a:r>
              <a:rPr lang="en-US" sz="1050" dirty="0">
                <a:solidFill>
                  <a:srgbClr val="C9C2C0"/>
                </a:solidFill>
                <a:latin typeface="Gelasio" pitchFamily="34" charset="0"/>
                <a:ea typeface="Gelasio" pitchFamily="34" charset="-122"/>
                <a:cs typeface="Gelasio" pitchFamily="34" charset="-120"/>
              </a:rPr>
              <a:t>Max pages: 500 (popular/top_rated), 50 (now_playing/upcoming)</a:t>
            </a:r>
            <a:endParaRPr lang="en-US" sz="1050" dirty="0"/>
          </a:p>
          <a:p>
            <a:pPr marL="342900" indent="-342900" algn="l">
              <a:lnSpc>
                <a:spcPct val="130000"/>
              </a:lnSpc>
              <a:buSzPct val="100000"/>
              <a:buChar char="•"/>
            </a:pPr>
            <a:r>
              <a:rPr lang="en-US" sz="1050" dirty="0">
                <a:solidFill>
                  <a:srgbClr val="C9C2C0"/>
                </a:solidFill>
                <a:latin typeface="Gelasio" pitchFamily="34" charset="0"/>
                <a:ea typeface="Gelasio" pitchFamily="34" charset="-122"/>
                <a:cs typeface="Gelasio" pitchFamily="34" charset="-120"/>
              </a:rPr>
              <a:t>Exponential backoff retry for HTTP 429 Rate Limit responses</a:t>
            </a:r>
            <a:endParaRPr lang="en-US" sz="1050" dirty="0"/>
          </a:p>
          <a:p>
            <a:pPr marL="342900" indent="-342900" algn="l">
              <a:lnSpc>
                <a:spcPct val="130000"/>
              </a:lnSpc>
              <a:buSzPct val="100000"/>
              <a:buChar char="•"/>
            </a:pPr>
            <a:r>
              <a:rPr lang="en-US" sz="1050" dirty="0">
                <a:solidFill>
                  <a:srgbClr val="C9C2C0"/>
                </a:solidFill>
                <a:latin typeface="Gelasio" pitchFamily="34" charset="0"/>
                <a:ea typeface="Gelasio" pitchFamily="34" charset="-122"/>
                <a:cs typeface="Gelasio" pitchFamily="34" charset="-120"/>
              </a:rPr>
              <a:t>Output: </a:t>
            </a:r>
            <a:r>
              <a:rPr lang="en-US" sz="1050" dirty="0">
                <a:solidFill>
                  <a:srgbClr val="C9C2C0"/>
                </a:solidFill>
                <a:highlight>
                  <a:srgbClr val="53504F"/>
                </a:highlight>
                <a:latin typeface="Consolas" pitchFamily="34" charset="0"/>
                <a:ea typeface="Consolas" pitchFamily="34" charset="-122"/>
                <a:cs typeface="Consolas" pitchFamily="34" charset="-120"/>
              </a:rPr>
              <a:t>dataset/movies/&lt;genre&gt;/&lt;id&gt;.txt</a:t>
            </a:r>
            <a:r>
              <a:rPr lang="en-US" sz="1050" dirty="0">
                <a:solidFill>
                  <a:srgbClr val="C9C2C0"/>
                </a:solidFill>
                <a:latin typeface="Gelasio" pitchFamily="34" charset="0"/>
                <a:ea typeface="Gelasio" pitchFamily="34" charset="-122"/>
                <a:cs typeface="Gelasio" pitchFamily="34" charset="-120"/>
              </a:rPr>
              <a:t> (title + overview)</a:t>
            </a:r>
            <a:endParaRPr lang="en-US" sz="1050" dirty="0"/>
          </a:p>
        </p:txBody>
      </p:sp>
      <p:sp>
        <p:nvSpPr>
          <p:cNvPr id="5" name="Text 3"/>
          <p:cNvSpPr/>
          <p:nvPr/>
        </p:nvSpPr>
        <p:spPr>
          <a:xfrm>
            <a:off x="472901" y="3196828"/>
            <a:ext cx="2477467" cy="211113"/>
          </a:xfrm>
          <a:prstGeom prst="rect">
            <a:avLst/>
          </a:prstGeom>
          <a:noFill/>
          <a:ln/>
        </p:spPr>
        <p:txBody>
          <a:bodyPr wrap="none" lIns="0" tIns="0" rIns="0" bIns="0" rtlCol="0" anchor="t"/>
          <a:lstStyle/>
          <a:p>
            <a:pPr marL="0" indent="0" algn="l">
              <a:lnSpc>
                <a:spcPct val="104000"/>
              </a:lnSpc>
              <a:buNone/>
            </a:pPr>
            <a:r>
              <a:rPr lang="en-US" sz="1300" dirty="0">
                <a:solidFill>
                  <a:srgbClr val="D8B6A4"/>
                </a:solidFill>
                <a:latin typeface="Gelasio" pitchFamily="34" charset="0"/>
                <a:ea typeface="Gelasio" pitchFamily="34" charset="-122"/>
                <a:cs typeface="Gelasio" pitchFamily="34" charset="-120"/>
              </a:rPr>
              <a:t>Script 2: enrich_dataset.py</a:t>
            </a:r>
            <a:endParaRPr lang="en-US" sz="1300" dirty="0"/>
          </a:p>
        </p:txBody>
      </p:sp>
      <p:sp>
        <p:nvSpPr>
          <p:cNvPr id="6" name="Text 4"/>
          <p:cNvSpPr/>
          <p:nvPr/>
        </p:nvSpPr>
        <p:spPr>
          <a:xfrm>
            <a:off x="472901" y="3536677"/>
            <a:ext cx="3934271" cy="993800"/>
          </a:xfrm>
          <a:prstGeom prst="rect">
            <a:avLst/>
          </a:prstGeom>
          <a:noFill/>
          <a:ln/>
        </p:spPr>
        <p:txBody>
          <a:bodyPr wrap="square" lIns="0" tIns="0" rIns="0" bIns="0" rtlCol="0" anchor="t">
            <a:normAutofit fontScale="92500"/>
          </a:bodyPr>
          <a:lstStyle/>
          <a:p>
            <a:pPr marL="342900" indent="-342900" algn="l">
              <a:lnSpc>
                <a:spcPct val="130000"/>
              </a:lnSpc>
              <a:buSzPct val="100000"/>
              <a:buChar char="•"/>
            </a:pPr>
            <a:r>
              <a:rPr lang="en-US" sz="1050" dirty="0">
                <a:solidFill>
                  <a:srgbClr val="C9C2C0"/>
                </a:solidFill>
                <a:latin typeface="Gelasio" pitchFamily="34" charset="0"/>
                <a:ea typeface="Gelasio" pitchFamily="34" charset="-122"/>
                <a:cs typeface="Gelasio" pitchFamily="34" charset="-120"/>
              </a:rPr>
              <a:t>Appends: tagline, keywords (×3 weight), top-3 cast, director</a:t>
            </a:r>
            <a:endParaRPr lang="en-US" sz="1050" dirty="0"/>
          </a:p>
          <a:p>
            <a:pPr marL="342900" indent="-342900" algn="l">
              <a:lnSpc>
                <a:spcPct val="130000"/>
              </a:lnSpc>
              <a:buSzPct val="100000"/>
              <a:buChar char="•"/>
            </a:pPr>
            <a:r>
              <a:rPr lang="en-US" sz="1050" dirty="0">
                <a:solidFill>
                  <a:srgbClr val="C9C2C0"/>
                </a:solidFill>
                <a:latin typeface="Gelasio" pitchFamily="34" charset="0"/>
                <a:ea typeface="Gelasio" pitchFamily="34" charset="-122"/>
                <a:cs typeface="Gelasio" pitchFamily="34" charset="-120"/>
              </a:rPr>
              <a:t>API: </a:t>
            </a:r>
            <a:r>
              <a:rPr lang="en-US" sz="1050" dirty="0">
                <a:solidFill>
                  <a:srgbClr val="C9C2C0"/>
                </a:solidFill>
                <a:highlight>
                  <a:srgbClr val="53504F"/>
                </a:highlight>
                <a:latin typeface="Consolas" pitchFamily="34" charset="0"/>
                <a:ea typeface="Consolas" pitchFamily="34" charset="-122"/>
                <a:cs typeface="Consolas" pitchFamily="34" charset="-120"/>
              </a:rPr>
              <a:t>/movie/{id}?append_to_response=keywords,credits</a:t>
            </a:r>
            <a:endParaRPr lang="en-US" sz="1050" dirty="0"/>
          </a:p>
          <a:p>
            <a:pPr marL="342900" indent="-342900" algn="l">
              <a:lnSpc>
                <a:spcPct val="130000"/>
              </a:lnSpc>
              <a:buSzPct val="100000"/>
              <a:buChar char="•"/>
            </a:pPr>
            <a:r>
              <a:rPr lang="en-US" sz="1050" dirty="0">
                <a:solidFill>
                  <a:srgbClr val="C9C2C0"/>
                </a:solidFill>
                <a:latin typeface="Gelasio" pitchFamily="34" charset="0"/>
                <a:ea typeface="Gelasio" pitchFamily="34" charset="-122"/>
                <a:cs typeface="Gelasio" pitchFamily="34" charset="-120"/>
              </a:rPr>
              <a:t>Total: ~13,711 movies across 17 genres (≥ 100 movies kept)</a:t>
            </a:r>
            <a:endParaRPr lang="en-US" sz="1050" dirty="0"/>
          </a:p>
          <a:p>
            <a:pPr marL="342900" indent="-342900" algn="l">
              <a:lnSpc>
                <a:spcPct val="130000"/>
              </a:lnSpc>
              <a:buSzPct val="100000"/>
              <a:buChar char="•"/>
            </a:pPr>
            <a:r>
              <a:rPr lang="en-US" sz="1050" dirty="0">
                <a:solidFill>
                  <a:srgbClr val="C9C2C0"/>
                </a:solidFill>
                <a:latin typeface="Gelasio" pitchFamily="34" charset="0"/>
                <a:ea typeface="Gelasio" pitchFamily="34" charset="-122"/>
                <a:cs typeface="Gelasio" pitchFamily="34" charset="-120"/>
              </a:rPr>
              <a:t>Note: VPN may be required if ISP throttles TMDB connection</a:t>
            </a:r>
            <a:endParaRPr lang="en-US" sz="1050" dirty="0"/>
          </a:p>
        </p:txBody>
      </p:sp>
      <p:pic>
        <p:nvPicPr>
          <p:cNvPr id="7" name="Image 0" descr="preencoded.png"/>
          <p:cNvPicPr>
            <a:picLocks noChangeAspect="1"/>
          </p:cNvPicPr>
          <p:nvPr/>
        </p:nvPicPr>
        <p:blipFill>
          <a:blip r:embed="rId3"/>
          <a:stretch>
            <a:fillRect/>
          </a:stretch>
        </p:blipFill>
        <p:spPr>
          <a:xfrm>
            <a:off x="4847034" y="1328365"/>
            <a:ext cx="3723308" cy="2482155"/>
          </a:xfrm>
          <a:prstGeom prst="rect">
            <a:avLst/>
          </a:prstGeom>
        </p:spPr>
      </p:pic>
      <p:sp>
        <p:nvSpPr>
          <p:cNvPr id="8" name="Rectangle 7">
            <a:extLst>
              <a:ext uri="{FF2B5EF4-FFF2-40B4-BE49-F238E27FC236}">
                <a16:creationId xmlns:a16="http://schemas.microsoft.com/office/drawing/2014/main" id="{54FB7A7E-A8CC-3E76-6077-6407FE7EE1F3}"/>
              </a:ext>
            </a:extLst>
          </p:cNvPr>
          <p:cNvSpPr/>
          <p:nvPr/>
        </p:nvSpPr>
        <p:spPr>
          <a:xfrm>
            <a:off x="8060788" y="4831849"/>
            <a:ext cx="1012370" cy="226815"/>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26393" y="367010"/>
            <a:ext cx="5725046" cy="380702"/>
          </a:xfrm>
          <a:prstGeom prst="rect">
            <a:avLst/>
          </a:prstGeom>
          <a:noFill/>
          <a:ln/>
        </p:spPr>
        <p:txBody>
          <a:bodyPr wrap="none" lIns="0" tIns="0" rIns="0" bIns="0" rtlCol="0" anchor="t"/>
          <a:lstStyle/>
          <a:p>
            <a:pPr marL="0" indent="0" algn="l">
              <a:lnSpc>
                <a:spcPct val="104000"/>
              </a:lnSpc>
              <a:buNone/>
            </a:pPr>
            <a:r>
              <a:rPr lang="en-US" sz="2350" dirty="0">
                <a:solidFill>
                  <a:srgbClr val="D8B6A4"/>
                </a:solidFill>
                <a:latin typeface="Gelasio" pitchFamily="34" charset="0"/>
                <a:ea typeface="Gelasio" pitchFamily="34" charset="-122"/>
                <a:cs typeface="Gelasio" pitchFamily="34" charset="-120"/>
              </a:rPr>
              <a:t>Dataset Overview &amp; Genre Distribution</a:t>
            </a:r>
            <a:endParaRPr lang="en-US" sz="2350" dirty="0"/>
          </a:p>
        </p:txBody>
      </p:sp>
      <p:sp>
        <p:nvSpPr>
          <p:cNvPr id="3" name="Text 1"/>
          <p:cNvSpPr/>
          <p:nvPr/>
        </p:nvSpPr>
        <p:spPr>
          <a:xfrm>
            <a:off x="426393" y="957039"/>
            <a:ext cx="8291215" cy="376684"/>
          </a:xfrm>
          <a:prstGeom prst="rect">
            <a:avLst/>
          </a:prstGeom>
          <a:noFill/>
          <a:ln/>
        </p:spPr>
        <p:txBody>
          <a:bodyPr wrap="square" lIns="0" tIns="0" rIns="0" bIns="0" rtlCol="0" anchor="t">
            <a:normAutofit/>
          </a:bodyPr>
          <a:lstStyle/>
          <a:p>
            <a:pPr marL="0" indent="0" algn="l">
              <a:lnSpc>
                <a:spcPct val="124000"/>
              </a:lnSpc>
              <a:buNone/>
            </a:pPr>
            <a:r>
              <a:rPr lang="en-US" sz="950" dirty="0">
                <a:solidFill>
                  <a:srgbClr val="C9C2C0"/>
                </a:solidFill>
                <a:latin typeface="Gelasio" pitchFamily="34" charset="0"/>
                <a:ea typeface="Gelasio" pitchFamily="34" charset="-122"/>
                <a:cs typeface="Gelasio" pitchFamily="34" charset="-120"/>
              </a:rPr>
              <a:t>Total: ~13,711 movies across 19 raw genres. Kept 17 genres (all with ≥ 100 movies) — excluded History (95) and TV Movie (37). Filtered via </a:t>
            </a:r>
            <a:r>
              <a:rPr lang="en-US" sz="950" dirty="0">
                <a:solidFill>
                  <a:srgbClr val="C9C2C0"/>
                </a:solidFill>
                <a:highlight>
                  <a:srgbClr val="53504F"/>
                </a:highlight>
                <a:latin typeface="Consolas" pitchFamily="34" charset="0"/>
                <a:ea typeface="Consolas" pitchFamily="34" charset="-122"/>
                <a:cs typeface="Consolas" pitchFamily="34" charset="-120"/>
              </a:rPr>
              <a:t>0_prepare_filtered_hdfs.sh</a:t>
            </a:r>
            <a:r>
              <a:rPr lang="en-US" sz="950" dirty="0">
                <a:solidFill>
                  <a:srgbClr val="C9C2C0"/>
                </a:solidFill>
                <a:latin typeface="Gelasio" pitchFamily="34" charset="0"/>
                <a:ea typeface="Gelasio" pitchFamily="34" charset="-122"/>
                <a:cs typeface="Gelasio" pitchFamily="34" charset="-120"/>
              </a:rPr>
              <a:t>.</a:t>
            </a:r>
            <a:endParaRPr lang="en-US" sz="950" dirty="0"/>
          </a:p>
        </p:txBody>
      </p:sp>
      <p:sp>
        <p:nvSpPr>
          <p:cNvPr id="4" name="Shape 2"/>
          <p:cNvSpPr/>
          <p:nvPr/>
        </p:nvSpPr>
        <p:spPr>
          <a:xfrm>
            <a:off x="426393" y="1569169"/>
            <a:ext cx="4093294" cy="859185"/>
          </a:xfrm>
          <a:prstGeom prst="roundRect">
            <a:avLst>
              <a:gd name="adj" fmla="val 2127"/>
            </a:avLst>
          </a:prstGeom>
          <a:solidFill>
            <a:srgbClr val="373433"/>
          </a:solidFill>
          <a:ln/>
        </p:spPr>
        <p:txBody>
          <a:bodyPr/>
          <a:lstStyle/>
          <a:p>
            <a:endParaRPr lang="en-IN"/>
          </a:p>
        </p:txBody>
      </p:sp>
      <p:sp>
        <p:nvSpPr>
          <p:cNvPr id="5" name="Text 3"/>
          <p:cNvSpPr/>
          <p:nvPr/>
        </p:nvSpPr>
        <p:spPr>
          <a:xfrm>
            <a:off x="548208" y="1690985"/>
            <a:ext cx="1980084" cy="190351"/>
          </a:xfrm>
          <a:prstGeom prst="rect">
            <a:avLst/>
          </a:prstGeom>
          <a:noFill/>
          <a:ln/>
        </p:spPr>
        <p:txBody>
          <a:bodyPr wrap="none" lIns="0" tIns="0" rIns="0" bIns="0" rtlCol="0" anchor="t"/>
          <a:lstStyle/>
          <a:p>
            <a:pPr marL="0" indent="0" algn="l">
              <a:lnSpc>
                <a:spcPct val="104000"/>
              </a:lnSpc>
              <a:buNone/>
            </a:pPr>
            <a:r>
              <a:rPr lang="en-US" sz="1150" dirty="0">
                <a:solidFill>
                  <a:srgbClr val="C9C2C0"/>
                </a:solidFill>
                <a:latin typeface="Gelasio" pitchFamily="34" charset="0"/>
                <a:ea typeface="Gelasio" pitchFamily="34" charset="-122"/>
                <a:cs typeface="Gelasio" pitchFamily="34" charset="-120"/>
              </a:rPr>
              <a:t>Top Genres</a:t>
            </a:r>
            <a:endParaRPr lang="en-US" sz="1150" dirty="0"/>
          </a:p>
        </p:txBody>
      </p:sp>
      <p:sp>
        <p:nvSpPr>
          <p:cNvPr id="6" name="Text 4"/>
          <p:cNvSpPr/>
          <p:nvPr/>
        </p:nvSpPr>
        <p:spPr>
          <a:xfrm>
            <a:off x="548208" y="1944142"/>
            <a:ext cx="3849663" cy="362396"/>
          </a:xfrm>
          <a:prstGeom prst="rect">
            <a:avLst/>
          </a:prstGeom>
          <a:noFill/>
          <a:ln/>
        </p:spPr>
        <p:txBody>
          <a:bodyPr wrap="square" lIns="0" tIns="0" rIns="0" bIns="0" rtlCol="0" anchor="t">
            <a:normAutofit/>
          </a:bodyPr>
          <a:lstStyle/>
          <a:p>
            <a:pPr marL="0" indent="0" algn="l">
              <a:lnSpc>
                <a:spcPct val="124000"/>
              </a:lnSpc>
              <a:buNone/>
            </a:pPr>
            <a:r>
              <a:rPr lang="en-US" sz="950" dirty="0">
                <a:solidFill>
                  <a:srgbClr val="C9C2C0"/>
                </a:solidFill>
                <a:latin typeface="Gelasio" pitchFamily="34" charset="0"/>
                <a:ea typeface="Gelasio" pitchFamily="34" charset="-122"/>
                <a:cs typeface="Gelasio" pitchFamily="34" charset="-120"/>
              </a:rPr>
              <a:t>Drama 3,235 · Comedy 2,449 · Action 1,642 · Horror 1,125 · Animation 866</a:t>
            </a:r>
            <a:endParaRPr lang="en-US" sz="950" dirty="0"/>
          </a:p>
        </p:txBody>
      </p:sp>
      <p:sp>
        <p:nvSpPr>
          <p:cNvPr id="7" name="Shape 5"/>
          <p:cNvSpPr/>
          <p:nvPr/>
        </p:nvSpPr>
        <p:spPr>
          <a:xfrm>
            <a:off x="4624313" y="1569169"/>
            <a:ext cx="4093294" cy="859185"/>
          </a:xfrm>
          <a:prstGeom prst="roundRect">
            <a:avLst>
              <a:gd name="adj" fmla="val 2127"/>
            </a:avLst>
          </a:prstGeom>
          <a:solidFill>
            <a:srgbClr val="373433"/>
          </a:solidFill>
          <a:ln/>
        </p:spPr>
        <p:txBody>
          <a:bodyPr/>
          <a:lstStyle/>
          <a:p>
            <a:endParaRPr lang="en-IN"/>
          </a:p>
        </p:txBody>
      </p:sp>
      <p:sp>
        <p:nvSpPr>
          <p:cNvPr id="8" name="Text 6"/>
          <p:cNvSpPr/>
          <p:nvPr/>
        </p:nvSpPr>
        <p:spPr>
          <a:xfrm>
            <a:off x="4746129" y="1690985"/>
            <a:ext cx="1980084" cy="190351"/>
          </a:xfrm>
          <a:prstGeom prst="rect">
            <a:avLst/>
          </a:prstGeom>
          <a:noFill/>
          <a:ln/>
        </p:spPr>
        <p:txBody>
          <a:bodyPr wrap="none" lIns="0" tIns="0" rIns="0" bIns="0" rtlCol="0" anchor="t"/>
          <a:lstStyle/>
          <a:p>
            <a:pPr marL="0" indent="0" algn="l">
              <a:lnSpc>
                <a:spcPct val="104000"/>
              </a:lnSpc>
              <a:buNone/>
            </a:pPr>
            <a:r>
              <a:rPr lang="en-US" sz="1150" dirty="0">
                <a:solidFill>
                  <a:srgbClr val="C9C2C0"/>
                </a:solidFill>
                <a:latin typeface="Gelasio" pitchFamily="34" charset="0"/>
                <a:ea typeface="Gelasio" pitchFamily="34" charset="-122"/>
                <a:cs typeface="Gelasio" pitchFamily="34" charset="-120"/>
              </a:rPr>
              <a:t>Bottom Genres</a:t>
            </a:r>
            <a:endParaRPr lang="en-US" sz="1150" dirty="0"/>
          </a:p>
        </p:txBody>
      </p:sp>
      <p:sp>
        <p:nvSpPr>
          <p:cNvPr id="9" name="Text 7"/>
          <p:cNvSpPr/>
          <p:nvPr/>
        </p:nvSpPr>
        <p:spPr>
          <a:xfrm>
            <a:off x="4746129" y="1944142"/>
            <a:ext cx="4306863" cy="181198"/>
          </a:xfrm>
          <a:prstGeom prst="rect">
            <a:avLst/>
          </a:prstGeom>
          <a:noFill/>
          <a:ln/>
        </p:spPr>
        <p:txBody>
          <a:bodyPr wrap="none" lIns="0" tIns="0" rIns="0" bIns="0" rtlCol="0" anchor="t"/>
          <a:lstStyle/>
          <a:p>
            <a:pPr marL="0" indent="0" algn="l">
              <a:lnSpc>
                <a:spcPct val="124000"/>
              </a:lnSpc>
              <a:buNone/>
            </a:pPr>
            <a:r>
              <a:rPr lang="en-US" sz="950" dirty="0">
                <a:solidFill>
                  <a:srgbClr val="C9C2C0"/>
                </a:solidFill>
                <a:latin typeface="Gelasio" pitchFamily="34" charset="0"/>
                <a:ea typeface="Gelasio" pitchFamily="34" charset="-122"/>
                <a:cs typeface="Gelasio" pitchFamily="34" charset="-120"/>
              </a:rPr>
              <a:t>War 117 · Western 122 · Music 135 · Mystery 173 · Documentary 259</a:t>
            </a:r>
            <a:endParaRPr lang="en-US" sz="950" dirty="0"/>
          </a:p>
        </p:txBody>
      </p:sp>
      <p:sp>
        <p:nvSpPr>
          <p:cNvPr id="10" name="Shape 8"/>
          <p:cNvSpPr/>
          <p:nvPr/>
        </p:nvSpPr>
        <p:spPr>
          <a:xfrm>
            <a:off x="426393" y="2532980"/>
            <a:ext cx="4093294" cy="2243510"/>
          </a:xfrm>
          <a:prstGeom prst="roundRect">
            <a:avLst>
              <a:gd name="adj" fmla="val 815"/>
            </a:avLst>
          </a:prstGeom>
          <a:solidFill>
            <a:srgbClr val="373433"/>
          </a:solidFill>
          <a:ln/>
        </p:spPr>
        <p:txBody>
          <a:bodyPr/>
          <a:lstStyle/>
          <a:p>
            <a:endParaRPr lang="en-IN"/>
          </a:p>
        </p:txBody>
      </p:sp>
      <p:pic>
        <p:nvPicPr>
          <p:cNvPr id="11" name="Image 0" descr="preencoded.png"/>
          <p:cNvPicPr>
            <a:picLocks noChangeAspect="1"/>
          </p:cNvPicPr>
          <p:nvPr/>
        </p:nvPicPr>
        <p:blipFill>
          <a:blip r:embed="rId3"/>
          <a:stretch>
            <a:fillRect/>
          </a:stretch>
        </p:blipFill>
        <p:spPr>
          <a:xfrm>
            <a:off x="960313" y="2654796"/>
            <a:ext cx="3025453" cy="1682130"/>
          </a:xfrm>
          <a:prstGeom prst="rect">
            <a:avLst/>
          </a:prstGeom>
        </p:spPr>
      </p:pic>
      <p:sp>
        <p:nvSpPr>
          <p:cNvPr id="12" name="Shape 9"/>
          <p:cNvSpPr/>
          <p:nvPr/>
        </p:nvSpPr>
        <p:spPr>
          <a:xfrm>
            <a:off x="4624313" y="2532980"/>
            <a:ext cx="4093294" cy="2243510"/>
          </a:xfrm>
          <a:prstGeom prst="roundRect">
            <a:avLst>
              <a:gd name="adj" fmla="val 815"/>
            </a:avLst>
          </a:prstGeom>
          <a:solidFill>
            <a:srgbClr val="373433"/>
          </a:solidFill>
          <a:ln/>
        </p:spPr>
        <p:txBody>
          <a:bodyPr/>
          <a:lstStyle/>
          <a:p>
            <a:endParaRPr lang="en-IN"/>
          </a:p>
        </p:txBody>
      </p:sp>
      <p:pic>
        <p:nvPicPr>
          <p:cNvPr id="13" name="Image 1" descr="preencoded.png"/>
          <p:cNvPicPr>
            <a:picLocks noChangeAspect="1"/>
          </p:cNvPicPr>
          <p:nvPr/>
        </p:nvPicPr>
        <p:blipFill>
          <a:blip r:embed="rId4"/>
          <a:stretch>
            <a:fillRect/>
          </a:stretch>
        </p:blipFill>
        <p:spPr>
          <a:xfrm>
            <a:off x="5141268" y="2654796"/>
            <a:ext cx="3059311" cy="1700957"/>
          </a:xfrm>
          <a:prstGeom prst="rect">
            <a:avLst/>
          </a:prstGeom>
        </p:spPr>
      </p:pic>
      <p:sp>
        <p:nvSpPr>
          <p:cNvPr id="14" name="Text 10"/>
          <p:cNvSpPr/>
          <p:nvPr/>
        </p:nvSpPr>
        <p:spPr>
          <a:xfrm>
            <a:off x="4746129" y="4473476"/>
            <a:ext cx="4306863" cy="181198"/>
          </a:xfrm>
          <a:prstGeom prst="rect">
            <a:avLst/>
          </a:prstGeom>
          <a:noFill/>
          <a:ln/>
        </p:spPr>
        <p:txBody>
          <a:bodyPr wrap="none" lIns="0" tIns="0" rIns="0" bIns="0" rtlCol="0" anchor="t"/>
          <a:lstStyle/>
          <a:p>
            <a:pPr marL="0" indent="0" algn="l">
              <a:lnSpc>
                <a:spcPct val="124000"/>
              </a:lnSpc>
              <a:buNone/>
            </a:pPr>
            <a:endParaRPr lang="en-US" sz="950" dirty="0"/>
          </a:p>
        </p:txBody>
      </p:sp>
      <p:sp>
        <p:nvSpPr>
          <p:cNvPr id="15" name="Rectangle 14">
            <a:extLst>
              <a:ext uri="{FF2B5EF4-FFF2-40B4-BE49-F238E27FC236}">
                <a16:creationId xmlns:a16="http://schemas.microsoft.com/office/drawing/2014/main" id="{11983D01-2111-6B57-C4AE-3756463336A5}"/>
              </a:ext>
            </a:extLst>
          </p:cNvPr>
          <p:cNvSpPr/>
          <p:nvPr/>
        </p:nvSpPr>
        <p:spPr>
          <a:xfrm>
            <a:off x="8060788" y="4831849"/>
            <a:ext cx="1012370" cy="226815"/>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1013222"/>
            <a:ext cx="7454652" cy="442987"/>
          </a:xfrm>
          <a:prstGeom prst="rect">
            <a:avLst/>
          </a:prstGeom>
          <a:noFill/>
          <a:ln/>
        </p:spPr>
        <p:txBody>
          <a:bodyPr wrap="none" lIns="0" tIns="0" rIns="0" bIns="0" rtlCol="0" anchor="t"/>
          <a:lstStyle/>
          <a:p>
            <a:pPr marL="0" indent="0" algn="l">
              <a:lnSpc>
                <a:spcPct val="104000"/>
              </a:lnSpc>
              <a:buNone/>
            </a:pPr>
            <a:r>
              <a:rPr lang="en-US" sz="2750" dirty="0">
                <a:solidFill>
                  <a:srgbClr val="D8B6A4"/>
                </a:solidFill>
                <a:latin typeface="Gelasio" pitchFamily="34" charset="0"/>
                <a:ea typeface="Gelasio" pitchFamily="34" charset="-122"/>
                <a:cs typeface="Gelasio" pitchFamily="34" charset="-120"/>
              </a:rPr>
              <a:t>Distributed Storage Layer — Docker + HDFS</a:t>
            </a:r>
            <a:endParaRPr lang="en-US" sz="2750" dirty="0"/>
          </a:p>
        </p:txBody>
      </p:sp>
      <p:pic>
        <p:nvPicPr>
          <p:cNvPr id="3" name="Image 0" descr="preencoded.png"/>
          <p:cNvPicPr>
            <a:picLocks noChangeAspect="1"/>
          </p:cNvPicPr>
          <p:nvPr/>
        </p:nvPicPr>
        <p:blipFill>
          <a:blip r:embed="rId3"/>
          <a:stretch>
            <a:fillRect/>
          </a:stretch>
        </p:blipFill>
        <p:spPr>
          <a:xfrm>
            <a:off x="496119" y="2236812"/>
            <a:ext cx="2628230" cy="1165994"/>
          </a:xfrm>
          <a:prstGeom prst="rect">
            <a:avLst/>
          </a:prstGeom>
        </p:spPr>
      </p:pic>
      <p:sp>
        <p:nvSpPr>
          <p:cNvPr id="4" name="Text 1"/>
          <p:cNvSpPr/>
          <p:nvPr/>
        </p:nvSpPr>
        <p:spPr>
          <a:xfrm>
            <a:off x="3474988" y="1810569"/>
            <a:ext cx="2769022" cy="221456"/>
          </a:xfrm>
          <a:prstGeom prst="rect">
            <a:avLst/>
          </a:prstGeom>
          <a:noFill/>
          <a:ln/>
        </p:spPr>
        <p:txBody>
          <a:bodyPr wrap="none" lIns="0" tIns="0" rIns="0" bIns="0" rtlCol="0" anchor="t"/>
          <a:lstStyle/>
          <a:p>
            <a:pPr marL="0" indent="0" algn="l">
              <a:lnSpc>
                <a:spcPct val="104000"/>
              </a:lnSpc>
              <a:buNone/>
            </a:pPr>
            <a:r>
              <a:rPr lang="en-US" sz="1350" dirty="0">
                <a:solidFill>
                  <a:srgbClr val="D8B6A4"/>
                </a:solidFill>
                <a:latin typeface="Gelasio" pitchFamily="34" charset="0"/>
                <a:ea typeface="Gelasio" pitchFamily="34" charset="-122"/>
                <a:cs typeface="Gelasio" pitchFamily="34" charset="-120"/>
              </a:rPr>
              <a:t>docker-compose.yml Services</a:t>
            </a:r>
            <a:endParaRPr lang="en-US" sz="1350" dirty="0"/>
          </a:p>
        </p:txBody>
      </p:sp>
      <p:sp>
        <p:nvSpPr>
          <p:cNvPr id="5" name="Text 2"/>
          <p:cNvSpPr/>
          <p:nvPr/>
        </p:nvSpPr>
        <p:spPr>
          <a:xfrm>
            <a:off x="3474988" y="2173784"/>
            <a:ext cx="5177582" cy="1906935"/>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100" b="1" dirty="0">
                <a:solidFill>
                  <a:srgbClr val="C9C2C0"/>
                </a:solidFill>
                <a:latin typeface="Gelasio" pitchFamily="34" charset="0"/>
                <a:ea typeface="Gelasio" pitchFamily="34" charset="-122"/>
                <a:cs typeface="Gelasio" pitchFamily="34" charset="-120"/>
              </a:rPr>
              <a:t>NameNode:</a:t>
            </a:r>
            <a:r>
              <a:rPr lang="en-US" sz="1100" dirty="0">
                <a:solidFill>
                  <a:srgbClr val="C9C2C0"/>
                </a:solidFill>
                <a:latin typeface="Gelasio" pitchFamily="34" charset="0"/>
                <a:ea typeface="Gelasio" pitchFamily="34" charset="-122"/>
                <a:cs typeface="Gelasio" pitchFamily="34" charset="-120"/>
              </a:rPr>
              <a:t> hadoop-mahout-namenode — Mahout 0.13.0 + Hadoop 3.2.1</a:t>
            </a:r>
            <a:endParaRPr lang="en-US" sz="1100" dirty="0"/>
          </a:p>
          <a:p>
            <a:pPr marL="342900" indent="-342900" algn="l">
              <a:lnSpc>
                <a:spcPct val="133000"/>
              </a:lnSpc>
              <a:buSzPct val="100000"/>
              <a:buChar char="•"/>
            </a:pPr>
            <a:r>
              <a:rPr lang="en-US" sz="1100" b="1" dirty="0">
                <a:solidFill>
                  <a:srgbClr val="C9C2C0"/>
                </a:solidFill>
                <a:latin typeface="Gelasio" pitchFamily="34" charset="0"/>
                <a:ea typeface="Gelasio" pitchFamily="34" charset="-122"/>
                <a:cs typeface="Gelasio" pitchFamily="34" charset="-120"/>
              </a:rPr>
              <a:t>DataNode:</a:t>
            </a:r>
            <a:r>
              <a:rPr lang="en-US" sz="1100" dirty="0">
                <a:solidFill>
                  <a:srgbClr val="C9C2C0"/>
                </a:solidFill>
                <a:latin typeface="Gelasio" pitchFamily="34" charset="0"/>
                <a:ea typeface="Gelasio" pitchFamily="34" charset="-122"/>
                <a:cs typeface="Gelasio" pitchFamily="34" charset="-120"/>
              </a:rPr>
              <a:t> bde2020/hadoop-datanode — data block storage</a:t>
            </a:r>
            <a:endParaRPr lang="en-US" sz="1100" dirty="0"/>
          </a:p>
          <a:p>
            <a:pPr marL="342900" indent="-342900" algn="l">
              <a:lnSpc>
                <a:spcPct val="133000"/>
              </a:lnSpc>
              <a:buSzPct val="100000"/>
              <a:buChar char="•"/>
            </a:pPr>
            <a:r>
              <a:rPr lang="en-US" sz="1100" dirty="0">
                <a:solidFill>
                  <a:srgbClr val="C9C2C0"/>
                </a:solidFill>
                <a:latin typeface="Gelasio" pitchFamily="34" charset="0"/>
                <a:ea typeface="Gelasio" pitchFamily="34" charset="-122"/>
                <a:cs typeface="Gelasio" pitchFamily="34" charset="-120"/>
              </a:rPr>
              <a:t>Volume mounts: </a:t>
            </a:r>
            <a:r>
              <a:rPr lang="en-US" sz="1100" dirty="0">
                <a:solidFill>
                  <a:srgbClr val="C9C2C0"/>
                </a:solidFill>
                <a:highlight>
                  <a:srgbClr val="53504F"/>
                </a:highlight>
                <a:latin typeface="Consolas" pitchFamily="34" charset="0"/>
                <a:ea typeface="Consolas" pitchFamily="34" charset="-122"/>
                <a:cs typeface="Consolas" pitchFamily="34" charset="-120"/>
              </a:rPr>
              <a:t>../dataset → /data/dataset</a:t>
            </a:r>
            <a:r>
              <a:rPr lang="en-US" sz="1100" dirty="0">
                <a:solidFill>
                  <a:srgbClr val="C9C2C0"/>
                </a:solidFill>
                <a:latin typeface="Gelasio" pitchFamily="34" charset="0"/>
                <a:ea typeface="Gelasio" pitchFamily="34" charset="-122"/>
                <a:cs typeface="Gelasio" pitchFamily="34" charset="-120"/>
              </a:rPr>
              <a:t>, </a:t>
            </a:r>
            <a:r>
              <a:rPr lang="en-US" sz="1100" dirty="0">
                <a:solidFill>
                  <a:srgbClr val="C9C2C0"/>
                </a:solidFill>
                <a:highlight>
                  <a:srgbClr val="53504F"/>
                </a:highlight>
                <a:latin typeface="Consolas" pitchFamily="34" charset="0"/>
                <a:ea typeface="Consolas" pitchFamily="34" charset="-122"/>
                <a:cs typeface="Consolas" pitchFamily="34" charset="-120"/>
              </a:rPr>
              <a:t>../pipeline_scripts → /data/pipeline_scripts</a:t>
            </a:r>
            <a:endParaRPr lang="en-US" sz="1100" dirty="0"/>
          </a:p>
          <a:p>
            <a:pPr marL="342900" indent="-342900" algn="l">
              <a:lnSpc>
                <a:spcPct val="133000"/>
              </a:lnSpc>
              <a:buSzPct val="100000"/>
              <a:buChar char="•"/>
            </a:pPr>
            <a:r>
              <a:rPr lang="en-US" sz="1100" dirty="0">
                <a:solidFill>
                  <a:srgbClr val="C9C2C0"/>
                </a:solidFill>
                <a:latin typeface="Gelasio" pitchFamily="34" charset="0"/>
                <a:ea typeface="Gelasio" pitchFamily="34" charset="-122"/>
                <a:cs typeface="Gelasio" pitchFamily="34" charset="-120"/>
              </a:rPr>
              <a:t>HDFS Web UI: </a:t>
            </a:r>
            <a:r>
              <a:rPr lang="en-US" sz="1100" dirty="0">
                <a:solidFill>
                  <a:srgbClr val="C9C2C0"/>
                </a:solidFill>
                <a:highlight>
                  <a:srgbClr val="53504F"/>
                </a:highlight>
                <a:latin typeface="Consolas" pitchFamily="34" charset="0"/>
                <a:ea typeface="Consolas" pitchFamily="34" charset="-122"/>
                <a:cs typeface="Consolas" pitchFamily="34" charset="-120"/>
              </a:rPr>
              <a:t>localhost:9870</a:t>
            </a:r>
            <a:r>
              <a:rPr lang="en-US" sz="1100" dirty="0">
                <a:solidFill>
                  <a:srgbClr val="C9C2C0"/>
                </a:solidFill>
                <a:latin typeface="Gelasio" pitchFamily="34" charset="0"/>
                <a:ea typeface="Gelasio" pitchFamily="34" charset="-122"/>
                <a:cs typeface="Gelasio" pitchFamily="34" charset="-120"/>
              </a:rPr>
              <a:t> · IPC port: </a:t>
            </a:r>
            <a:r>
              <a:rPr lang="en-US" sz="1100" dirty="0">
                <a:solidFill>
                  <a:srgbClr val="C9C2C0"/>
                </a:solidFill>
                <a:highlight>
                  <a:srgbClr val="53504F"/>
                </a:highlight>
                <a:latin typeface="Consolas" pitchFamily="34" charset="0"/>
                <a:ea typeface="Consolas" pitchFamily="34" charset="-122"/>
                <a:cs typeface="Consolas" pitchFamily="34" charset="-120"/>
              </a:rPr>
              <a:t>9000</a:t>
            </a:r>
            <a:endParaRPr lang="en-US" sz="1100" dirty="0"/>
          </a:p>
          <a:p>
            <a:pPr marL="342900" indent="-342900" algn="l">
              <a:lnSpc>
                <a:spcPct val="133000"/>
              </a:lnSpc>
              <a:buSzPct val="100000"/>
              <a:buChar char="•"/>
            </a:pPr>
            <a:r>
              <a:rPr lang="en-US" sz="1100" dirty="0">
                <a:solidFill>
                  <a:srgbClr val="C9C2C0"/>
                </a:solidFill>
                <a:latin typeface="Gelasio" pitchFamily="34" charset="0"/>
                <a:ea typeface="Gelasio" pitchFamily="34" charset="-122"/>
                <a:cs typeface="Gelasio" pitchFamily="34" charset="-120"/>
              </a:rPr>
              <a:t>Raw data → </a:t>
            </a:r>
            <a:r>
              <a:rPr lang="en-US" sz="1100" dirty="0">
                <a:solidFill>
                  <a:srgbClr val="C9C2C0"/>
                </a:solidFill>
                <a:highlight>
                  <a:srgbClr val="53504F"/>
                </a:highlight>
                <a:latin typeface="Consolas" pitchFamily="34" charset="0"/>
                <a:ea typeface="Consolas" pitchFamily="34" charset="-122"/>
                <a:cs typeface="Consolas" pitchFamily="34" charset="-120"/>
              </a:rPr>
              <a:t>/movie_data_raw</a:t>
            </a:r>
            <a:r>
              <a:rPr lang="en-US" sz="1100" dirty="0">
                <a:solidFill>
                  <a:srgbClr val="C9C2C0"/>
                </a:solidFill>
                <a:latin typeface="Gelasio" pitchFamily="34" charset="0"/>
                <a:ea typeface="Gelasio" pitchFamily="34" charset="-122"/>
                <a:cs typeface="Gelasio" pitchFamily="34" charset="-120"/>
              </a:rPr>
              <a:t>; Filtered → </a:t>
            </a:r>
            <a:r>
              <a:rPr lang="en-US" sz="1100" dirty="0">
                <a:solidFill>
                  <a:srgbClr val="C9C2C0"/>
                </a:solidFill>
                <a:highlight>
                  <a:srgbClr val="53504F"/>
                </a:highlight>
                <a:latin typeface="Consolas" pitchFamily="34" charset="0"/>
                <a:ea typeface="Consolas" pitchFamily="34" charset="-122"/>
                <a:cs typeface="Consolas" pitchFamily="34" charset="-120"/>
              </a:rPr>
              <a:t>/movie_data_filtered</a:t>
            </a:r>
            <a:r>
              <a:rPr lang="en-US" sz="1100" dirty="0">
                <a:solidFill>
                  <a:srgbClr val="C9C2C0"/>
                </a:solidFill>
                <a:latin typeface="Gelasio" pitchFamily="34" charset="0"/>
                <a:ea typeface="Gelasio" pitchFamily="34" charset="-122"/>
                <a:cs typeface="Gelasio" pitchFamily="34" charset="-120"/>
              </a:rPr>
              <a:t> (17 genres)</a:t>
            </a:r>
            <a:endParaRPr lang="en-US" sz="1100" dirty="0"/>
          </a:p>
          <a:p>
            <a:pPr marL="342900" indent="-342900" algn="l">
              <a:lnSpc>
                <a:spcPct val="133000"/>
              </a:lnSpc>
              <a:buSzPct val="100000"/>
              <a:buChar char="•"/>
            </a:pPr>
            <a:r>
              <a:rPr lang="en-US" sz="1100" dirty="0">
                <a:solidFill>
                  <a:srgbClr val="C9C2C0"/>
                </a:solidFill>
                <a:latin typeface="Gelasio" pitchFamily="34" charset="0"/>
                <a:ea typeface="Gelasio" pitchFamily="34" charset="-122"/>
                <a:cs typeface="Gelasio" pitchFamily="34" charset="-120"/>
              </a:rPr>
              <a:t>Cluster name: </a:t>
            </a:r>
            <a:r>
              <a:rPr lang="en-US" sz="1100" dirty="0">
                <a:solidFill>
                  <a:srgbClr val="C9C2C0"/>
                </a:solidFill>
                <a:highlight>
                  <a:srgbClr val="53504F"/>
                </a:highlight>
                <a:latin typeface="Consolas" pitchFamily="34" charset="0"/>
                <a:ea typeface="Consolas" pitchFamily="34" charset="-122"/>
                <a:cs typeface="Consolas" pitchFamily="34" charset="-120"/>
              </a:rPr>
              <a:t>movie-genre-cluster</a:t>
            </a:r>
            <a:endParaRPr lang="en-US" sz="1100" dirty="0"/>
          </a:p>
        </p:txBody>
      </p:sp>
      <p:sp>
        <p:nvSpPr>
          <p:cNvPr id="6" name="Rectangle 5">
            <a:extLst>
              <a:ext uri="{FF2B5EF4-FFF2-40B4-BE49-F238E27FC236}">
                <a16:creationId xmlns:a16="http://schemas.microsoft.com/office/drawing/2014/main" id="{B257265D-6BB5-965F-9E3E-A9E466B26CFD}"/>
              </a:ext>
            </a:extLst>
          </p:cNvPr>
          <p:cNvSpPr/>
          <p:nvPr/>
        </p:nvSpPr>
        <p:spPr>
          <a:xfrm>
            <a:off x="8060788" y="4831849"/>
            <a:ext cx="1012370" cy="226815"/>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690637"/>
            <a:ext cx="7049021" cy="442987"/>
          </a:xfrm>
          <a:prstGeom prst="rect">
            <a:avLst/>
          </a:prstGeom>
          <a:noFill/>
          <a:ln/>
        </p:spPr>
        <p:txBody>
          <a:bodyPr wrap="none" lIns="0" tIns="0" rIns="0" bIns="0" rtlCol="0" anchor="t"/>
          <a:lstStyle/>
          <a:p>
            <a:pPr marL="0" indent="0" algn="l">
              <a:lnSpc>
                <a:spcPct val="104000"/>
              </a:lnSpc>
              <a:buNone/>
            </a:pPr>
            <a:r>
              <a:rPr lang="en-US" sz="2750" dirty="0">
                <a:solidFill>
                  <a:srgbClr val="D8B6A4"/>
                </a:solidFill>
                <a:latin typeface="Gelasio" pitchFamily="34" charset="0"/>
                <a:ea typeface="Gelasio" pitchFamily="34" charset="-122"/>
                <a:cs typeface="Gelasio" pitchFamily="34" charset="-120"/>
              </a:rPr>
              <a:t>AI Engine — Mahout MapReduce Pipeline</a:t>
            </a:r>
            <a:endParaRPr lang="en-US" sz="2750" dirty="0"/>
          </a:p>
        </p:txBody>
      </p:sp>
      <p:sp>
        <p:nvSpPr>
          <p:cNvPr id="3" name="Text 1"/>
          <p:cNvSpPr/>
          <p:nvPr/>
        </p:nvSpPr>
        <p:spPr>
          <a:xfrm>
            <a:off x="496119" y="1346225"/>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9C2C0"/>
                </a:solidFill>
                <a:latin typeface="Gelasio" pitchFamily="34" charset="0"/>
                <a:ea typeface="Gelasio" pitchFamily="34" charset="-122"/>
                <a:cs typeface="Gelasio" pitchFamily="34" charset="-120"/>
              </a:rPr>
              <a:t>Our distributed AI engine leverages Apache Mahout and Hadoop MapReduce for efficient movie genre classification. The pipeline orchestrates several scripts and MapReduce jobs in a sequential flow.</a:t>
            </a:r>
            <a:endParaRPr lang="en-US" sz="1100" dirty="0"/>
          </a:p>
        </p:txBody>
      </p:sp>
      <p:sp>
        <p:nvSpPr>
          <p:cNvPr id="4" name="Text 2"/>
          <p:cNvSpPr/>
          <p:nvPr/>
        </p:nvSpPr>
        <p:spPr>
          <a:xfrm>
            <a:off x="496119" y="1959322"/>
            <a:ext cx="8608963" cy="226814"/>
          </a:xfrm>
          <a:prstGeom prst="rect">
            <a:avLst/>
          </a:prstGeom>
          <a:noFill/>
          <a:ln/>
        </p:spPr>
        <p:txBody>
          <a:bodyPr wrap="none" lIns="0" tIns="0" rIns="0" bIns="0" rtlCol="0" anchor="t"/>
          <a:lstStyle/>
          <a:p>
            <a:pPr marL="0" indent="0" algn="l">
              <a:lnSpc>
                <a:spcPct val="133000"/>
              </a:lnSpc>
              <a:buNone/>
            </a:pPr>
            <a:endParaRPr lang="en-US" sz="1100" dirty="0"/>
          </a:p>
        </p:txBody>
      </p:sp>
      <p:pic>
        <p:nvPicPr>
          <p:cNvPr id="5" name="Image 0" descr="preencoded.png"/>
          <p:cNvPicPr>
            <a:picLocks noChangeAspect="1"/>
          </p:cNvPicPr>
          <p:nvPr/>
        </p:nvPicPr>
        <p:blipFill>
          <a:blip r:embed="rId3"/>
          <a:stretch>
            <a:fillRect/>
          </a:stretch>
        </p:blipFill>
        <p:spPr>
          <a:xfrm>
            <a:off x="496119" y="2345606"/>
            <a:ext cx="2717229" cy="567035"/>
          </a:xfrm>
          <a:prstGeom prst="rect">
            <a:avLst/>
          </a:prstGeom>
        </p:spPr>
      </p:pic>
      <p:sp>
        <p:nvSpPr>
          <p:cNvPr id="6" name="Text 3"/>
          <p:cNvSpPr/>
          <p:nvPr/>
        </p:nvSpPr>
        <p:spPr>
          <a:xfrm>
            <a:off x="637877" y="3054400"/>
            <a:ext cx="2335857" cy="221456"/>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Data Ingestion to HDFS</a:t>
            </a:r>
            <a:endParaRPr lang="en-US" sz="1350" dirty="0"/>
          </a:p>
        </p:txBody>
      </p:sp>
      <p:sp>
        <p:nvSpPr>
          <p:cNvPr id="7" name="Text 4"/>
          <p:cNvSpPr/>
          <p:nvPr/>
        </p:nvSpPr>
        <p:spPr>
          <a:xfrm>
            <a:off x="637877" y="3360911"/>
            <a:ext cx="2433712" cy="950119"/>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9C2C0"/>
                </a:solidFill>
                <a:highlight>
                  <a:srgbClr val="53504F"/>
                </a:highlight>
                <a:latin typeface="Consolas" pitchFamily="34" charset="0"/>
                <a:ea typeface="Consolas" pitchFamily="34" charset="-122"/>
                <a:cs typeface="Consolas" pitchFamily="34" charset="-120"/>
              </a:rPr>
              <a:t>0_prepare_filtered_hdfs.sh</a:t>
            </a:r>
            <a:r>
              <a:rPr lang="en-US" sz="1100" dirty="0">
                <a:solidFill>
                  <a:srgbClr val="C9C2C0"/>
                </a:solidFill>
                <a:latin typeface="Gelasio" pitchFamily="34" charset="0"/>
                <a:ea typeface="Gelasio" pitchFamily="34" charset="-122"/>
                <a:cs typeface="Gelasio" pitchFamily="34" charset="-120"/>
              </a:rPr>
              <a:t> rebuilds the 17-genre dataset; </a:t>
            </a:r>
            <a:r>
              <a:rPr lang="en-US" sz="1100" dirty="0">
                <a:solidFill>
                  <a:srgbClr val="C9C2C0"/>
                </a:solidFill>
                <a:highlight>
                  <a:srgbClr val="53504F"/>
                </a:highlight>
                <a:latin typeface="Consolas" pitchFamily="34" charset="0"/>
                <a:ea typeface="Consolas" pitchFamily="34" charset="-122"/>
                <a:cs typeface="Consolas" pitchFamily="34" charset="-120"/>
              </a:rPr>
              <a:t>1_upload_to_hdfs.sh</a:t>
            </a:r>
            <a:r>
              <a:rPr lang="en-US" sz="1100" dirty="0">
                <a:solidFill>
                  <a:srgbClr val="C9C2C0"/>
                </a:solidFill>
                <a:latin typeface="Gelasio" pitchFamily="34" charset="0"/>
                <a:ea typeface="Gelasio" pitchFamily="34" charset="-122"/>
                <a:cs typeface="Gelasio" pitchFamily="34" charset="-120"/>
              </a:rPr>
              <a:t> moves local data to HDFS </a:t>
            </a:r>
            <a:r>
              <a:rPr lang="en-US" sz="1100" dirty="0">
                <a:solidFill>
                  <a:srgbClr val="C9C2C0"/>
                </a:solidFill>
                <a:highlight>
                  <a:srgbClr val="53504F"/>
                </a:highlight>
                <a:latin typeface="Consolas" pitchFamily="34" charset="0"/>
                <a:ea typeface="Consolas" pitchFamily="34" charset="-122"/>
                <a:cs typeface="Consolas" pitchFamily="34" charset="-120"/>
              </a:rPr>
              <a:t>/movie_data_raw</a:t>
            </a:r>
            <a:r>
              <a:rPr lang="en-US" sz="1100" dirty="0">
                <a:solidFill>
                  <a:srgbClr val="C9C2C0"/>
                </a:solidFill>
                <a:latin typeface="Gelasio" pitchFamily="34" charset="0"/>
                <a:ea typeface="Gelasio" pitchFamily="34" charset="-122"/>
                <a:cs typeface="Gelasio" pitchFamily="34" charset="-120"/>
              </a:rPr>
              <a:t>.</a:t>
            </a:r>
            <a:endParaRPr lang="en-US" sz="1100" dirty="0"/>
          </a:p>
        </p:txBody>
      </p:sp>
      <p:pic>
        <p:nvPicPr>
          <p:cNvPr id="8" name="Image 1" descr="preencoded.png"/>
          <p:cNvPicPr>
            <a:picLocks noChangeAspect="1"/>
          </p:cNvPicPr>
          <p:nvPr/>
        </p:nvPicPr>
        <p:blipFill>
          <a:blip r:embed="rId4"/>
          <a:stretch>
            <a:fillRect/>
          </a:stretch>
        </p:blipFill>
        <p:spPr>
          <a:xfrm>
            <a:off x="3213348" y="2345606"/>
            <a:ext cx="2717229" cy="567035"/>
          </a:xfrm>
          <a:prstGeom prst="rect">
            <a:avLst/>
          </a:prstGeom>
        </p:spPr>
      </p:pic>
      <p:sp>
        <p:nvSpPr>
          <p:cNvPr id="9" name="Text 5"/>
          <p:cNvSpPr/>
          <p:nvPr/>
        </p:nvSpPr>
        <p:spPr>
          <a:xfrm>
            <a:off x="3355107" y="3054400"/>
            <a:ext cx="2433712"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Mahout Preprocessing (TF-IDF)</a:t>
            </a:r>
            <a:endParaRPr lang="en-US" sz="1350" dirty="0"/>
          </a:p>
        </p:txBody>
      </p:sp>
      <p:sp>
        <p:nvSpPr>
          <p:cNvPr id="10" name="Text 6"/>
          <p:cNvSpPr/>
          <p:nvPr/>
        </p:nvSpPr>
        <p:spPr>
          <a:xfrm>
            <a:off x="3355107" y="3582367"/>
            <a:ext cx="2433712" cy="723305"/>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9C2C0"/>
                </a:solidFill>
                <a:highlight>
                  <a:srgbClr val="53504F"/>
                </a:highlight>
                <a:latin typeface="Consolas" pitchFamily="34" charset="0"/>
                <a:ea typeface="Consolas" pitchFamily="34" charset="-122"/>
                <a:cs typeface="Consolas" pitchFamily="34" charset="-120"/>
              </a:rPr>
              <a:t>2_preprocess_mahout.sh</a:t>
            </a:r>
            <a:r>
              <a:rPr lang="en-US" sz="1100" dirty="0">
                <a:solidFill>
                  <a:srgbClr val="C9C2C0"/>
                </a:solidFill>
                <a:latin typeface="Gelasio" pitchFamily="34" charset="0"/>
                <a:ea typeface="Gelasio" pitchFamily="34" charset="-122"/>
                <a:cs typeface="Gelasio" pitchFamily="34" charset="-120"/>
              </a:rPr>
              <a:t> executes </a:t>
            </a:r>
            <a:r>
              <a:rPr lang="en-US" sz="1100" dirty="0">
                <a:solidFill>
                  <a:srgbClr val="C9C2C0"/>
                </a:solidFill>
                <a:highlight>
                  <a:srgbClr val="53504F"/>
                </a:highlight>
                <a:latin typeface="Consolas" pitchFamily="34" charset="0"/>
                <a:ea typeface="Consolas" pitchFamily="34" charset="-122"/>
                <a:cs typeface="Consolas" pitchFamily="34" charset="-120"/>
              </a:rPr>
              <a:t>seqdirectory</a:t>
            </a:r>
            <a:r>
              <a:rPr lang="en-US" sz="1100" dirty="0">
                <a:solidFill>
                  <a:srgbClr val="C9C2C0"/>
                </a:solidFill>
                <a:latin typeface="Gelasio" pitchFamily="34" charset="0"/>
                <a:ea typeface="Gelasio" pitchFamily="34" charset="-122"/>
                <a:cs typeface="Gelasio" pitchFamily="34" charset="-120"/>
              </a:rPr>
              <a:t> for SequenceFiles and </a:t>
            </a:r>
            <a:r>
              <a:rPr lang="en-US" sz="1100" dirty="0">
                <a:solidFill>
                  <a:srgbClr val="C9C2C0"/>
                </a:solidFill>
                <a:highlight>
                  <a:srgbClr val="53504F"/>
                </a:highlight>
                <a:latin typeface="Consolas" pitchFamily="34" charset="0"/>
                <a:ea typeface="Consolas" pitchFamily="34" charset="-122"/>
                <a:cs typeface="Consolas" pitchFamily="34" charset="-120"/>
              </a:rPr>
              <a:t>seq2sparse</a:t>
            </a:r>
            <a:r>
              <a:rPr lang="en-US" sz="1100" dirty="0">
                <a:solidFill>
                  <a:srgbClr val="C9C2C0"/>
                </a:solidFill>
                <a:latin typeface="Gelasio" pitchFamily="34" charset="0"/>
                <a:ea typeface="Gelasio" pitchFamily="34" charset="-122"/>
                <a:cs typeface="Gelasio" pitchFamily="34" charset="-120"/>
              </a:rPr>
              <a:t> for TF-IDF vectorization.</a:t>
            </a:r>
            <a:endParaRPr lang="en-US" sz="1100" dirty="0"/>
          </a:p>
        </p:txBody>
      </p:sp>
      <p:pic>
        <p:nvPicPr>
          <p:cNvPr id="11" name="Image 2" descr="preencoded.png"/>
          <p:cNvPicPr>
            <a:picLocks noChangeAspect="1"/>
          </p:cNvPicPr>
          <p:nvPr/>
        </p:nvPicPr>
        <p:blipFill>
          <a:blip r:embed="rId5"/>
          <a:stretch>
            <a:fillRect/>
          </a:stretch>
        </p:blipFill>
        <p:spPr>
          <a:xfrm>
            <a:off x="5930578" y="2345606"/>
            <a:ext cx="2717229" cy="567035"/>
          </a:xfrm>
          <a:prstGeom prst="rect">
            <a:avLst/>
          </a:prstGeom>
        </p:spPr>
      </p:pic>
      <p:sp>
        <p:nvSpPr>
          <p:cNvPr id="12" name="Text 7"/>
          <p:cNvSpPr/>
          <p:nvPr/>
        </p:nvSpPr>
        <p:spPr>
          <a:xfrm>
            <a:off x="6072336" y="3054400"/>
            <a:ext cx="2635151" cy="221456"/>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CNB Model Training &amp; Eval</a:t>
            </a:r>
            <a:endParaRPr lang="en-US" sz="1350" dirty="0"/>
          </a:p>
        </p:txBody>
      </p:sp>
      <p:sp>
        <p:nvSpPr>
          <p:cNvPr id="13" name="Text 8"/>
          <p:cNvSpPr/>
          <p:nvPr/>
        </p:nvSpPr>
        <p:spPr>
          <a:xfrm>
            <a:off x="6072336" y="3360911"/>
            <a:ext cx="2433712" cy="921544"/>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9C2C0"/>
                </a:solidFill>
                <a:highlight>
                  <a:srgbClr val="53504F"/>
                </a:highlight>
                <a:latin typeface="Consolas" pitchFamily="34" charset="0"/>
                <a:ea typeface="Consolas" pitchFamily="34" charset="-122"/>
                <a:cs typeface="Consolas" pitchFamily="34" charset="-120"/>
              </a:rPr>
              <a:t>3_train_and_test_lr.sh</a:t>
            </a:r>
            <a:r>
              <a:rPr lang="en-US" sz="1100" dirty="0">
                <a:solidFill>
                  <a:srgbClr val="C9C2C0"/>
                </a:solidFill>
                <a:latin typeface="Gelasio" pitchFamily="34" charset="0"/>
                <a:ea typeface="Gelasio" pitchFamily="34" charset="-122"/>
                <a:cs typeface="Gelasio" pitchFamily="34" charset="-120"/>
              </a:rPr>
              <a:t> splits data (80/20), trains a Complementary Naive Bayes model, and evaluates it with a Confusion Matrix + AUC.</a:t>
            </a:r>
            <a:endParaRPr lang="en-US" sz="1100" dirty="0"/>
          </a:p>
        </p:txBody>
      </p:sp>
      <p:sp>
        <p:nvSpPr>
          <p:cNvPr id="14" name="Rectangle 13">
            <a:extLst>
              <a:ext uri="{FF2B5EF4-FFF2-40B4-BE49-F238E27FC236}">
                <a16:creationId xmlns:a16="http://schemas.microsoft.com/office/drawing/2014/main" id="{8F5D04E9-F094-8EDE-464E-E43D98347576}"/>
              </a:ext>
            </a:extLst>
          </p:cNvPr>
          <p:cNvSpPr/>
          <p:nvPr/>
        </p:nvSpPr>
        <p:spPr>
          <a:xfrm>
            <a:off x="8060788" y="4838883"/>
            <a:ext cx="1012370" cy="226815"/>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88379" y="397073"/>
            <a:ext cx="7595815" cy="436066"/>
          </a:xfrm>
          <a:prstGeom prst="rect">
            <a:avLst/>
          </a:prstGeom>
          <a:noFill/>
          <a:ln/>
        </p:spPr>
        <p:txBody>
          <a:bodyPr wrap="none" lIns="0" tIns="0" rIns="0" bIns="0" rtlCol="0" anchor="t"/>
          <a:lstStyle/>
          <a:p>
            <a:pPr marL="0" indent="0" algn="l">
              <a:lnSpc>
                <a:spcPct val="104000"/>
              </a:lnSpc>
              <a:buNone/>
            </a:pPr>
            <a:r>
              <a:rPr lang="en-US" sz="2700" dirty="0">
                <a:solidFill>
                  <a:srgbClr val="D8B6A4"/>
                </a:solidFill>
                <a:latin typeface="Gelasio" pitchFamily="34" charset="0"/>
                <a:ea typeface="Gelasio" pitchFamily="34" charset="-122"/>
                <a:cs typeface="Gelasio" pitchFamily="34" charset="-120"/>
              </a:rPr>
              <a:t>TF-IDF Vectorisation — seq2sparse Deep Dive</a:t>
            </a:r>
            <a:endParaRPr lang="en-US" sz="2700" dirty="0"/>
          </a:p>
        </p:txBody>
      </p:sp>
      <p:sp>
        <p:nvSpPr>
          <p:cNvPr id="3" name="Text 1"/>
          <p:cNvSpPr/>
          <p:nvPr/>
        </p:nvSpPr>
        <p:spPr>
          <a:xfrm>
            <a:off x="488379" y="1107877"/>
            <a:ext cx="8624441" cy="186705"/>
          </a:xfrm>
          <a:prstGeom prst="rect">
            <a:avLst/>
          </a:prstGeom>
          <a:noFill/>
          <a:ln/>
        </p:spPr>
        <p:txBody>
          <a:bodyPr wrap="none" lIns="0" tIns="0" rIns="0" bIns="0" rtlCol="0" anchor="t"/>
          <a:lstStyle/>
          <a:p>
            <a:pPr marL="0" indent="0" algn="l">
              <a:lnSpc>
                <a:spcPct val="132000"/>
              </a:lnSpc>
              <a:buNone/>
            </a:pPr>
            <a:r>
              <a:rPr lang="en-US" sz="850" dirty="0">
                <a:solidFill>
                  <a:srgbClr val="C9C2C0"/>
                </a:solidFill>
                <a:latin typeface="Gelasio" pitchFamily="34" charset="0"/>
                <a:ea typeface="Gelasio" pitchFamily="34" charset="-122"/>
                <a:cs typeface="Gelasio" pitchFamily="34" charset="-120"/>
              </a:rPr>
              <a:t>Command: </a:t>
            </a:r>
            <a:r>
              <a:rPr lang="en-US" sz="850" dirty="0">
                <a:solidFill>
                  <a:srgbClr val="C9C2C0"/>
                </a:solidFill>
                <a:highlight>
                  <a:srgbClr val="53504F"/>
                </a:highlight>
                <a:latin typeface="Consolas" pitchFamily="34" charset="0"/>
                <a:ea typeface="Consolas" pitchFamily="34" charset="-122"/>
                <a:cs typeface="Consolas" pitchFamily="34" charset="-120"/>
              </a:rPr>
              <a:t>mahout seq2sparse [params]</a:t>
            </a:r>
            <a:endParaRPr lang="en-US" sz="850" dirty="0"/>
          </a:p>
        </p:txBody>
      </p:sp>
      <p:sp>
        <p:nvSpPr>
          <p:cNvPr id="4" name="Shape 2"/>
          <p:cNvSpPr/>
          <p:nvPr/>
        </p:nvSpPr>
        <p:spPr>
          <a:xfrm>
            <a:off x="488379" y="1603549"/>
            <a:ext cx="1609874" cy="1591791"/>
          </a:xfrm>
          <a:prstGeom prst="roundRect">
            <a:avLst>
              <a:gd name="adj" fmla="val 5744"/>
            </a:avLst>
          </a:prstGeom>
          <a:solidFill>
            <a:srgbClr val="464342"/>
          </a:solidFill>
          <a:ln w="19050">
            <a:solidFill>
              <a:srgbClr val="504D4C"/>
            </a:solidFill>
            <a:prstDash val="solid"/>
          </a:ln>
        </p:spPr>
        <p:txBody>
          <a:bodyPr/>
          <a:lstStyle/>
          <a:p>
            <a:endParaRPr lang="en-IN"/>
          </a:p>
        </p:txBody>
      </p:sp>
      <p:sp>
        <p:nvSpPr>
          <p:cNvPr id="5" name="Shape 3"/>
          <p:cNvSpPr/>
          <p:nvPr/>
        </p:nvSpPr>
        <p:spPr>
          <a:xfrm>
            <a:off x="469329" y="1603549"/>
            <a:ext cx="76200" cy="1591791"/>
          </a:xfrm>
          <a:prstGeom prst="roundRect">
            <a:avLst>
              <a:gd name="adj" fmla="val 27471"/>
            </a:avLst>
          </a:prstGeom>
          <a:solidFill>
            <a:srgbClr val="C49F8C"/>
          </a:solidFill>
          <a:ln/>
        </p:spPr>
        <p:txBody>
          <a:bodyPr/>
          <a:lstStyle/>
          <a:p>
            <a:endParaRPr lang="en-IN"/>
          </a:p>
        </p:txBody>
      </p:sp>
      <p:sp>
        <p:nvSpPr>
          <p:cNvPr id="6" name="Text 4"/>
          <p:cNvSpPr/>
          <p:nvPr/>
        </p:nvSpPr>
        <p:spPr>
          <a:xfrm>
            <a:off x="704106" y="1762125"/>
            <a:ext cx="1692771" cy="232321"/>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highlight>
                  <a:srgbClr val="53504F"/>
                </a:highlight>
                <a:latin typeface="Consolas" pitchFamily="34" charset="0"/>
                <a:ea typeface="Consolas" pitchFamily="34" charset="-122"/>
                <a:cs typeface="Consolas" pitchFamily="34" charset="-120"/>
              </a:rPr>
              <a:t>-i</a:t>
            </a:r>
            <a:r>
              <a:rPr lang="en-US" sz="1350" dirty="0">
                <a:solidFill>
                  <a:srgbClr val="C9C2C0"/>
                </a:solidFill>
                <a:latin typeface="Gelasio" pitchFamily="34" charset="0"/>
                <a:ea typeface="Gelasio" pitchFamily="34" charset="-122"/>
                <a:cs typeface="Gelasio" pitchFamily="34" charset="-120"/>
              </a:rPr>
              <a:t> Input</a:t>
            </a:r>
            <a:endParaRPr lang="en-US" sz="1350" dirty="0"/>
          </a:p>
        </p:txBody>
      </p:sp>
      <p:sp>
        <p:nvSpPr>
          <p:cNvPr id="7" name="Text 5"/>
          <p:cNvSpPr/>
          <p:nvPr/>
        </p:nvSpPr>
        <p:spPr>
          <a:xfrm>
            <a:off x="704106" y="2131814"/>
            <a:ext cx="1235571" cy="363885"/>
          </a:xfrm>
          <a:prstGeom prst="rect">
            <a:avLst/>
          </a:prstGeom>
          <a:noFill/>
          <a:ln/>
        </p:spPr>
        <p:txBody>
          <a:bodyPr wrap="square" lIns="0" tIns="0" rIns="0" bIns="0" rtlCol="0" anchor="t">
            <a:normAutofit/>
          </a:bodyPr>
          <a:lstStyle/>
          <a:p>
            <a:pPr marL="0" indent="0" algn="l">
              <a:lnSpc>
                <a:spcPct val="132000"/>
              </a:lnSpc>
              <a:buNone/>
            </a:pPr>
            <a:r>
              <a:rPr lang="en-US" sz="850" dirty="0">
                <a:solidFill>
                  <a:srgbClr val="C9C2C0"/>
                </a:solidFill>
                <a:latin typeface="Gelasio" pitchFamily="34" charset="0"/>
                <a:ea typeface="Gelasio" pitchFamily="34" charset="-122"/>
                <a:cs typeface="Gelasio" pitchFamily="34" charset="-120"/>
              </a:rPr>
              <a:t>SequenceFiles from </a:t>
            </a:r>
            <a:r>
              <a:rPr lang="en-US" sz="850" dirty="0">
                <a:solidFill>
                  <a:srgbClr val="C9C2C0"/>
                </a:solidFill>
                <a:highlight>
                  <a:srgbClr val="53504F"/>
                </a:highlight>
                <a:latin typeface="Consolas" pitchFamily="34" charset="0"/>
                <a:ea typeface="Consolas" pitchFamily="34" charset="-122"/>
                <a:cs typeface="Consolas" pitchFamily="34" charset="-120"/>
              </a:rPr>
              <a:t>/movie_data_filtered</a:t>
            </a:r>
            <a:endParaRPr lang="en-US" sz="850" dirty="0"/>
          </a:p>
        </p:txBody>
      </p:sp>
      <p:sp>
        <p:nvSpPr>
          <p:cNvPr id="8" name="Shape 6"/>
          <p:cNvSpPr/>
          <p:nvPr/>
        </p:nvSpPr>
        <p:spPr>
          <a:xfrm>
            <a:off x="2235622" y="1603549"/>
            <a:ext cx="1609874" cy="1591791"/>
          </a:xfrm>
          <a:prstGeom prst="roundRect">
            <a:avLst>
              <a:gd name="adj" fmla="val 5744"/>
            </a:avLst>
          </a:prstGeom>
          <a:solidFill>
            <a:srgbClr val="464342"/>
          </a:solidFill>
          <a:ln w="19050">
            <a:solidFill>
              <a:srgbClr val="504D4C"/>
            </a:solidFill>
            <a:prstDash val="solid"/>
          </a:ln>
        </p:spPr>
        <p:txBody>
          <a:bodyPr/>
          <a:lstStyle/>
          <a:p>
            <a:endParaRPr lang="en-IN"/>
          </a:p>
        </p:txBody>
      </p:sp>
      <p:sp>
        <p:nvSpPr>
          <p:cNvPr id="9" name="Shape 7"/>
          <p:cNvSpPr/>
          <p:nvPr/>
        </p:nvSpPr>
        <p:spPr>
          <a:xfrm>
            <a:off x="2216572" y="1603549"/>
            <a:ext cx="76200" cy="1591791"/>
          </a:xfrm>
          <a:prstGeom prst="roundRect">
            <a:avLst>
              <a:gd name="adj" fmla="val 27471"/>
            </a:avLst>
          </a:prstGeom>
          <a:solidFill>
            <a:srgbClr val="C49F8C"/>
          </a:solidFill>
          <a:ln/>
        </p:spPr>
        <p:txBody>
          <a:bodyPr/>
          <a:lstStyle/>
          <a:p>
            <a:endParaRPr lang="en-IN"/>
          </a:p>
        </p:txBody>
      </p:sp>
      <p:sp>
        <p:nvSpPr>
          <p:cNvPr id="10" name="Text 8"/>
          <p:cNvSpPr/>
          <p:nvPr/>
        </p:nvSpPr>
        <p:spPr>
          <a:xfrm>
            <a:off x="2451348" y="1762125"/>
            <a:ext cx="1692771" cy="232321"/>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highlight>
                  <a:srgbClr val="53504F"/>
                </a:highlight>
                <a:latin typeface="Consolas" pitchFamily="34" charset="0"/>
                <a:ea typeface="Consolas" pitchFamily="34" charset="-122"/>
                <a:cs typeface="Consolas" pitchFamily="34" charset="-120"/>
              </a:rPr>
              <a:t>-o</a:t>
            </a:r>
            <a:r>
              <a:rPr lang="en-US" sz="1350" dirty="0">
                <a:solidFill>
                  <a:srgbClr val="C9C2C0"/>
                </a:solidFill>
                <a:latin typeface="Gelasio" pitchFamily="34" charset="0"/>
                <a:ea typeface="Gelasio" pitchFamily="34" charset="-122"/>
                <a:cs typeface="Gelasio" pitchFamily="34" charset="-120"/>
              </a:rPr>
              <a:t> Output</a:t>
            </a:r>
            <a:endParaRPr lang="en-US" sz="1350" dirty="0"/>
          </a:p>
        </p:txBody>
      </p:sp>
      <p:sp>
        <p:nvSpPr>
          <p:cNvPr id="11" name="Text 9"/>
          <p:cNvSpPr/>
          <p:nvPr/>
        </p:nvSpPr>
        <p:spPr>
          <a:xfrm>
            <a:off x="2451348" y="2131814"/>
            <a:ext cx="1235571" cy="363885"/>
          </a:xfrm>
          <a:prstGeom prst="rect">
            <a:avLst/>
          </a:prstGeom>
          <a:noFill/>
          <a:ln/>
        </p:spPr>
        <p:txBody>
          <a:bodyPr wrap="square" lIns="0" tIns="0" rIns="0" bIns="0" rtlCol="0" anchor="t">
            <a:normAutofit/>
          </a:bodyPr>
          <a:lstStyle/>
          <a:p>
            <a:pPr marL="0" indent="0" algn="l">
              <a:lnSpc>
                <a:spcPct val="132000"/>
              </a:lnSpc>
              <a:buNone/>
            </a:pPr>
            <a:r>
              <a:rPr lang="en-US" sz="850" dirty="0">
                <a:solidFill>
                  <a:srgbClr val="C9C2C0"/>
                </a:solidFill>
                <a:latin typeface="Gelasio" pitchFamily="34" charset="0"/>
                <a:ea typeface="Gelasio" pitchFamily="34" charset="-122"/>
                <a:cs typeface="Gelasio" pitchFamily="34" charset="-120"/>
              </a:rPr>
              <a:t>Vectors to </a:t>
            </a:r>
            <a:r>
              <a:rPr lang="en-US" sz="850" dirty="0">
                <a:solidFill>
                  <a:srgbClr val="C9C2C0"/>
                </a:solidFill>
                <a:highlight>
                  <a:srgbClr val="53504F"/>
                </a:highlight>
                <a:latin typeface="Consolas" pitchFamily="34" charset="0"/>
                <a:ea typeface="Consolas" pitchFamily="34" charset="-122"/>
                <a:cs typeface="Consolas" pitchFamily="34" charset="-120"/>
              </a:rPr>
              <a:t>/movie_data_vectors</a:t>
            </a:r>
            <a:endParaRPr lang="en-US" sz="850" dirty="0"/>
          </a:p>
        </p:txBody>
      </p:sp>
      <p:sp>
        <p:nvSpPr>
          <p:cNvPr id="12" name="Shape 10"/>
          <p:cNvSpPr/>
          <p:nvPr/>
        </p:nvSpPr>
        <p:spPr>
          <a:xfrm>
            <a:off x="3982864" y="1603549"/>
            <a:ext cx="1609948" cy="1591791"/>
          </a:xfrm>
          <a:prstGeom prst="roundRect">
            <a:avLst>
              <a:gd name="adj" fmla="val 5744"/>
            </a:avLst>
          </a:prstGeom>
          <a:solidFill>
            <a:srgbClr val="464342"/>
          </a:solidFill>
          <a:ln w="19050">
            <a:solidFill>
              <a:srgbClr val="504D4C"/>
            </a:solidFill>
            <a:prstDash val="solid"/>
          </a:ln>
        </p:spPr>
        <p:txBody>
          <a:bodyPr/>
          <a:lstStyle/>
          <a:p>
            <a:endParaRPr lang="en-IN"/>
          </a:p>
        </p:txBody>
      </p:sp>
      <p:sp>
        <p:nvSpPr>
          <p:cNvPr id="13" name="Shape 11"/>
          <p:cNvSpPr/>
          <p:nvPr/>
        </p:nvSpPr>
        <p:spPr>
          <a:xfrm>
            <a:off x="3963814" y="1603549"/>
            <a:ext cx="76200" cy="1591791"/>
          </a:xfrm>
          <a:prstGeom prst="roundRect">
            <a:avLst>
              <a:gd name="adj" fmla="val 27471"/>
            </a:avLst>
          </a:prstGeom>
          <a:solidFill>
            <a:srgbClr val="C49F8C"/>
          </a:solidFill>
          <a:ln/>
        </p:spPr>
        <p:txBody>
          <a:bodyPr/>
          <a:lstStyle/>
          <a:p>
            <a:endParaRPr lang="en-IN"/>
          </a:p>
        </p:txBody>
      </p:sp>
      <p:sp>
        <p:nvSpPr>
          <p:cNvPr id="14" name="Text 12"/>
          <p:cNvSpPr/>
          <p:nvPr/>
        </p:nvSpPr>
        <p:spPr>
          <a:xfrm>
            <a:off x="4198590" y="1762125"/>
            <a:ext cx="1692846" cy="232321"/>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highlight>
                  <a:srgbClr val="53504F"/>
                </a:highlight>
                <a:latin typeface="Consolas" pitchFamily="34" charset="0"/>
                <a:ea typeface="Consolas" pitchFamily="34" charset="-122"/>
                <a:cs typeface="Consolas" pitchFamily="34" charset="-120"/>
              </a:rPr>
              <a:t>-a</a:t>
            </a:r>
            <a:r>
              <a:rPr lang="en-US" sz="1350" dirty="0">
                <a:solidFill>
                  <a:srgbClr val="C9C2C0"/>
                </a:solidFill>
                <a:latin typeface="Gelasio" pitchFamily="34" charset="0"/>
                <a:ea typeface="Gelasio" pitchFamily="34" charset="-122"/>
                <a:cs typeface="Gelasio" pitchFamily="34" charset="-120"/>
              </a:rPr>
              <a:t> Analyzer</a:t>
            </a:r>
            <a:endParaRPr lang="en-US" sz="1350" dirty="0"/>
          </a:p>
        </p:txBody>
      </p:sp>
      <p:sp>
        <p:nvSpPr>
          <p:cNvPr id="15" name="Text 13"/>
          <p:cNvSpPr/>
          <p:nvPr/>
        </p:nvSpPr>
        <p:spPr>
          <a:xfrm>
            <a:off x="4198590" y="2131814"/>
            <a:ext cx="1235646" cy="904949"/>
          </a:xfrm>
          <a:prstGeom prst="rect">
            <a:avLst/>
          </a:prstGeom>
          <a:noFill/>
          <a:ln/>
        </p:spPr>
        <p:txBody>
          <a:bodyPr wrap="square" lIns="0" tIns="0" rIns="0" bIns="0" rtlCol="0" anchor="t">
            <a:normAutofit/>
          </a:bodyPr>
          <a:lstStyle/>
          <a:p>
            <a:pPr marL="0" indent="0" algn="l">
              <a:lnSpc>
                <a:spcPct val="132000"/>
              </a:lnSpc>
              <a:buNone/>
            </a:pPr>
            <a:r>
              <a:rPr lang="en-US" sz="850" dirty="0">
                <a:solidFill>
                  <a:srgbClr val="C9C2C0"/>
                </a:solidFill>
                <a:highlight>
                  <a:srgbClr val="53504F"/>
                </a:highlight>
                <a:latin typeface="Consolas" pitchFamily="34" charset="0"/>
                <a:ea typeface="Consolas" pitchFamily="34" charset="-122"/>
                <a:cs typeface="Consolas" pitchFamily="34" charset="-120"/>
              </a:rPr>
              <a:t>org.apache.lucene.analysis.en.EnglishAnalyzer</a:t>
            </a:r>
            <a:r>
              <a:rPr lang="en-US" sz="850" dirty="0">
                <a:solidFill>
                  <a:srgbClr val="C9C2C0"/>
                </a:solidFill>
                <a:latin typeface="Gelasio" pitchFamily="34" charset="0"/>
                <a:ea typeface="Gelasio" pitchFamily="34" charset="-122"/>
                <a:cs typeface="Gelasio" pitchFamily="34" charset="-120"/>
              </a:rPr>
              <a:t> for Porter stemming + stop-word removal; e.g. running/runs/ran → run</a:t>
            </a:r>
            <a:endParaRPr lang="en-US" sz="850" dirty="0"/>
          </a:p>
        </p:txBody>
      </p:sp>
      <p:sp>
        <p:nvSpPr>
          <p:cNvPr id="16" name="Shape 14"/>
          <p:cNvSpPr/>
          <p:nvPr/>
        </p:nvSpPr>
        <p:spPr>
          <a:xfrm>
            <a:off x="488379" y="3332708"/>
            <a:ext cx="1609874" cy="1259235"/>
          </a:xfrm>
          <a:prstGeom prst="roundRect">
            <a:avLst>
              <a:gd name="adj" fmla="val 7262"/>
            </a:avLst>
          </a:prstGeom>
          <a:solidFill>
            <a:srgbClr val="464342"/>
          </a:solidFill>
          <a:ln w="19050">
            <a:solidFill>
              <a:srgbClr val="504D4C"/>
            </a:solidFill>
            <a:prstDash val="solid"/>
          </a:ln>
        </p:spPr>
        <p:txBody>
          <a:bodyPr/>
          <a:lstStyle/>
          <a:p>
            <a:endParaRPr lang="en-IN"/>
          </a:p>
        </p:txBody>
      </p:sp>
      <p:sp>
        <p:nvSpPr>
          <p:cNvPr id="17" name="Shape 15"/>
          <p:cNvSpPr/>
          <p:nvPr/>
        </p:nvSpPr>
        <p:spPr>
          <a:xfrm>
            <a:off x="469329" y="3332708"/>
            <a:ext cx="76200" cy="1259235"/>
          </a:xfrm>
          <a:prstGeom prst="roundRect">
            <a:avLst>
              <a:gd name="adj" fmla="val 27471"/>
            </a:avLst>
          </a:prstGeom>
          <a:solidFill>
            <a:srgbClr val="C49F8C"/>
          </a:solidFill>
          <a:ln/>
        </p:spPr>
        <p:txBody>
          <a:bodyPr/>
          <a:lstStyle/>
          <a:p>
            <a:endParaRPr lang="en-IN"/>
          </a:p>
        </p:txBody>
      </p:sp>
      <p:sp>
        <p:nvSpPr>
          <p:cNvPr id="18" name="Text 16"/>
          <p:cNvSpPr/>
          <p:nvPr/>
        </p:nvSpPr>
        <p:spPr>
          <a:xfrm>
            <a:off x="704106" y="3491285"/>
            <a:ext cx="1692771" cy="232321"/>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highlight>
                  <a:srgbClr val="53504F"/>
                </a:highlight>
                <a:latin typeface="Consolas" pitchFamily="34" charset="0"/>
                <a:ea typeface="Consolas" pitchFamily="34" charset="-122"/>
                <a:cs typeface="Consolas" pitchFamily="34" charset="-120"/>
              </a:rPr>
              <a:t>-ng 2</a:t>
            </a:r>
            <a:r>
              <a:rPr lang="en-US" sz="1350" dirty="0">
                <a:solidFill>
                  <a:srgbClr val="C9C2C0"/>
                </a:solidFill>
                <a:latin typeface="Gelasio" pitchFamily="34" charset="0"/>
                <a:ea typeface="Gelasio" pitchFamily="34" charset="-122"/>
                <a:cs typeface="Gelasio" pitchFamily="34" charset="-120"/>
              </a:rPr>
              <a:t> N-grams</a:t>
            </a:r>
            <a:endParaRPr lang="en-US" sz="1350" dirty="0"/>
          </a:p>
        </p:txBody>
      </p:sp>
      <p:sp>
        <p:nvSpPr>
          <p:cNvPr id="19" name="Text 17"/>
          <p:cNvSpPr/>
          <p:nvPr/>
        </p:nvSpPr>
        <p:spPr>
          <a:xfrm>
            <a:off x="704106" y="3860974"/>
            <a:ext cx="1235571" cy="354360"/>
          </a:xfrm>
          <a:prstGeom prst="rect">
            <a:avLst/>
          </a:prstGeom>
          <a:noFill/>
          <a:ln/>
        </p:spPr>
        <p:txBody>
          <a:bodyPr wrap="square" lIns="0" tIns="0" rIns="0" bIns="0" rtlCol="0" anchor="t">
            <a:normAutofit/>
          </a:bodyPr>
          <a:lstStyle/>
          <a:p>
            <a:pPr marL="0" indent="0" algn="l">
              <a:lnSpc>
                <a:spcPct val="132000"/>
              </a:lnSpc>
              <a:buNone/>
            </a:pPr>
            <a:r>
              <a:rPr lang="en-US" sz="850" dirty="0">
                <a:solidFill>
                  <a:srgbClr val="C9C2C0"/>
                </a:solidFill>
                <a:latin typeface="Gelasio" pitchFamily="34" charset="0"/>
                <a:ea typeface="Gelasio" pitchFamily="34" charset="-122"/>
                <a:cs typeface="Gelasio" pitchFamily="34" charset="-120"/>
              </a:rPr>
              <a:t>Extracts unigrams </a:t>
            </a:r>
            <a:r>
              <a:rPr lang="en-US" sz="850" b="1" dirty="0">
                <a:solidFill>
                  <a:srgbClr val="C9C2C0"/>
                </a:solidFill>
                <a:latin typeface="Gelasio" pitchFamily="34" charset="0"/>
                <a:ea typeface="Gelasio" pitchFamily="34" charset="-122"/>
                <a:cs typeface="Gelasio" pitchFamily="34" charset="-120"/>
              </a:rPr>
              <a:t>and</a:t>
            </a:r>
            <a:r>
              <a:rPr lang="en-US" sz="850" dirty="0">
                <a:solidFill>
                  <a:srgbClr val="C9C2C0"/>
                </a:solidFill>
                <a:latin typeface="Gelasio" pitchFamily="34" charset="0"/>
                <a:ea typeface="Gelasio" pitchFamily="34" charset="-122"/>
                <a:cs typeface="Gelasio" pitchFamily="34" charset="-120"/>
              </a:rPr>
              <a:t> bigrams</a:t>
            </a:r>
            <a:endParaRPr lang="en-US" sz="850" dirty="0"/>
          </a:p>
        </p:txBody>
      </p:sp>
      <p:sp>
        <p:nvSpPr>
          <p:cNvPr id="20" name="Shape 18"/>
          <p:cNvSpPr/>
          <p:nvPr/>
        </p:nvSpPr>
        <p:spPr>
          <a:xfrm>
            <a:off x="2235622" y="3332708"/>
            <a:ext cx="1609874" cy="1259235"/>
          </a:xfrm>
          <a:prstGeom prst="roundRect">
            <a:avLst>
              <a:gd name="adj" fmla="val 7262"/>
            </a:avLst>
          </a:prstGeom>
          <a:solidFill>
            <a:srgbClr val="464342"/>
          </a:solidFill>
          <a:ln w="19050">
            <a:solidFill>
              <a:srgbClr val="504D4C"/>
            </a:solidFill>
            <a:prstDash val="solid"/>
          </a:ln>
        </p:spPr>
        <p:txBody>
          <a:bodyPr/>
          <a:lstStyle/>
          <a:p>
            <a:endParaRPr lang="en-IN"/>
          </a:p>
        </p:txBody>
      </p:sp>
      <p:sp>
        <p:nvSpPr>
          <p:cNvPr id="21" name="Shape 19"/>
          <p:cNvSpPr/>
          <p:nvPr/>
        </p:nvSpPr>
        <p:spPr>
          <a:xfrm>
            <a:off x="2216572" y="3332708"/>
            <a:ext cx="76200" cy="1259235"/>
          </a:xfrm>
          <a:prstGeom prst="roundRect">
            <a:avLst>
              <a:gd name="adj" fmla="val 27471"/>
            </a:avLst>
          </a:prstGeom>
          <a:solidFill>
            <a:srgbClr val="C49F8C"/>
          </a:solidFill>
          <a:ln/>
        </p:spPr>
        <p:txBody>
          <a:bodyPr/>
          <a:lstStyle/>
          <a:p>
            <a:endParaRPr lang="en-IN"/>
          </a:p>
        </p:txBody>
      </p:sp>
      <p:sp>
        <p:nvSpPr>
          <p:cNvPr id="22" name="Text 20"/>
          <p:cNvSpPr/>
          <p:nvPr/>
        </p:nvSpPr>
        <p:spPr>
          <a:xfrm>
            <a:off x="2451348" y="3491285"/>
            <a:ext cx="1235571" cy="450354"/>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C9C2C0"/>
                </a:solidFill>
                <a:highlight>
                  <a:srgbClr val="53504F"/>
                </a:highlight>
                <a:latin typeface="Consolas" pitchFamily="34" charset="0"/>
                <a:ea typeface="Consolas" pitchFamily="34" charset="-122"/>
                <a:cs typeface="Consolas" pitchFamily="34" charset="-120"/>
              </a:rPr>
              <a:t>-wt tfidf</a:t>
            </a:r>
            <a:r>
              <a:rPr lang="en-US" sz="1350" dirty="0">
                <a:solidFill>
                  <a:srgbClr val="C9C2C0"/>
                </a:solidFill>
                <a:latin typeface="Gelasio" pitchFamily="34" charset="0"/>
                <a:ea typeface="Gelasio" pitchFamily="34" charset="-122"/>
                <a:cs typeface="Gelasio" pitchFamily="34" charset="-120"/>
              </a:rPr>
              <a:t> Weighting</a:t>
            </a:r>
            <a:endParaRPr lang="en-US" sz="1350" dirty="0"/>
          </a:p>
        </p:txBody>
      </p:sp>
      <p:sp>
        <p:nvSpPr>
          <p:cNvPr id="23" name="Text 21"/>
          <p:cNvSpPr/>
          <p:nvPr/>
        </p:nvSpPr>
        <p:spPr>
          <a:xfrm>
            <a:off x="2451348" y="4079007"/>
            <a:ext cx="1235571" cy="354360"/>
          </a:xfrm>
          <a:prstGeom prst="rect">
            <a:avLst/>
          </a:prstGeom>
          <a:noFill/>
          <a:ln/>
        </p:spPr>
        <p:txBody>
          <a:bodyPr wrap="square" lIns="0" tIns="0" rIns="0" bIns="0" rtlCol="0" anchor="t">
            <a:normAutofit/>
          </a:bodyPr>
          <a:lstStyle/>
          <a:p>
            <a:pPr marL="0" indent="0" algn="l">
              <a:lnSpc>
                <a:spcPct val="132000"/>
              </a:lnSpc>
              <a:buNone/>
            </a:pPr>
            <a:r>
              <a:rPr lang="en-US" sz="850" dirty="0">
                <a:solidFill>
                  <a:srgbClr val="C9C2C0"/>
                </a:solidFill>
                <a:latin typeface="Gelasio" pitchFamily="34" charset="0"/>
                <a:ea typeface="Gelasio" pitchFamily="34" charset="-122"/>
                <a:cs typeface="Gelasio" pitchFamily="34" charset="-120"/>
              </a:rPr>
              <a:t>TF-IDF term weighting scheme</a:t>
            </a:r>
            <a:endParaRPr lang="en-US" sz="850" dirty="0"/>
          </a:p>
        </p:txBody>
      </p:sp>
      <p:sp>
        <p:nvSpPr>
          <p:cNvPr id="24" name="Shape 22"/>
          <p:cNvSpPr/>
          <p:nvPr/>
        </p:nvSpPr>
        <p:spPr>
          <a:xfrm>
            <a:off x="3982864" y="3332708"/>
            <a:ext cx="1609948" cy="1259235"/>
          </a:xfrm>
          <a:prstGeom prst="roundRect">
            <a:avLst>
              <a:gd name="adj" fmla="val 7262"/>
            </a:avLst>
          </a:prstGeom>
          <a:solidFill>
            <a:srgbClr val="464342"/>
          </a:solidFill>
          <a:ln w="19050">
            <a:solidFill>
              <a:srgbClr val="504D4C"/>
            </a:solidFill>
            <a:prstDash val="solid"/>
          </a:ln>
        </p:spPr>
        <p:txBody>
          <a:bodyPr/>
          <a:lstStyle/>
          <a:p>
            <a:endParaRPr lang="en-IN"/>
          </a:p>
        </p:txBody>
      </p:sp>
      <p:sp>
        <p:nvSpPr>
          <p:cNvPr id="25" name="Shape 23"/>
          <p:cNvSpPr/>
          <p:nvPr/>
        </p:nvSpPr>
        <p:spPr>
          <a:xfrm>
            <a:off x="3963814" y="3332708"/>
            <a:ext cx="76200" cy="1259235"/>
          </a:xfrm>
          <a:prstGeom prst="roundRect">
            <a:avLst>
              <a:gd name="adj" fmla="val 27471"/>
            </a:avLst>
          </a:prstGeom>
          <a:solidFill>
            <a:srgbClr val="C49F8C"/>
          </a:solidFill>
          <a:ln/>
        </p:spPr>
        <p:txBody>
          <a:bodyPr/>
          <a:lstStyle/>
          <a:p>
            <a:endParaRPr lang="en-IN"/>
          </a:p>
        </p:txBody>
      </p:sp>
      <p:sp>
        <p:nvSpPr>
          <p:cNvPr id="26" name="Text 24"/>
          <p:cNvSpPr/>
          <p:nvPr/>
        </p:nvSpPr>
        <p:spPr>
          <a:xfrm>
            <a:off x="4198590" y="3491285"/>
            <a:ext cx="1235646" cy="450354"/>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C9C2C0"/>
                </a:solidFill>
                <a:highlight>
                  <a:srgbClr val="53504F"/>
                </a:highlight>
                <a:latin typeface="Consolas" pitchFamily="34" charset="0"/>
                <a:ea typeface="Consolas" pitchFamily="34" charset="-122"/>
                <a:cs typeface="Consolas" pitchFamily="34" charset="-120"/>
              </a:rPr>
              <a:t>-nv</a:t>
            </a:r>
            <a:r>
              <a:rPr lang="en-US" sz="1350" dirty="0">
                <a:solidFill>
                  <a:srgbClr val="C9C2C0"/>
                </a:solidFill>
                <a:latin typeface="Gelasio" pitchFamily="34" charset="0"/>
                <a:ea typeface="Gelasio" pitchFamily="34" charset="-122"/>
                <a:cs typeface="Gelasio" pitchFamily="34" charset="-120"/>
              </a:rPr>
              <a:t> Named vectors</a:t>
            </a:r>
            <a:endParaRPr lang="en-US" sz="1350" dirty="0"/>
          </a:p>
        </p:txBody>
      </p:sp>
      <p:sp>
        <p:nvSpPr>
          <p:cNvPr id="27" name="Text 25"/>
          <p:cNvSpPr/>
          <p:nvPr/>
        </p:nvSpPr>
        <p:spPr>
          <a:xfrm>
            <a:off x="4198590" y="4079007"/>
            <a:ext cx="1235646" cy="354360"/>
          </a:xfrm>
          <a:prstGeom prst="rect">
            <a:avLst/>
          </a:prstGeom>
          <a:noFill/>
          <a:ln/>
        </p:spPr>
        <p:txBody>
          <a:bodyPr wrap="square" lIns="0" tIns="0" rIns="0" bIns="0" rtlCol="0" anchor="t">
            <a:normAutofit/>
          </a:bodyPr>
          <a:lstStyle/>
          <a:p>
            <a:pPr marL="0" indent="0" algn="l">
              <a:lnSpc>
                <a:spcPct val="132000"/>
              </a:lnSpc>
              <a:buNone/>
            </a:pPr>
            <a:r>
              <a:rPr lang="en-US" sz="850" dirty="0">
                <a:solidFill>
                  <a:srgbClr val="C9C2C0"/>
                </a:solidFill>
                <a:latin typeface="Gelasio" pitchFamily="34" charset="0"/>
                <a:ea typeface="Gelasio" pitchFamily="34" charset="-122"/>
                <a:cs typeface="Gelasio" pitchFamily="34" charset="-120"/>
              </a:rPr>
              <a:t>Preserves document labels in the output</a:t>
            </a:r>
            <a:endParaRPr lang="en-US" sz="850" dirty="0"/>
          </a:p>
        </p:txBody>
      </p:sp>
      <p:sp>
        <p:nvSpPr>
          <p:cNvPr id="28" name="Shape 26"/>
          <p:cNvSpPr/>
          <p:nvPr/>
        </p:nvSpPr>
        <p:spPr>
          <a:xfrm>
            <a:off x="5937945" y="1603549"/>
            <a:ext cx="2722364" cy="825922"/>
          </a:xfrm>
          <a:prstGeom prst="roundRect">
            <a:avLst>
              <a:gd name="adj" fmla="val 2534"/>
            </a:avLst>
          </a:prstGeom>
          <a:solidFill>
            <a:srgbClr val="373433"/>
          </a:solidFill>
          <a:ln/>
        </p:spPr>
        <p:txBody>
          <a:bodyPr/>
          <a:lstStyle/>
          <a:p>
            <a:endParaRPr lang="en-IN"/>
          </a:p>
        </p:txBody>
      </p:sp>
      <p:sp>
        <p:nvSpPr>
          <p:cNvPr id="29" name="Text 27"/>
          <p:cNvSpPr/>
          <p:nvPr/>
        </p:nvSpPr>
        <p:spPr>
          <a:xfrm>
            <a:off x="6077471" y="1743075"/>
            <a:ext cx="2201540" cy="232321"/>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highlight>
                  <a:srgbClr val="53504F"/>
                </a:highlight>
                <a:latin typeface="Consolas" pitchFamily="34" charset="0"/>
                <a:ea typeface="Consolas" pitchFamily="34" charset="-122"/>
                <a:cs typeface="Consolas" pitchFamily="34" charset="-120"/>
              </a:rPr>
              <a:t>-ml 5</a:t>
            </a:r>
            <a:endParaRPr lang="en-US" sz="1350" dirty="0"/>
          </a:p>
        </p:txBody>
      </p:sp>
      <p:sp>
        <p:nvSpPr>
          <p:cNvPr id="30" name="Text 28"/>
          <p:cNvSpPr/>
          <p:nvPr/>
        </p:nvSpPr>
        <p:spPr>
          <a:xfrm>
            <a:off x="6077471" y="2112764"/>
            <a:ext cx="2900511" cy="177180"/>
          </a:xfrm>
          <a:prstGeom prst="rect">
            <a:avLst/>
          </a:prstGeom>
          <a:noFill/>
          <a:ln/>
        </p:spPr>
        <p:txBody>
          <a:bodyPr wrap="none" lIns="0" tIns="0" rIns="0" bIns="0" rtlCol="0" anchor="t"/>
          <a:lstStyle/>
          <a:p>
            <a:pPr marL="0" indent="0" algn="l">
              <a:lnSpc>
                <a:spcPct val="132000"/>
              </a:lnSpc>
              <a:buNone/>
            </a:pPr>
            <a:r>
              <a:rPr lang="en-US" sz="850" dirty="0">
                <a:solidFill>
                  <a:srgbClr val="C9C2C0"/>
                </a:solidFill>
                <a:latin typeface="Gelasio" pitchFamily="34" charset="0"/>
                <a:ea typeface="Gelasio" pitchFamily="34" charset="-122"/>
                <a:cs typeface="Gelasio" pitchFamily="34" charset="-120"/>
              </a:rPr>
              <a:t>Keep terms with log-likelihood ≥ 5</a:t>
            </a:r>
            <a:endParaRPr lang="en-US" sz="850" dirty="0"/>
          </a:p>
        </p:txBody>
      </p:sp>
      <p:sp>
        <p:nvSpPr>
          <p:cNvPr id="31" name="Shape 29"/>
          <p:cNvSpPr/>
          <p:nvPr/>
        </p:nvSpPr>
        <p:spPr>
          <a:xfrm>
            <a:off x="5937945" y="2566839"/>
            <a:ext cx="2722364" cy="1003102"/>
          </a:xfrm>
          <a:prstGeom prst="roundRect">
            <a:avLst>
              <a:gd name="adj" fmla="val 2087"/>
            </a:avLst>
          </a:prstGeom>
          <a:solidFill>
            <a:srgbClr val="373433"/>
          </a:solidFill>
          <a:ln/>
        </p:spPr>
        <p:txBody>
          <a:bodyPr/>
          <a:lstStyle/>
          <a:p>
            <a:endParaRPr lang="en-IN"/>
          </a:p>
        </p:txBody>
      </p:sp>
      <p:sp>
        <p:nvSpPr>
          <p:cNvPr id="32" name="Text 30"/>
          <p:cNvSpPr/>
          <p:nvPr/>
        </p:nvSpPr>
        <p:spPr>
          <a:xfrm>
            <a:off x="6077471" y="2706365"/>
            <a:ext cx="2201540" cy="232321"/>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highlight>
                  <a:srgbClr val="53504F"/>
                </a:highlight>
                <a:latin typeface="Consolas" pitchFamily="34" charset="0"/>
                <a:ea typeface="Consolas" pitchFamily="34" charset="-122"/>
                <a:cs typeface="Consolas" pitchFamily="34" charset="-120"/>
              </a:rPr>
              <a:t>-x 70</a:t>
            </a:r>
            <a:endParaRPr lang="en-US" sz="1350" dirty="0"/>
          </a:p>
        </p:txBody>
      </p:sp>
      <p:sp>
        <p:nvSpPr>
          <p:cNvPr id="33" name="Text 31"/>
          <p:cNvSpPr/>
          <p:nvPr/>
        </p:nvSpPr>
        <p:spPr>
          <a:xfrm>
            <a:off x="6077471" y="3076054"/>
            <a:ext cx="2443311" cy="354360"/>
          </a:xfrm>
          <a:prstGeom prst="rect">
            <a:avLst/>
          </a:prstGeom>
          <a:noFill/>
          <a:ln/>
        </p:spPr>
        <p:txBody>
          <a:bodyPr wrap="square" lIns="0" tIns="0" rIns="0" bIns="0" rtlCol="0" anchor="t">
            <a:normAutofit/>
          </a:bodyPr>
          <a:lstStyle/>
          <a:p>
            <a:pPr marL="0" indent="0" algn="l">
              <a:lnSpc>
                <a:spcPct val="132000"/>
              </a:lnSpc>
              <a:buNone/>
            </a:pPr>
            <a:r>
              <a:rPr lang="en-US" sz="850" dirty="0">
                <a:solidFill>
                  <a:srgbClr val="C9C2C0"/>
                </a:solidFill>
                <a:latin typeface="Gelasio" pitchFamily="34" charset="0"/>
                <a:ea typeface="Gelasio" pitchFamily="34" charset="-122"/>
                <a:cs typeface="Gelasio" pitchFamily="34" charset="-120"/>
              </a:rPr>
              <a:t>Ignore terms appearing in more than 70% of documents</a:t>
            </a:r>
            <a:endParaRPr lang="en-US" sz="850" dirty="0"/>
          </a:p>
        </p:txBody>
      </p:sp>
      <p:sp>
        <p:nvSpPr>
          <p:cNvPr id="34" name="Shape 32"/>
          <p:cNvSpPr/>
          <p:nvPr/>
        </p:nvSpPr>
        <p:spPr>
          <a:xfrm>
            <a:off x="5937945" y="3707309"/>
            <a:ext cx="2722364" cy="825922"/>
          </a:xfrm>
          <a:prstGeom prst="roundRect">
            <a:avLst>
              <a:gd name="adj" fmla="val 2534"/>
            </a:avLst>
          </a:prstGeom>
          <a:solidFill>
            <a:srgbClr val="373433"/>
          </a:solidFill>
          <a:ln/>
        </p:spPr>
        <p:txBody>
          <a:bodyPr/>
          <a:lstStyle/>
          <a:p>
            <a:endParaRPr lang="en-IN"/>
          </a:p>
        </p:txBody>
      </p:sp>
      <p:sp>
        <p:nvSpPr>
          <p:cNvPr id="35" name="Text 33"/>
          <p:cNvSpPr/>
          <p:nvPr/>
        </p:nvSpPr>
        <p:spPr>
          <a:xfrm>
            <a:off x="6077471" y="3846835"/>
            <a:ext cx="2201540" cy="232321"/>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highlight>
                  <a:srgbClr val="53504F"/>
                </a:highlight>
                <a:latin typeface="Consolas" pitchFamily="34" charset="0"/>
                <a:ea typeface="Consolas" pitchFamily="34" charset="-122"/>
                <a:cs typeface="Consolas" pitchFamily="34" charset="-120"/>
              </a:rPr>
              <a:t>-n 2</a:t>
            </a:r>
            <a:endParaRPr lang="en-US" sz="1350" dirty="0"/>
          </a:p>
        </p:txBody>
      </p:sp>
      <p:sp>
        <p:nvSpPr>
          <p:cNvPr id="36" name="Text 34"/>
          <p:cNvSpPr/>
          <p:nvPr/>
        </p:nvSpPr>
        <p:spPr>
          <a:xfrm>
            <a:off x="6077471" y="4216524"/>
            <a:ext cx="2900511" cy="177180"/>
          </a:xfrm>
          <a:prstGeom prst="rect">
            <a:avLst/>
          </a:prstGeom>
          <a:noFill/>
          <a:ln/>
        </p:spPr>
        <p:txBody>
          <a:bodyPr wrap="none" lIns="0" tIns="0" rIns="0" bIns="0" rtlCol="0" anchor="t"/>
          <a:lstStyle/>
          <a:p>
            <a:pPr marL="0" indent="0" algn="l">
              <a:lnSpc>
                <a:spcPct val="132000"/>
              </a:lnSpc>
              <a:buNone/>
            </a:pPr>
            <a:r>
              <a:rPr lang="en-US" sz="850" dirty="0">
                <a:solidFill>
                  <a:srgbClr val="C9C2C0"/>
                </a:solidFill>
                <a:latin typeface="Gelasio" pitchFamily="34" charset="0"/>
                <a:ea typeface="Gelasio" pitchFamily="34" charset="-122"/>
                <a:cs typeface="Gelasio" pitchFamily="34" charset="-120"/>
              </a:rPr>
              <a:t>Apply L2 normalisation to output vectors</a:t>
            </a:r>
            <a:endParaRPr lang="en-US" sz="850" dirty="0"/>
          </a:p>
        </p:txBody>
      </p:sp>
      <p:sp>
        <p:nvSpPr>
          <p:cNvPr id="37" name="Rectangle 36">
            <a:extLst>
              <a:ext uri="{FF2B5EF4-FFF2-40B4-BE49-F238E27FC236}">
                <a16:creationId xmlns:a16="http://schemas.microsoft.com/office/drawing/2014/main" id="{D3E60B06-10A1-D73E-CD96-D719EA4A57B2}"/>
              </a:ext>
            </a:extLst>
          </p:cNvPr>
          <p:cNvSpPr/>
          <p:nvPr/>
        </p:nvSpPr>
        <p:spPr>
          <a:xfrm>
            <a:off x="8060788" y="4831849"/>
            <a:ext cx="1012370" cy="226815"/>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65162" y="380033"/>
            <a:ext cx="6118473" cy="415305"/>
          </a:xfrm>
          <a:prstGeom prst="rect">
            <a:avLst/>
          </a:prstGeom>
          <a:noFill/>
          <a:ln/>
        </p:spPr>
        <p:txBody>
          <a:bodyPr wrap="none" lIns="0" tIns="0" rIns="0" bIns="0" rtlCol="0" anchor="t"/>
          <a:lstStyle/>
          <a:p>
            <a:pPr marL="0" indent="0" algn="l">
              <a:lnSpc>
                <a:spcPct val="104000"/>
              </a:lnSpc>
              <a:buNone/>
            </a:pPr>
            <a:r>
              <a:rPr lang="en-US" sz="2600" dirty="0">
                <a:solidFill>
                  <a:srgbClr val="D8B6A4"/>
                </a:solidFill>
                <a:latin typeface="Gelasio" pitchFamily="34" charset="0"/>
                <a:ea typeface="Gelasio" pitchFamily="34" charset="-122"/>
                <a:cs typeface="Gelasio" pitchFamily="34" charset="-120"/>
              </a:rPr>
              <a:t>Complementary Naive Bayes Classifier</a:t>
            </a:r>
            <a:endParaRPr lang="en-US" sz="2600" dirty="0"/>
          </a:p>
        </p:txBody>
      </p:sp>
      <p:sp>
        <p:nvSpPr>
          <p:cNvPr id="3" name="Text 1"/>
          <p:cNvSpPr/>
          <p:nvPr/>
        </p:nvSpPr>
        <p:spPr>
          <a:xfrm>
            <a:off x="465162" y="982191"/>
            <a:ext cx="8213675"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C9C2C0"/>
                </a:solidFill>
                <a:latin typeface="Gelasio" pitchFamily="34" charset="0"/>
                <a:ea typeface="Gelasio" pitchFamily="34" charset="-122"/>
                <a:cs typeface="Gelasio" pitchFamily="34" charset="-120"/>
              </a:rPr>
              <a:t>Our AI engine utilizes the Complementary Naive Bayes (CNB) algorithm, specifically chosen for its robustness in handling imbalanced datasets inherent in movie genre classification.</a:t>
            </a:r>
            <a:endParaRPr lang="en-US" sz="1000" dirty="0"/>
          </a:p>
        </p:txBody>
      </p:sp>
      <p:sp>
        <p:nvSpPr>
          <p:cNvPr id="4" name="Shape 2"/>
          <p:cNvSpPr/>
          <p:nvPr/>
        </p:nvSpPr>
        <p:spPr>
          <a:xfrm>
            <a:off x="465162" y="1534269"/>
            <a:ext cx="8213675" cy="2883098"/>
          </a:xfrm>
          <a:prstGeom prst="roundRect">
            <a:avLst>
              <a:gd name="adj" fmla="val 691"/>
            </a:avLst>
          </a:prstGeom>
          <a:noFill/>
          <a:ln w="4763">
            <a:solidFill>
              <a:srgbClr val="FFFFFF">
                <a:alpha val="24000"/>
              </a:srgbClr>
            </a:solidFill>
            <a:prstDash val="solid"/>
          </a:ln>
        </p:spPr>
        <p:txBody>
          <a:bodyPr/>
          <a:lstStyle/>
          <a:p>
            <a:endParaRPr lang="en-IN"/>
          </a:p>
        </p:txBody>
      </p:sp>
      <p:sp>
        <p:nvSpPr>
          <p:cNvPr id="5" name="Text 3"/>
          <p:cNvSpPr/>
          <p:nvPr/>
        </p:nvSpPr>
        <p:spPr>
          <a:xfrm>
            <a:off x="602903" y="1618506"/>
            <a:ext cx="2240012" cy="205978"/>
          </a:xfrm>
          <a:prstGeom prst="rect">
            <a:avLst/>
          </a:prstGeom>
          <a:noFill/>
          <a:ln/>
        </p:spPr>
        <p:txBody>
          <a:bodyPr wrap="none" lIns="0" tIns="0" rIns="0" bIns="0" rtlCol="0" anchor="t"/>
          <a:lstStyle/>
          <a:p>
            <a:pPr marL="0" indent="0" algn="l">
              <a:lnSpc>
                <a:spcPct val="129000"/>
              </a:lnSpc>
              <a:buNone/>
            </a:pPr>
            <a:r>
              <a:rPr lang="en-US" sz="1000" b="1" dirty="0">
                <a:solidFill>
                  <a:srgbClr val="C9C2C0"/>
                </a:solidFill>
                <a:latin typeface="Gelasio" pitchFamily="34" charset="0"/>
                <a:ea typeface="Gelasio" pitchFamily="34" charset="-122"/>
                <a:cs typeface="Gelasio" pitchFamily="34" charset="-120"/>
              </a:rPr>
              <a:t>Feature</a:t>
            </a:r>
            <a:endParaRPr lang="en-US" sz="1000" dirty="0"/>
          </a:p>
        </p:txBody>
      </p:sp>
      <p:sp>
        <p:nvSpPr>
          <p:cNvPr id="6" name="Text 4"/>
          <p:cNvSpPr/>
          <p:nvPr/>
        </p:nvSpPr>
        <p:spPr>
          <a:xfrm>
            <a:off x="2656284" y="1618506"/>
            <a:ext cx="3222129" cy="205978"/>
          </a:xfrm>
          <a:prstGeom prst="rect">
            <a:avLst/>
          </a:prstGeom>
          <a:noFill/>
          <a:ln/>
        </p:spPr>
        <p:txBody>
          <a:bodyPr wrap="none" lIns="0" tIns="0" rIns="0" bIns="0" rtlCol="0" anchor="t"/>
          <a:lstStyle/>
          <a:p>
            <a:pPr marL="0" indent="0" algn="l">
              <a:lnSpc>
                <a:spcPct val="129000"/>
              </a:lnSpc>
              <a:buNone/>
            </a:pPr>
            <a:r>
              <a:rPr lang="en-US" sz="1000" b="1" dirty="0">
                <a:solidFill>
                  <a:srgbClr val="C9C2C0"/>
                </a:solidFill>
                <a:latin typeface="Gelasio" pitchFamily="34" charset="0"/>
                <a:ea typeface="Gelasio" pitchFamily="34" charset="-122"/>
                <a:cs typeface="Gelasio" pitchFamily="34" charset="-120"/>
              </a:rPr>
              <a:t>Standard Multinomial Naive Bayes</a:t>
            </a:r>
            <a:endParaRPr lang="en-US" sz="1000" dirty="0"/>
          </a:p>
        </p:txBody>
      </p:sp>
      <p:sp>
        <p:nvSpPr>
          <p:cNvPr id="7" name="Text 5"/>
          <p:cNvSpPr/>
          <p:nvPr/>
        </p:nvSpPr>
        <p:spPr>
          <a:xfrm>
            <a:off x="5691783" y="1618506"/>
            <a:ext cx="3306589" cy="205978"/>
          </a:xfrm>
          <a:prstGeom prst="rect">
            <a:avLst/>
          </a:prstGeom>
          <a:noFill/>
          <a:ln/>
        </p:spPr>
        <p:txBody>
          <a:bodyPr wrap="none" lIns="0" tIns="0" rIns="0" bIns="0" rtlCol="0" anchor="t"/>
          <a:lstStyle/>
          <a:p>
            <a:pPr marL="0" indent="0" algn="l">
              <a:lnSpc>
                <a:spcPct val="129000"/>
              </a:lnSpc>
              <a:buNone/>
            </a:pPr>
            <a:r>
              <a:rPr lang="en-US" sz="1000" b="1" dirty="0">
                <a:solidFill>
                  <a:srgbClr val="C9C2C0"/>
                </a:solidFill>
                <a:latin typeface="Gelasio" pitchFamily="34" charset="0"/>
                <a:ea typeface="Gelasio" pitchFamily="34" charset="-122"/>
                <a:cs typeface="Gelasio" pitchFamily="34" charset="-120"/>
              </a:rPr>
              <a:t>Complementary Naive Bayes (CNB)</a:t>
            </a:r>
            <a:endParaRPr lang="en-US" sz="1000" dirty="0"/>
          </a:p>
        </p:txBody>
      </p:sp>
      <p:sp>
        <p:nvSpPr>
          <p:cNvPr id="8" name="Text 6"/>
          <p:cNvSpPr/>
          <p:nvPr/>
        </p:nvSpPr>
        <p:spPr>
          <a:xfrm>
            <a:off x="602903" y="1988195"/>
            <a:ext cx="2240012" cy="205978"/>
          </a:xfrm>
          <a:prstGeom prst="rect">
            <a:avLst/>
          </a:prstGeom>
          <a:noFill/>
          <a:ln/>
        </p:spPr>
        <p:txBody>
          <a:bodyPr wrap="none" lIns="0" tIns="0" rIns="0" bIns="0" rtlCol="0" anchor="t"/>
          <a:lstStyle/>
          <a:p>
            <a:pPr marL="0" indent="0" algn="l">
              <a:lnSpc>
                <a:spcPct val="129000"/>
              </a:lnSpc>
              <a:buNone/>
            </a:pPr>
            <a:r>
              <a:rPr lang="en-US" sz="1000" dirty="0">
                <a:solidFill>
                  <a:srgbClr val="C9C2C0"/>
                </a:solidFill>
                <a:latin typeface="Gelasio" pitchFamily="34" charset="0"/>
                <a:ea typeface="Gelasio" pitchFamily="34" charset="-122"/>
                <a:cs typeface="Gelasio" pitchFamily="34" charset="-120"/>
              </a:rPr>
              <a:t>Training Approach</a:t>
            </a:r>
            <a:endParaRPr lang="en-US" sz="1000" dirty="0"/>
          </a:p>
        </p:txBody>
      </p:sp>
      <p:sp>
        <p:nvSpPr>
          <p:cNvPr id="9" name="Text 7"/>
          <p:cNvSpPr/>
          <p:nvPr/>
        </p:nvSpPr>
        <p:spPr>
          <a:xfrm>
            <a:off x="2656284" y="1988195"/>
            <a:ext cx="3222129" cy="205978"/>
          </a:xfrm>
          <a:prstGeom prst="rect">
            <a:avLst/>
          </a:prstGeom>
          <a:noFill/>
          <a:ln/>
        </p:spPr>
        <p:txBody>
          <a:bodyPr wrap="none" lIns="0" tIns="0" rIns="0" bIns="0" rtlCol="0" anchor="t"/>
          <a:lstStyle/>
          <a:p>
            <a:pPr marL="0" indent="0" algn="l">
              <a:lnSpc>
                <a:spcPct val="129000"/>
              </a:lnSpc>
              <a:buNone/>
            </a:pPr>
            <a:r>
              <a:rPr lang="en-US" sz="1000" dirty="0">
                <a:solidFill>
                  <a:srgbClr val="C9C2C0"/>
                </a:solidFill>
                <a:latin typeface="Gelasio" pitchFamily="34" charset="0"/>
                <a:ea typeface="Gelasio" pitchFamily="34" charset="-122"/>
                <a:cs typeface="Gelasio" pitchFamily="34" charset="-120"/>
              </a:rPr>
              <a:t>Trains on documents </a:t>
            </a:r>
            <a:r>
              <a:rPr lang="en-US" sz="1000" b="1" dirty="0">
                <a:solidFill>
                  <a:srgbClr val="C9C2C0"/>
                </a:solidFill>
                <a:latin typeface="Gelasio" pitchFamily="34" charset="0"/>
                <a:ea typeface="Gelasio" pitchFamily="34" charset="-122"/>
                <a:cs typeface="Gelasio" pitchFamily="34" charset="-120"/>
              </a:rPr>
              <a:t>within</a:t>
            </a:r>
            <a:r>
              <a:rPr lang="en-US" sz="1000" dirty="0">
                <a:solidFill>
                  <a:srgbClr val="C9C2C0"/>
                </a:solidFill>
                <a:latin typeface="Gelasio" pitchFamily="34" charset="0"/>
                <a:ea typeface="Gelasio" pitchFamily="34" charset="-122"/>
                <a:cs typeface="Gelasio" pitchFamily="34" charset="-120"/>
              </a:rPr>
              <a:t> each class.</a:t>
            </a:r>
            <a:endParaRPr lang="en-US" sz="1000" dirty="0"/>
          </a:p>
        </p:txBody>
      </p:sp>
      <p:sp>
        <p:nvSpPr>
          <p:cNvPr id="10" name="Text 8"/>
          <p:cNvSpPr/>
          <p:nvPr/>
        </p:nvSpPr>
        <p:spPr>
          <a:xfrm>
            <a:off x="5691783" y="1988195"/>
            <a:ext cx="2849389"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C9C2C0"/>
                </a:solidFill>
                <a:latin typeface="Gelasio" pitchFamily="34" charset="0"/>
                <a:ea typeface="Gelasio" pitchFamily="34" charset="-122"/>
                <a:cs typeface="Gelasio" pitchFamily="34" charset="-120"/>
              </a:rPr>
              <a:t>Trains on documents in the </a:t>
            </a:r>
            <a:r>
              <a:rPr lang="en-US" sz="1000" b="1" dirty="0">
                <a:solidFill>
                  <a:srgbClr val="C9C2C0"/>
                </a:solidFill>
                <a:latin typeface="Gelasio" pitchFamily="34" charset="0"/>
                <a:ea typeface="Gelasio" pitchFamily="34" charset="-122"/>
                <a:cs typeface="Gelasio" pitchFamily="34" charset="-120"/>
              </a:rPr>
              <a:t>complement</a:t>
            </a:r>
            <a:r>
              <a:rPr lang="en-US" sz="1000" dirty="0">
                <a:solidFill>
                  <a:srgbClr val="C9C2C0"/>
                </a:solidFill>
                <a:latin typeface="Gelasio" pitchFamily="34" charset="0"/>
                <a:ea typeface="Gelasio" pitchFamily="34" charset="-122"/>
                <a:cs typeface="Gelasio" pitchFamily="34" charset="-120"/>
              </a:rPr>
              <a:t> of each class (all documents not in that class).</a:t>
            </a:r>
            <a:endParaRPr lang="en-US" sz="1000" dirty="0"/>
          </a:p>
        </p:txBody>
      </p:sp>
      <p:sp>
        <p:nvSpPr>
          <p:cNvPr id="11" name="Text 9"/>
          <p:cNvSpPr/>
          <p:nvPr/>
        </p:nvSpPr>
        <p:spPr>
          <a:xfrm>
            <a:off x="602903" y="2563862"/>
            <a:ext cx="2240012" cy="205978"/>
          </a:xfrm>
          <a:prstGeom prst="rect">
            <a:avLst/>
          </a:prstGeom>
          <a:noFill/>
          <a:ln/>
        </p:spPr>
        <p:txBody>
          <a:bodyPr wrap="none" lIns="0" tIns="0" rIns="0" bIns="0" rtlCol="0" anchor="t"/>
          <a:lstStyle/>
          <a:p>
            <a:pPr marL="0" indent="0" algn="l">
              <a:lnSpc>
                <a:spcPct val="129000"/>
              </a:lnSpc>
              <a:buNone/>
            </a:pPr>
            <a:r>
              <a:rPr lang="en-US" sz="1000" dirty="0">
                <a:solidFill>
                  <a:srgbClr val="C9C2C0"/>
                </a:solidFill>
                <a:latin typeface="Gelasio" pitchFamily="34" charset="0"/>
                <a:ea typeface="Gelasio" pitchFamily="34" charset="-122"/>
                <a:cs typeface="Gelasio" pitchFamily="34" charset="-120"/>
              </a:rPr>
              <a:t>Class Imbalance</a:t>
            </a:r>
            <a:endParaRPr lang="en-US" sz="1000" dirty="0"/>
          </a:p>
        </p:txBody>
      </p:sp>
      <p:sp>
        <p:nvSpPr>
          <p:cNvPr id="12" name="Text 10"/>
          <p:cNvSpPr/>
          <p:nvPr/>
        </p:nvSpPr>
        <p:spPr>
          <a:xfrm>
            <a:off x="2656284" y="2563862"/>
            <a:ext cx="2764929"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C9C2C0"/>
                </a:solidFill>
                <a:latin typeface="Gelasio" pitchFamily="34" charset="0"/>
                <a:ea typeface="Gelasio" pitchFamily="34" charset="-122"/>
                <a:cs typeface="Gelasio" pitchFamily="34" charset="-120"/>
              </a:rPr>
              <a:t>Heavily biased towards majority classes (e.g., Drama).</a:t>
            </a:r>
            <a:endParaRPr lang="en-US" sz="1000" dirty="0"/>
          </a:p>
        </p:txBody>
      </p:sp>
      <p:sp>
        <p:nvSpPr>
          <p:cNvPr id="13" name="Text 11"/>
          <p:cNvSpPr/>
          <p:nvPr/>
        </p:nvSpPr>
        <p:spPr>
          <a:xfrm>
            <a:off x="5691783" y="2563862"/>
            <a:ext cx="2849389"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C9C2C0"/>
                </a:solidFill>
                <a:latin typeface="Gelasio" pitchFamily="34" charset="0"/>
                <a:ea typeface="Gelasio" pitchFamily="34" charset="-122"/>
                <a:cs typeface="Gelasio" pitchFamily="34" charset="-120"/>
              </a:rPr>
              <a:t>Less affected by class imbalance; robust with skewed distributions.</a:t>
            </a:r>
            <a:endParaRPr lang="en-US" sz="1000" dirty="0"/>
          </a:p>
        </p:txBody>
      </p:sp>
      <p:sp>
        <p:nvSpPr>
          <p:cNvPr id="14" name="Text 12"/>
          <p:cNvSpPr/>
          <p:nvPr/>
        </p:nvSpPr>
        <p:spPr>
          <a:xfrm>
            <a:off x="602903" y="3139529"/>
            <a:ext cx="2240012" cy="205978"/>
          </a:xfrm>
          <a:prstGeom prst="rect">
            <a:avLst/>
          </a:prstGeom>
          <a:noFill/>
          <a:ln/>
        </p:spPr>
        <p:txBody>
          <a:bodyPr wrap="none" lIns="0" tIns="0" rIns="0" bIns="0" rtlCol="0" anchor="t"/>
          <a:lstStyle/>
          <a:p>
            <a:pPr marL="0" indent="0" algn="l">
              <a:lnSpc>
                <a:spcPct val="129000"/>
              </a:lnSpc>
              <a:buNone/>
            </a:pPr>
            <a:r>
              <a:rPr lang="en-US" sz="1000" dirty="0">
                <a:solidFill>
                  <a:srgbClr val="C9C2C0"/>
                </a:solidFill>
                <a:latin typeface="Gelasio" pitchFamily="34" charset="0"/>
                <a:ea typeface="Gelasio" pitchFamily="34" charset="-122"/>
                <a:cs typeface="Gelasio" pitchFamily="34" charset="-120"/>
              </a:rPr>
              <a:t>Bias Reduction</a:t>
            </a:r>
            <a:endParaRPr lang="en-US" sz="1000" dirty="0"/>
          </a:p>
        </p:txBody>
      </p:sp>
      <p:sp>
        <p:nvSpPr>
          <p:cNvPr id="15" name="Text 13"/>
          <p:cNvSpPr/>
          <p:nvPr/>
        </p:nvSpPr>
        <p:spPr>
          <a:xfrm>
            <a:off x="2656284" y="3139529"/>
            <a:ext cx="3222129" cy="205978"/>
          </a:xfrm>
          <a:prstGeom prst="rect">
            <a:avLst/>
          </a:prstGeom>
          <a:noFill/>
          <a:ln/>
        </p:spPr>
        <p:txBody>
          <a:bodyPr wrap="none" lIns="0" tIns="0" rIns="0" bIns="0" rtlCol="0" anchor="t"/>
          <a:lstStyle/>
          <a:p>
            <a:pPr marL="0" indent="0" algn="l">
              <a:lnSpc>
                <a:spcPct val="129000"/>
              </a:lnSpc>
              <a:buNone/>
            </a:pPr>
            <a:r>
              <a:rPr lang="en-US" sz="1000" dirty="0">
                <a:solidFill>
                  <a:srgbClr val="C9C2C0"/>
                </a:solidFill>
                <a:latin typeface="Gelasio" pitchFamily="34" charset="0"/>
                <a:ea typeface="Gelasio" pitchFamily="34" charset="-122"/>
                <a:cs typeface="Gelasio" pitchFamily="34" charset="-120"/>
              </a:rPr>
              <a:t>Prone to misclassifying minority classes.</a:t>
            </a:r>
            <a:endParaRPr lang="en-US" sz="1000" dirty="0"/>
          </a:p>
        </p:txBody>
      </p:sp>
      <p:sp>
        <p:nvSpPr>
          <p:cNvPr id="16" name="Text 14"/>
          <p:cNvSpPr/>
          <p:nvPr/>
        </p:nvSpPr>
        <p:spPr>
          <a:xfrm>
            <a:off x="5691783" y="3139529"/>
            <a:ext cx="2849389"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C9C2C0"/>
                </a:solidFill>
                <a:latin typeface="Gelasio" pitchFamily="34" charset="0"/>
                <a:ea typeface="Gelasio" pitchFamily="34" charset="-122"/>
                <a:cs typeface="Gelasio" pitchFamily="34" charset="-120"/>
              </a:rPr>
              <a:t>Reduces classification bias toward majority classes by modeling the "absence" of a class.</a:t>
            </a:r>
            <a:endParaRPr lang="en-US" sz="1000" dirty="0"/>
          </a:p>
        </p:txBody>
      </p:sp>
      <p:sp>
        <p:nvSpPr>
          <p:cNvPr id="17" name="Text 15"/>
          <p:cNvSpPr/>
          <p:nvPr/>
        </p:nvSpPr>
        <p:spPr>
          <a:xfrm>
            <a:off x="602903" y="3715196"/>
            <a:ext cx="2240012" cy="205978"/>
          </a:xfrm>
          <a:prstGeom prst="rect">
            <a:avLst/>
          </a:prstGeom>
          <a:noFill/>
          <a:ln/>
        </p:spPr>
        <p:txBody>
          <a:bodyPr wrap="none" lIns="0" tIns="0" rIns="0" bIns="0" rtlCol="0" anchor="t"/>
          <a:lstStyle/>
          <a:p>
            <a:pPr marL="0" indent="0" algn="l">
              <a:lnSpc>
                <a:spcPct val="129000"/>
              </a:lnSpc>
              <a:buNone/>
            </a:pPr>
            <a:r>
              <a:rPr lang="en-US" sz="1000" dirty="0">
                <a:solidFill>
                  <a:srgbClr val="C9C2C0"/>
                </a:solidFill>
                <a:latin typeface="Gelasio" pitchFamily="34" charset="0"/>
                <a:ea typeface="Gelasio" pitchFamily="34" charset="-122"/>
                <a:cs typeface="Gelasio" pitchFamily="34" charset="-120"/>
              </a:rPr>
              <a:t>Use Case</a:t>
            </a:r>
            <a:endParaRPr lang="en-US" sz="1000" dirty="0"/>
          </a:p>
        </p:txBody>
      </p:sp>
      <p:sp>
        <p:nvSpPr>
          <p:cNvPr id="18" name="Text 16"/>
          <p:cNvSpPr/>
          <p:nvPr/>
        </p:nvSpPr>
        <p:spPr>
          <a:xfrm>
            <a:off x="2656284" y="3715196"/>
            <a:ext cx="3222129" cy="205978"/>
          </a:xfrm>
          <a:prstGeom prst="rect">
            <a:avLst/>
          </a:prstGeom>
          <a:noFill/>
          <a:ln/>
        </p:spPr>
        <p:txBody>
          <a:bodyPr wrap="none" lIns="0" tIns="0" rIns="0" bIns="0" rtlCol="0" anchor="t"/>
          <a:lstStyle/>
          <a:p>
            <a:pPr marL="0" indent="0" algn="l">
              <a:lnSpc>
                <a:spcPct val="129000"/>
              </a:lnSpc>
              <a:buNone/>
            </a:pPr>
            <a:r>
              <a:rPr lang="en-US" sz="1000" dirty="0">
                <a:solidFill>
                  <a:srgbClr val="C9C2C0"/>
                </a:solidFill>
                <a:latin typeface="Gelasio" pitchFamily="34" charset="0"/>
                <a:ea typeface="Gelasio" pitchFamily="34" charset="-122"/>
                <a:cs typeface="Gelasio" pitchFamily="34" charset="-120"/>
              </a:rPr>
              <a:t>Effective for balanced datasets.</a:t>
            </a:r>
            <a:endParaRPr lang="en-US" sz="1000" dirty="0"/>
          </a:p>
        </p:txBody>
      </p:sp>
      <p:sp>
        <p:nvSpPr>
          <p:cNvPr id="19" name="Text 17"/>
          <p:cNvSpPr/>
          <p:nvPr/>
        </p:nvSpPr>
        <p:spPr>
          <a:xfrm>
            <a:off x="5691783" y="3715196"/>
            <a:ext cx="2849389" cy="617934"/>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C9C2C0"/>
                </a:solidFill>
                <a:latin typeface="Gelasio" pitchFamily="34" charset="0"/>
                <a:ea typeface="Gelasio" pitchFamily="34" charset="-122"/>
                <a:cs typeface="Gelasio" pitchFamily="34" charset="-120"/>
              </a:rPr>
              <a:t>Ideal for highly imbalanced text classification problems, like our movie genre dataset (e.g., Drama 3,235 vs. War 117 — a 27× ratio).</a:t>
            </a:r>
            <a:endParaRPr lang="en-US" sz="1000" dirty="0"/>
          </a:p>
        </p:txBody>
      </p:sp>
      <p:sp>
        <p:nvSpPr>
          <p:cNvPr id="20" name="Text 18"/>
          <p:cNvSpPr/>
          <p:nvPr/>
        </p:nvSpPr>
        <p:spPr>
          <a:xfrm>
            <a:off x="465162" y="4557489"/>
            <a:ext cx="8670875" cy="205978"/>
          </a:xfrm>
          <a:prstGeom prst="rect">
            <a:avLst/>
          </a:prstGeom>
          <a:noFill/>
          <a:ln/>
        </p:spPr>
        <p:txBody>
          <a:bodyPr wrap="none" lIns="0" tIns="0" rIns="0" bIns="0" rtlCol="0" anchor="t"/>
          <a:lstStyle/>
          <a:p>
            <a:pPr marL="0" indent="0" algn="l">
              <a:lnSpc>
                <a:spcPct val="129000"/>
              </a:lnSpc>
              <a:buNone/>
            </a:pPr>
            <a:endParaRPr lang="en-US" sz="1000" dirty="0"/>
          </a:p>
        </p:txBody>
      </p:sp>
      <p:sp>
        <p:nvSpPr>
          <p:cNvPr id="21" name="Rectangle 20">
            <a:extLst>
              <a:ext uri="{FF2B5EF4-FFF2-40B4-BE49-F238E27FC236}">
                <a16:creationId xmlns:a16="http://schemas.microsoft.com/office/drawing/2014/main" id="{FCB855DE-7FB6-F70C-2E75-55BBB6BCDDA9}"/>
              </a:ext>
            </a:extLst>
          </p:cNvPr>
          <p:cNvSpPr/>
          <p:nvPr/>
        </p:nvSpPr>
        <p:spPr>
          <a:xfrm>
            <a:off x="8060788" y="4831849"/>
            <a:ext cx="1012370" cy="226815"/>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976982"/>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9C2C0"/>
                </a:solidFill>
                <a:latin typeface="Gelasio" pitchFamily="34" charset="0"/>
                <a:ea typeface="Gelasio" pitchFamily="34" charset="-122"/>
                <a:cs typeface="Gelasio" pitchFamily="34" charset="-120"/>
              </a:rPr>
              <a:t>We focused our training on 6 primary genres with sufficient data density: Drama, Comedy, Action, Horror, Animation, and Thriller. The model achieved strong performance on the holdout test set.</a:t>
            </a:r>
            <a:endParaRPr lang="en-US" sz="1100" dirty="0"/>
          </a:p>
        </p:txBody>
      </p:sp>
      <p:sp>
        <p:nvSpPr>
          <p:cNvPr id="3" name="Text 1"/>
          <p:cNvSpPr/>
          <p:nvPr/>
        </p:nvSpPr>
        <p:spPr>
          <a:xfrm>
            <a:off x="267519" y="1660922"/>
            <a:ext cx="8380363" cy="467841"/>
          </a:xfrm>
          <a:prstGeom prst="rect">
            <a:avLst/>
          </a:prstGeom>
          <a:noFill/>
          <a:ln/>
        </p:spPr>
        <p:txBody>
          <a:bodyPr wrap="none" lIns="0" tIns="0" rIns="0" bIns="0" rtlCol="0" anchor="t"/>
          <a:lstStyle/>
          <a:p>
            <a:pPr marL="0" indent="0" algn="ctr">
              <a:lnSpc>
                <a:spcPct val="83000"/>
              </a:lnSpc>
              <a:buNone/>
            </a:pPr>
            <a:r>
              <a:rPr lang="en-US" sz="3650" dirty="0">
                <a:solidFill>
                  <a:srgbClr val="C9C2C0"/>
                </a:solidFill>
                <a:latin typeface="Gelasio" pitchFamily="34" charset="0"/>
                <a:ea typeface="Gelasio" pitchFamily="34" charset="-122"/>
                <a:cs typeface="Gelasio" pitchFamily="34" charset="-120"/>
              </a:rPr>
              <a:t>0.87</a:t>
            </a:r>
            <a:endParaRPr lang="en-US" sz="3650" dirty="0"/>
          </a:p>
        </p:txBody>
      </p:sp>
      <p:sp>
        <p:nvSpPr>
          <p:cNvPr id="4" name="Text 2"/>
          <p:cNvSpPr/>
          <p:nvPr/>
        </p:nvSpPr>
        <p:spPr>
          <a:xfrm>
            <a:off x="3457352" y="2305869"/>
            <a:ext cx="2000622" cy="221456"/>
          </a:xfrm>
          <a:prstGeom prst="rect">
            <a:avLst/>
          </a:prstGeom>
          <a:noFill/>
          <a:ln/>
        </p:spPr>
        <p:txBody>
          <a:bodyPr wrap="none" lIns="0" tIns="0" rIns="0" bIns="0" rtlCol="0" anchor="t"/>
          <a:lstStyle/>
          <a:p>
            <a:pPr marL="0" indent="0" algn="ctr">
              <a:lnSpc>
                <a:spcPct val="104000"/>
              </a:lnSpc>
              <a:buNone/>
            </a:pPr>
            <a:r>
              <a:rPr lang="en-US" sz="1350" dirty="0">
                <a:solidFill>
                  <a:srgbClr val="C9C2C0"/>
                </a:solidFill>
                <a:latin typeface="Gelasio" pitchFamily="34" charset="0"/>
                <a:ea typeface="Gelasio" pitchFamily="34" charset="-122"/>
                <a:cs typeface="Gelasio" pitchFamily="34" charset="-120"/>
              </a:rPr>
              <a:t>Expected AUC Score</a:t>
            </a:r>
            <a:endParaRPr lang="en-US" sz="1350" dirty="0"/>
          </a:p>
        </p:txBody>
      </p:sp>
      <p:sp>
        <p:nvSpPr>
          <p:cNvPr id="5" name="Text 3"/>
          <p:cNvSpPr/>
          <p:nvPr/>
        </p:nvSpPr>
        <p:spPr>
          <a:xfrm>
            <a:off x="267519" y="2612380"/>
            <a:ext cx="8380363" cy="226814"/>
          </a:xfrm>
          <a:prstGeom prst="rect">
            <a:avLst/>
          </a:prstGeom>
          <a:noFill/>
          <a:ln/>
        </p:spPr>
        <p:txBody>
          <a:bodyPr wrap="none" lIns="0" tIns="0" rIns="0" bIns="0" rtlCol="0" anchor="t"/>
          <a:lstStyle/>
          <a:p>
            <a:pPr marL="0" indent="0" algn="ctr">
              <a:lnSpc>
                <a:spcPct val="133000"/>
              </a:lnSpc>
              <a:buNone/>
            </a:pPr>
            <a:r>
              <a:rPr lang="en-US" sz="1100" dirty="0">
                <a:solidFill>
                  <a:srgbClr val="C9C2C0"/>
                </a:solidFill>
                <a:latin typeface="Gelasio" pitchFamily="34" charset="0"/>
                <a:ea typeface="Gelasio" pitchFamily="34" charset="-122"/>
                <a:cs typeface="Gelasio" pitchFamily="34" charset="-120"/>
              </a:rPr>
              <a:t>High Area Under the Curve (AUC) on the 20% holdout test set indicates excellent model discrimination.</a:t>
            </a:r>
            <a:endParaRPr lang="en-US" sz="1100" dirty="0"/>
          </a:p>
        </p:txBody>
      </p:sp>
      <p:sp>
        <p:nvSpPr>
          <p:cNvPr id="6" name="Text 4"/>
          <p:cNvSpPr/>
          <p:nvPr/>
        </p:nvSpPr>
        <p:spPr>
          <a:xfrm>
            <a:off x="496119" y="3051795"/>
            <a:ext cx="2229222" cy="221456"/>
          </a:xfrm>
          <a:prstGeom prst="rect">
            <a:avLst/>
          </a:prstGeom>
          <a:noFill/>
          <a:ln/>
        </p:spPr>
        <p:txBody>
          <a:bodyPr wrap="none" lIns="0" tIns="0" rIns="0" bIns="0" rtlCol="0" anchor="t"/>
          <a:lstStyle/>
          <a:p>
            <a:pPr marL="0" indent="0" algn="l">
              <a:lnSpc>
                <a:spcPct val="104000"/>
              </a:lnSpc>
              <a:buNone/>
            </a:pPr>
            <a:r>
              <a:rPr lang="en-US" sz="1350" dirty="0">
                <a:solidFill>
                  <a:srgbClr val="D8B6A4"/>
                </a:solidFill>
                <a:latin typeface="Gelasio" pitchFamily="34" charset="0"/>
                <a:ea typeface="Gelasio" pitchFamily="34" charset="-122"/>
                <a:cs typeface="Gelasio" pitchFamily="34" charset="-120"/>
              </a:rPr>
              <a:t>Mahout Commands:</a:t>
            </a:r>
            <a:endParaRPr lang="en-US" sz="1350" dirty="0"/>
          </a:p>
        </p:txBody>
      </p:sp>
      <p:sp>
        <p:nvSpPr>
          <p:cNvPr id="7" name="Text 5"/>
          <p:cNvSpPr/>
          <p:nvPr/>
        </p:nvSpPr>
        <p:spPr>
          <a:xfrm>
            <a:off x="496119" y="3485852"/>
            <a:ext cx="8151763" cy="808137"/>
          </a:xfrm>
          <a:prstGeom prst="rect">
            <a:avLst/>
          </a:prstGeom>
          <a:noFill/>
          <a:ln/>
        </p:spPr>
        <p:txBody>
          <a:bodyPr wrap="square" lIns="0" tIns="0" rIns="0" bIns="0" rtlCol="0" anchor="t">
            <a:normAutofit fontScale="92500"/>
          </a:bodyPr>
          <a:lstStyle/>
          <a:p>
            <a:pPr marL="342900" indent="-342900" algn="l">
              <a:lnSpc>
                <a:spcPct val="133000"/>
              </a:lnSpc>
              <a:buSzPct val="100000"/>
              <a:buChar char="•"/>
            </a:pPr>
            <a:r>
              <a:rPr lang="en-US" sz="1100" b="1" dirty="0">
                <a:solidFill>
                  <a:srgbClr val="C9C2C0"/>
                </a:solidFill>
                <a:latin typeface="Gelasio" pitchFamily="34" charset="0"/>
                <a:ea typeface="Gelasio" pitchFamily="34" charset="-122"/>
                <a:cs typeface="Gelasio" pitchFamily="34" charset="-120"/>
              </a:rPr>
              <a:t>Training:</a:t>
            </a:r>
            <a:r>
              <a:rPr lang="en-US" sz="1100" dirty="0">
                <a:solidFill>
                  <a:srgbClr val="C9C2C0"/>
                </a:solidFill>
                <a:latin typeface="Gelasio" pitchFamily="34" charset="0"/>
                <a:ea typeface="Gelasio" pitchFamily="34" charset="-122"/>
                <a:cs typeface="Gelasio" pitchFamily="34" charset="-120"/>
              </a:rPr>
              <a:t> </a:t>
            </a:r>
            <a:r>
              <a:rPr lang="en-US" sz="1100" dirty="0">
                <a:solidFill>
                  <a:srgbClr val="C9C2C0"/>
                </a:solidFill>
                <a:highlight>
                  <a:srgbClr val="53504F"/>
                </a:highlight>
                <a:latin typeface="Consolas" pitchFamily="34" charset="0"/>
                <a:ea typeface="Consolas" pitchFamily="34" charset="-122"/>
                <a:cs typeface="Consolas" pitchFamily="34" charset="-120"/>
              </a:rPr>
              <a:t>mahout trainnb -i /movie_data_train -o /movie_genre_model -li /labelindex -a 1 -ow -c</a:t>
            </a:r>
            <a:endParaRPr lang="en-US" sz="1100" dirty="0"/>
          </a:p>
          <a:p>
            <a:pPr marL="342900" indent="-342900" algn="l">
              <a:lnSpc>
                <a:spcPct val="133000"/>
              </a:lnSpc>
              <a:buSzPct val="100000"/>
              <a:buChar char="•"/>
            </a:pPr>
            <a:r>
              <a:rPr lang="en-US" sz="1100" b="1" dirty="0">
                <a:solidFill>
                  <a:srgbClr val="C9C2C0"/>
                </a:solidFill>
                <a:latin typeface="Gelasio" pitchFamily="34" charset="0"/>
                <a:ea typeface="Gelasio" pitchFamily="34" charset="-122"/>
                <a:cs typeface="Gelasio" pitchFamily="34" charset="-120"/>
              </a:rPr>
              <a:t>Evaluation:</a:t>
            </a:r>
            <a:r>
              <a:rPr lang="en-US" sz="1100" dirty="0">
                <a:solidFill>
                  <a:srgbClr val="C9C2C0"/>
                </a:solidFill>
                <a:latin typeface="Gelasio" pitchFamily="34" charset="0"/>
                <a:ea typeface="Gelasio" pitchFamily="34" charset="-122"/>
                <a:cs typeface="Gelasio" pitchFamily="34" charset="-120"/>
              </a:rPr>
              <a:t> </a:t>
            </a:r>
            <a:r>
              <a:rPr lang="en-US" sz="1100" dirty="0">
                <a:solidFill>
                  <a:srgbClr val="C9C2C0"/>
                </a:solidFill>
                <a:highlight>
                  <a:srgbClr val="53504F"/>
                </a:highlight>
                <a:latin typeface="Consolas" pitchFamily="34" charset="0"/>
                <a:ea typeface="Consolas" pitchFamily="34" charset="-122"/>
                <a:cs typeface="Consolas" pitchFamily="34" charset="-120"/>
              </a:rPr>
              <a:t>mahout testnb -i /movie_data_test -m /movie_genre_model -l /labelindex -ow -o /test_results -c</a:t>
            </a:r>
            <a:endParaRPr lang="en-US" sz="1100" dirty="0"/>
          </a:p>
          <a:p>
            <a:pPr marL="342900" indent="-342900" algn="l">
              <a:lnSpc>
                <a:spcPct val="133000"/>
              </a:lnSpc>
              <a:buSzPct val="100000"/>
              <a:buChar char="•"/>
            </a:pPr>
            <a:r>
              <a:rPr lang="en-US" sz="1100" b="1" dirty="0">
                <a:solidFill>
                  <a:srgbClr val="C9C2C0"/>
                </a:solidFill>
                <a:latin typeface="Gelasio" pitchFamily="34" charset="0"/>
                <a:ea typeface="Gelasio" pitchFamily="34" charset="-122"/>
                <a:cs typeface="Gelasio" pitchFamily="34" charset="-120"/>
              </a:rPr>
              <a:t>Output:</a:t>
            </a:r>
            <a:r>
              <a:rPr lang="en-US" sz="1100" dirty="0">
                <a:solidFill>
                  <a:srgbClr val="C9C2C0"/>
                </a:solidFill>
                <a:latin typeface="Gelasio" pitchFamily="34" charset="0"/>
                <a:ea typeface="Gelasio" pitchFamily="34" charset="-122"/>
                <a:cs typeface="Gelasio" pitchFamily="34" charset="-120"/>
              </a:rPr>
              <a:t> Full per-class Confusion Matrix + overall AUC score printed to the terminal.</a:t>
            </a:r>
            <a:endParaRPr lang="en-US" sz="1100" dirty="0"/>
          </a:p>
        </p:txBody>
      </p:sp>
      <p:sp>
        <p:nvSpPr>
          <p:cNvPr id="8" name="Rectangle 7">
            <a:extLst>
              <a:ext uri="{FF2B5EF4-FFF2-40B4-BE49-F238E27FC236}">
                <a16:creationId xmlns:a16="http://schemas.microsoft.com/office/drawing/2014/main" id="{A9F0BE00-7CD7-5E70-57EA-182E9407E49A}"/>
              </a:ext>
            </a:extLst>
          </p:cNvPr>
          <p:cNvSpPr/>
          <p:nvPr/>
        </p:nvSpPr>
        <p:spPr>
          <a:xfrm>
            <a:off x="8060788" y="4831849"/>
            <a:ext cx="1012370" cy="226815"/>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45219" y="382488"/>
            <a:ext cx="7770688" cy="373782"/>
          </a:xfrm>
          <a:prstGeom prst="rect">
            <a:avLst/>
          </a:prstGeom>
          <a:noFill/>
          <a:ln/>
        </p:spPr>
        <p:txBody>
          <a:bodyPr wrap="none" lIns="0" tIns="0" rIns="0" bIns="0" rtlCol="0" anchor="t"/>
          <a:lstStyle/>
          <a:p>
            <a:pPr marL="0" indent="0" algn="l">
              <a:lnSpc>
                <a:spcPct val="104000"/>
              </a:lnSpc>
              <a:buNone/>
            </a:pPr>
            <a:r>
              <a:rPr lang="en-US" sz="2350" dirty="0">
                <a:solidFill>
                  <a:srgbClr val="D8B6A4"/>
                </a:solidFill>
                <a:latin typeface="Gelasio" pitchFamily="34" charset="0"/>
                <a:ea typeface="Gelasio" pitchFamily="34" charset="-122"/>
                <a:cs typeface="Gelasio" pitchFamily="34" charset="-120"/>
              </a:rPr>
              <a:t>PIPELINE EXECUTION WORKFLOW — COMMANDS</a:t>
            </a:r>
            <a:endParaRPr lang="en-US" sz="2350" dirty="0"/>
          </a:p>
        </p:txBody>
      </p:sp>
      <p:sp>
        <p:nvSpPr>
          <p:cNvPr id="3" name="Text 1"/>
          <p:cNvSpPr/>
          <p:nvPr/>
        </p:nvSpPr>
        <p:spPr>
          <a:xfrm>
            <a:off x="445219" y="958081"/>
            <a:ext cx="696367" cy="149498"/>
          </a:xfrm>
          <a:prstGeom prst="rect">
            <a:avLst/>
          </a:prstGeom>
          <a:noFill/>
          <a:ln/>
        </p:spPr>
        <p:txBody>
          <a:bodyPr wrap="none" lIns="0" tIns="0" rIns="0" bIns="0" rtlCol="0" anchor="ctr"/>
          <a:lstStyle/>
          <a:p>
            <a:pPr marL="0" indent="0" algn="l">
              <a:lnSpc>
                <a:spcPct val="100000"/>
              </a:lnSpc>
              <a:buNone/>
            </a:pPr>
            <a:r>
              <a:rPr lang="en-US" sz="900" dirty="0">
                <a:solidFill>
                  <a:srgbClr val="C9C2C0"/>
                </a:solidFill>
                <a:latin typeface="Gelasio Light" pitchFamily="34" charset="0"/>
                <a:ea typeface="Gelasio Light" pitchFamily="34" charset="-122"/>
                <a:cs typeface="Gelasio Light" pitchFamily="34" charset="-120"/>
              </a:rPr>
              <a:t>01</a:t>
            </a:r>
            <a:endParaRPr lang="en-US" sz="900" dirty="0"/>
          </a:p>
        </p:txBody>
      </p:sp>
      <p:sp>
        <p:nvSpPr>
          <p:cNvPr id="4" name="Shape 2"/>
          <p:cNvSpPr/>
          <p:nvPr/>
        </p:nvSpPr>
        <p:spPr>
          <a:xfrm>
            <a:off x="445219" y="1147018"/>
            <a:ext cx="4076254" cy="14288"/>
          </a:xfrm>
          <a:prstGeom prst="rect">
            <a:avLst/>
          </a:prstGeom>
          <a:solidFill>
            <a:srgbClr val="C49F8C"/>
          </a:solidFill>
          <a:ln/>
        </p:spPr>
        <p:txBody>
          <a:bodyPr/>
          <a:lstStyle/>
          <a:p>
            <a:endParaRPr lang="en-IN"/>
          </a:p>
        </p:txBody>
      </p:sp>
      <p:sp>
        <p:nvSpPr>
          <p:cNvPr id="5" name="Text 3"/>
          <p:cNvSpPr/>
          <p:nvPr/>
        </p:nvSpPr>
        <p:spPr>
          <a:xfrm>
            <a:off x="445219" y="1235348"/>
            <a:ext cx="1952402" cy="186854"/>
          </a:xfrm>
          <a:prstGeom prst="rect">
            <a:avLst/>
          </a:prstGeom>
          <a:noFill/>
          <a:ln/>
        </p:spPr>
        <p:txBody>
          <a:bodyPr wrap="none" lIns="0" tIns="0" rIns="0" bIns="0" rtlCol="0" anchor="t"/>
          <a:lstStyle/>
          <a:p>
            <a:pPr marL="0" indent="0" algn="l">
              <a:lnSpc>
                <a:spcPct val="104000"/>
              </a:lnSpc>
              <a:buNone/>
            </a:pPr>
            <a:r>
              <a:rPr lang="en-US" sz="1150" dirty="0">
                <a:solidFill>
                  <a:srgbClr val="C9C2C0"/>
                </a:solidFill>
                <a:latin typeface="Gelasio" pitchFamily="34" charset="0"/>
                <a:ea typeface="Gelasio" pitchFamily="34" charset="-122"/>
                <a:cs typeface="Gelasio" pitchFamily="34" charset="-120"/>
              </a:rPr>
              <a:t>Fetch Movie Data</a:t>
            </a:r>
            <a:endParaRPr lang="en-US" sz="1150" dirty="0"/>
          </a:p>
        </p:txBody>
      </p:sp>
      <p:sp>
        <p:nvSpPr>
          <p:cNvPr id="6" name="Shape 4"/>
          <p:cNvSpPr/>
          <p:nvPr/>
        </p:nvSpPr>
        <p:spPr>
          <a:xfrm>
            <a:off x="445219" y="1535683"/>
            <a:ext cx="4076254" cy="415528"/>
          </a:xfrm>
          <a:prstGeom prst="roundRect">
            <a:avLst>
              <a:gd name="adj" fmla="val 4318"/>
            </a:avLst>
          </a:prstGeom>
          <a:solidFill>
            <a:srgbClr val="53504F"/>
          </a:solidFill>
          <a:ln/>
        </p:spPr>
        <p:txBody>
          <a:bodyPr/>
          <a:lstStyle/>
          <a:p>
            <a:endParaRPr lang="en-IN"/>
          </a:p>
        </p:txBody>
      </p:sp>
      <p:sp>
        <p:nvSpPr>
          <p:cNvPr id="7" name="Shape 5"/>
          <p:cNvSpPr/>
          <p:nvPr/>
        </p:nvSpPr>
        <p:spPr>
          <a:xfrm>
            <a:off x="439266" y="1535683"/>
            <a:ext cx="4088160" cy="415528"/>
          </a:xfrm>
          <a:prstGeom prst="roundRect">
            <a:avLst>
              <a:gd name="adj" fmla="val 4318"/>
            </a:avLst>
          </a:prstGeom>
          <a:solidFill>
            <a:srgbClr val="53504F"/>
          </a:solidFill>
          <a:ln/>
        </p:spPr>
        <p:txBody>
          <a:bodyPr/>
          <a:lstStyle/>
          <a:p>
            <a:endParaRPr lang="en-IN"/>
          </a:p>
        </p:txBody>
      </p:sp>
      <p:sp>
        <p:nvSpPr>
          <p:cNvPr id="8" name="Text 6"/>
          <p:cNvSpPr/>
          <p:nvPr/>
        </p:nvSpPr>
        <p:spPr>
          <a:xfrm>
            <a:off x="588764" y="1655266"/>
            <a:ext cx="4246364" cy="176361"/>
          </a:xfrm>
          <a:prstGeom prst="rect">
            <a:avLst/>
          </a:prstGeom>
          <a:noFill/>
          <a:ln/>
        </p:spPr>
        <p:txBody>
          <a:bodyPr wrap="none" lIns="0" tIns="0" rIns="0" bIns="0" rtlCol="0" anchor="t"/>
          <a:lstStyle/>
          <a:p>
            <a:pPr marL="0" indent="0" algn="l">
              <a:lnSpc>
                <a:spcPct val="123000"/>
              </a:lnSpc>
              <a:buNone/>
            </a:pPr>
            <a:r>
              <a:rPr lang="en-US" sz="900" dirty="0">
                <a:solidFill>
                  <a:srgbClr val="C9C2C0"/>
                </a:solidFill>
                <a:highlight>
                  <a:srgbClr val="53504F"/>
                </a:highlight>
                <a:latin typeface="Consolas" pitchFamily="34" charset="0"/>
                <a:ea typeface="Consolas" pitchFamily="34" charset="-122"/>
                <a:cs typeface="Consolas" pitchFamily="34" charset="-120"/>
              </a:rPr>
              <a:t>.venv\Scripts\python.exe data_ingestion\fetch_tmdb_movies.py</a:t>
            </a:r>
            <a:endParaRPr lang="en-US" sz="900" dirty="0"/>
          </a:p>
        </p:txBody>
      </p:sp>
      <p:sp>
        <p:nvSpPr>
          <p:cNvPr id="9" name="Text 7"/>
          <p:cNvSpPr/>
          <p:nvPr/>
        </p:nvSpPr>
        <p:spPr>
          <a:xfrm>
            <a:off x="4622378" y="958081"/>
            <a:ext cx="696367" cy="149498"/>
          </a:xfrm>
          <a:prstGeom prst="rect">
            <a:avLst/>
          </a:prstGeom>
          <a:noFill/>
          <a:ln/>
        </p:spPr>
        <p:txBody>
          <a:bodyPr wrap="none" lIns="0" tIns="0" rIns="0" bIns="0" rtlCol="0" anchor="ctr"/>
          <a:lstStyle/>
          <a:p>
            <a:pPr marL="0" indent="0" algn="l">
              <a:lnSpc>
                <a:spcPct val="100000"/>
              </a:lnSpc>
              <a:buNone/>
            </a:pPr>
            <a:r>
              <a:rPr lang="en-US" sz="900" dirty="0">
                <a:solidFill>
                  <a:srgbClr val="C9C2C0"/>
                </a:solidFill>
                <a:latin typeface="Gelasio Light" pitchFamily="34" charset="0"/>
                <a:ea typeface="Gelasio Light" pitchFamily="34" charset="-122"/>
                <a:cs typeface="Gelasio Light" pitchFamily="34" charset="-120"/>
              </a:rPr>
              <a:t>02</a:t>
            </a:r>
            <a:endParaRPr lang="en-US" sz="900" dirty="0"/>
          </a:p>
        </p:txBody>
      </p:sp>
      <p:sp>
        <p:nvSpPr>
          <p:cNvPr id="10" name="Shape 8"/>
          <p:cNvSpPr/>
          <p:nvPr/>
        </p:nvSpPr>
        <p:spPr>
          <a:xfrm>
            <a:off x="4622378" y="1147018"/>
            <a:ext cx="4076328" cy="14288"/>
          </a:xfrm>
          <a:prstGeom prst="rect">
            <a:avLst/>
          </a:prstGeom>
          <a:solidFill>
            <a:srgbClr val="C49F8C"/>
          </a:solidFill>
          <a:ln/>
        </p:spPr>
        <p:txBody>
          <a:bodyPr/>
          <a:lstStyle/>
          <a:p>
            <a:endParaRPr lang="en-IN"/>
          </a:p>
        </p:txBody>
      </p:sp>
      <p:sp>
        <p:nvSpPr>
          <p:cNvPr id="11" name="Text 9"/>
          <p:cNvSpPr/>
          <p:nvPr/>
        </p:nvSpPr>
        <p:spPr>
          <a:xfrm>
            <a:off x="4622378" y="1235348"/>
            <a:ext cx="2168351" cy="186854"/>
          </a:xfrm>
          <a:prstGeom prst="rect">
            <a:avLst/>
          </a:prstGeom>
          <a:noFill/>
          <a:ln/>
        </p:spPr>
        <p:txBody>
          <a:bodyPr wrap="none" lIns="0" tIns="0" rIns="0" bIns="0" rtlCol="0" anchor="t"/>
          <a:lstStyle/>
          <a:p>
            <a:pPr marL="0" indent="0" algn="l">
              <a:lnSpc>
                <a:spcPct val="104000"/>
              </a:lnSpc>
              <a:buNone/>
            </a:pPr>
            <a:r>
              <a:rPr lang="en-US" sz="1150" dirty="0">
                <a:solidFill>
                  <a:srgbClr val="C9C2C0"/>
                </a:solidFill>
                <a:latin typeface="Gelasio" pitchFamily="34" charset="0"/>
                <a:ea typeface="Gelasio" pitchFamily="34" charset="-122"/>
                <a:cs typeface="Gelasio" pitchFamily="34" charset="-120"/>
              </a:rPr>
              <a:t>Enrich Dataset (Optional)</a:t>
            </a:r>
            <a:endParaRPr lang="en-US" sz="1150" dirty="0"/>
          </a:p>
        </p:txBody>
      </p:sp>
      <p:sp>
        <p:nvSpPr>
          <p:cNvPr id="12" name="Shape 10"/>
          <p:cNvSpPr/>
          <p:nvPr/>
        </p:nvSpPr>
        <p:spPr>
          <a:xfrm>
            <a:off x="4622378" y="1535683"/>
            <a:ext cx="4076328" cy="415528"/>
          </a:xfrm>
          <a:prstGeom prst="roundRect">
            <a:avLst>
              <a:gd name="adj" fmla="val 4318"/>
            </a:avLst>
          </a:prstGeom>
          <a:solidFill>
            <a:srgbClr val="53504F"/>
          </a:solidFill>
          <a:ln/>
        </p:spPr>
        <p:txBody>
          <a:bodyPr/>
          <a:lstStyle/>
          <a:p>
            <a:endParaRPr lang="en-IN"/>
          </a:p>
        </p:txBody>
      </p:sp>
      <p:sp>
        <p:nvSpPr>
          <p:cNvPr id="13" name="Shape 11"/>
          <p:cNvSpPr/>
          <p:nvPr/>
        </p:nvSpPr>
        <p:spPr>
          <a:xfrm>
            <a:off x="4616425" y="1535683"/>
            <a:ext cx="4088234" cy="415528"/>
          </a:xfrm>
          <a:prstGeom prst="roundRect">
            <a:avLst>
              <a:gd name="adj" fmla="val 4318"/>
            </a:avLst>
          </a:prstGeom>
          <a:solidFill>
            <a:srgbClr val="53504F"/>
          </a:solidFill>
          <a:ln/>
        </p:spPr>
        <p:txBody>
          <a:bodyPr/>
          <a:lstStyle/>
          <a:p>
            <a:endParaRPr lang="en-IN"/>
          </a:p>
        </p:txBody>
      </p:sp>
      <p:sp>
        <p:nvSpPr>
          <p:cNvPr id="14" name="Text 12"/>
          <p:cNvSpPr/>
          <p:nvPr/>
        </p:nvSpPr>
        <p:spPr>
          <a:xfrm>
            <a:off x="4765923" y="1655266"/>
            <a:ext cx="4246438" cy="176361"/>
          </a:xfrm>
          <a:prstGeom prst="rect">
            <a:avLst/>
          </a:prstGeom>
          <a:noFill/>
          <a:ln/>
        </p:spPr>
        <p:txBody>
          <a:bodyPr wrap="none" lIns="0" tIns="0" rIns="0" bIns="0" rtlCol="0" anchor="t"/>
          <a:lstStyle/>
          <a:p>
            <a:pPr marL="0" indent="0" algn="l">
              <a:lnSpc>
                <a:spcPct val="123000"/>
              </a:lnSpc>
              <a:buNone/>
            </a:pPr>
            <a:r>
              <a:rPr lang="en-US" sz="900" dirty="0">
                <a:solidFill>
                  <a:srgbClr val="C9C2C0"/>
                </a:solidFill>
                <a:highlight>
                  <a:srgbClr val="53504F"/>
                </a:highlight>
                <a:latin typeface="Consolas" pitchFamily="34" charset="0"/>
                <a:ea typeface="Consolas" pitchFamily="34" charset="-122"/>
                <a:cs typeface="Consolas" pitchFamily="34" charset="-120"/>
              </a:rPr>
              <a:t>.venv\Scripts\python.exe data_ingestion\enrich_dataset.py</a:t>
            </a:r>
            <a:endParaRPr lang="en-US" sz="900" dirty="0"/>
          </a:p>
        </p:txBody>
      </p:sp>
      <p:sp>
        <p:nvSpPr>
          <p:cNvPr id="15" name="Text 13"/>
          <p:cNvSpPr/>
          <p:nvPr/>
        </p:nvSpPr>
        <p:spPr>
          <a:xfrm>
            <a:off x="445219" y="2141786"/>
            <a:ext cx="696367" cy="149498"/>
          </a:xfrm>
          <a:prstGeom prst="rect">
            <a:avLst/>
          </a:prstGeom>
          <a:noFill/>
          <a:ln/>
        </p:spPr>
        <p:txBody>
          <a:bodyPr wrap="none" lIns="0" tIns="0" rIns="0" bIns="0" rtlCol="0" anchor="ctr"/>
          <a:lstStyle/>
          <a:p>
            <a:pPr marL="0" indent="0" algn="l">
              <a:lnSpc>
                <a:spcPct val="100000"/>
              </a:lnSpc>
              <a:buNone/>
            </a:pPr>
            <a:r>
              <a:rPr lang="en-US" sz="900" dirty="0">
                <a:solidFill>
                  <a:srgbClr val="C9C2C0"/>
                </a:solidFill>
                <a:latin typeface="Gelasio Light" pitchFamily="34" charset="0"/>
                <a:ea typeface="Gelasio Light" pitchFamily="34" charset="-122"/>
                <a:cs typeface="Gelasio Light" pitchFamily="34" charset="-120"/>
              </a:rPr>
              <a:t>03</a:t>
            </a:r>
            <a:endParaRPr lang="en-US" sz="900" dirty="0"/>
          </a:p>
        </p:txBody>
      </p:sp>
      <p:sp>
        <p:nvSpPr>
          <p:cNvPr id="16" name="Shape 14"/>
          <p:cNvSpPr/>
          <p:nvPr/>
        </p:nvSpPr>
        <p:spPr>
          <a:xfrm>
            <a:off x="445219" y="2330723"/>
            <a:ext cx="4076254" cy="14288"/>
          </a:xfrm>
          <a:prstGeom prst="rect">
            <a:avLst/>
          </a:prstGeom>
          <a:solidFill>
            <a:srgbClr val="C49F8C"/>
          </a:solidFill>
          <a:ln/>
        </p:spPr>
        <p:txBody>
          <a:bodyPr/>
          <a:lstStyle/>
          <a:p>
            <a:endParaRPr lang="en-IN"/>
          </a:p>
        </p:txBody>
      </p:sp>
      <p:sp>
        <p:nvSpPr>
          <p:cNvPr id="17" name="Text 15"/>
          <p:cNvSpPr/>
          <p:nvPr/>
        </p:nvSpPr>
        <p:spPr>
          <a:xfrm>
            <a:off x="445219" y="2419052"/>
            <a:ext cx="1952402" cy="186854"/>
          </a:xfrm>
          <a:prstGeom prst="rect">
            <a:avLst/>
          </a:prstGeom>
          <a:noFill/>
          <a:ln/>
        </p:spPr>
        <p:txBody>
          <a:bodyPr wrap="none" lIns="0" tIns="0" rIns="0" bIns="0" rtlCol="0" anchor="t"/>
          <a:lstStyle/>
          <a:p>
            <a:pPr marL="0" indent="0" algn="l">
              <a:lnSpc>
                <a:spcPct val="104000"/>
              </a:lnSpc>
              <a:buNone/>
            </a:pPr>
            <a:r>
              <a:rPr lang="en-US" sz="1150" dirty="0">
                <a:solidFill>
                  <a:srgbClr val="C9C2C0"/>
                </a:solidFill>
                <a:latin typeface="Gelasio" pitchFamily="34" charset="0"/>
                <a:ea typeface="Gelasio" pitchFamily="34" charset="-122"/>
                <a:cs typeface="Gelasio" pitchFamily="34" charset="-120"/>
              </a:rPr>
              <a:t>Start Docker Cluster</a:t>
            </a:r>
            <a:endParaRPr lang="en-US" sz="1150" dirty="0"/>
          </a:p>
        </p:txBody>
      </p:sp>
      <p:sp>
        <p:nvSpPr>
          <p:cNvPr id="18" name="Shape 16"/>
          <p:cNvSpPr/>
          <p:nvPr/>
        </p:nvSpPr>
        <p:spPr>
          <a:xfrm>
            <a:off x="445219" y="2719388"/>
            <a:ext cx="4076254" cy="591889"/>
          </a:xfrm>
          <a:prstGeom prst="roundRect">
            <a:avLst>
              <a:gd name="adj" fmla="val 3031"/>
            </a:avLst>
          </a:prstGeom>
          <a:solidFill>
            <a:srgbClr val="53504F"/>
          </a:solidFill>
          <a:ln/>
        </p:spPr>
        <p:txBody>
          <a:bodyPr/>
          <a:lstStyle/>
          <a:p>
            <a:endParaRPr lang="en-IN"/>
          </a:p>
        </p:txBody>
      </p:sp>
      <p:sp>
        <p:nvSpPr>
          <p:cNvPr id="19" name="Shape 17"/>
          <p:cNvSpPr/>
          <p:nvPr/>
        </p:nvSpPr>
        <p:spPr>
          <a:xfrm>
            <a:off x="439266" y="2719388"/>
            <a:ext cx="4088160" cy="591889"/>
          </a:xfrm>
          <a:prstGeom prst="roundRect">
            <a:avLst>
              <a:gd name="adj" fmla="val 3031"/>
            </a:avLst>
          </a:prstGeom>
          <a:solidFill>
            <a:srgbClr val="53504F"/>
          </a:solidFill>
          <a:ln/>
        </p:spPr>
        <p:txBody>
          <a:bodyPr/>
          <a:lstStyle/>
          <a:p>
            <a:endParaRPr lang="en-IN"/>
          </a:p>
        </p:txBody>
      </p:sp>
      <p:sp>
        <p:nvSpPr>
          <p:cNvPr id="20" name="Text 18"/>
          <p:cNvSpPr/>
          <p:nvPr/>
        </p:nvSpPr>
        <p:spPr>
          <a:xfrm>
            <a:off x="588764" y="2838971"/>
            <a:ext cx="3789164" cy="352723"/>
          </a:xfrm>
          <a:prstGeom prst="rect">
            <a:avLst/>
          </a:prstGeom>
          <a:noFill/>
          <a:ln/>
        </p:spPr>
        <p:txBody>
          <a:bodyPr wrap="square" lIns="0" tIns="0" rIns="0" bIns="0" rtlCol="0" anchor="t">
            <a:normAutofit/>
          </a:bodyPr>
          <a:lstStyle/>
          <a:p>
            <a:pPr marL="0" indent="0" algn="l">
              <a:lnSpc>
                <a:spcPct val="123000"/>
              </a:lnSpc>
              <a:buNone/>
            </a:pPr>
            <a:r>
              <a:rPr lang="en-US" sz="900" dirty="0">
                <a:solidFill>
                  <a:srgbClr val="FFA657"/>
                </a:solidFill>
                <a:highlight>
                  <a:srgbClr val="53504F"/>
                </a:highlight>
                <a:latin typeface="Consolas" pitchFamily="34" charset="0"/>
                <a:ea typeface="Consolas" pitchFamily="34" charset="-122"/>
                <a:cs typeface="Consolas" pitchFamily="34" charset="-120"/>
              </a:rPr>
              <a:t>cd docker_environment &amp;&amp; docker-compose up -d --build</a:t>
            </a:r>
            <a:endParaRPr lang="en-US" sz="900" dirty="0"/>
          </a:p>
          <a:p>
            <a:pPr marL="0" indent="0" algn="l">
              <a:lnSpc>
                <a:spcPct val="123000"/>
              </a:lnSpc>
              <a:buNone/>
            </a:pPr>
            <a:r>
              <a:rPr lang="en-US" sz="900" dirty="0">
                <a:solidFill>
                  <a:srgbClr val="FFA657"/>
                </a:solidFill>
                <a:highlight>
                  <a:srgbClr val="53504F"/>
                </a:highlight>
                <a:latin typeface="Consolas" pitchFamily="34" charset="0"/>
                <a:ea typeface="Consolas" pitchFamily="34" charset="-122"/>
                <a:cs typeface="Consolas" pitchFamily="34" charset="-120"/>
              </a:rPr>
              <a:t>docker ps</a:t>
            </a:r>
            <a:endParaRPr lang="en-US" sz="900" dirty="0"/>
          </a:p>
        </p:txBody>
      </p:sp>
      <p:sp>
        <p:nvSpPr>
          <p:cNvPr id="21" name="Text 19"/>
          <p:cNvSpPr/>
          <p:nvPr/>
        </p:nvSpPr>
        <p:spPr>
          <a:xfrm>
            <a:off x="4622378" y="2141786"/>
            <a:ext cx="696367" cy="149498"/>
          </a:xfrm>
          <a:prstGeom prst="rect">
            <a:avLst/>
          </a:prstGeom>
          <a:noFill/>
          <a:ln/>
        </p:spPr>
        <p:txBody>
          <a:bodyPr wrap="none" lIns="0" tIns="0" rIns="0" bIns="0" rtlCol="0" anchor="ctr"/>
          <a:lstStyle/>
          <a:p>
            <a:pPr marL="0" indent="0" algn="l">
              <a:lnSpc>
                <a:spcPct val="100000"/>
              </a:lnSpc>
              <a:buNone/>
            </a:pPr>
            <a:r>
              <a:rPr lang="en-US" sz="900" dirty="0">
                <a:solidFill>
                  <a:srgbClr val="C9C2C0"/>
                </a:solidFill>
                <a:latin typeface="Gelasio Light" pitchFamily="34" charset="0"/>
                <a:ea typeface="Gelasio Light" pitchFamily="34" charset="-122"/>
                <a:cs typeface="Gelasio Light" pitchFamily="34" charset="-120"/>
              </a:rPr>
              <a:t>04</a:t>
            </a:r>
            <a:endParaRPr lang="en-US" sz="900" dirty="0"/>
          </a:p>
        </p:txBody>
      </p:sp>
      <p:sp>
        <p:nvSpPr>
          <p:cNvPr id="22" name="Shape 20"/>
          <p:cNvSpPr/>
          <p:nvPr/>
        </p:nvSpPr>
        <p:spPr>
          <a:xfrm>
            <a:off x="4622378" y="2330723"/>
            <a:ext cx="4076328" cy="14288"/>
          </a:xfrm>
          <a:prstGeom prst="rect">
            <a:avLst/>
          </a:prstGeom>
          <a:solidFill>
            <a:srgbClr val="C49F8C"/>
          </a:solidFill>
          <a:ln/>
        </p:spPr>
        <p:txBody>
          <a:bodyPr/>
          <a:lstStyle/>
          <a:p>
            <a:endParaRPr lang="en-IN"/>
          </a:p>
        </p:txBody>
      </p:sp>
      <p:sp>
        <p:nvSpPr>
          <p:cNvPr id="23" name="Text 21"/>
          <p:cNvSpPr/>
          <p:nvPr/>
        </p:nvSpPr>
        <p:spPr>
          <a:xfrm>
            <a:off x="4622378" y="2419052"/>
            <a:ext cx="2370758" cy="186854"/>
          </a:xfrm>
          <a:prstGeom prst="rect">
            <a:avLst/>
          </a:prstGeom>
          <a:noFill/>
          <a:ln/>
        </p:spPr>
        <p:txBody>
          <a:bodyPr wrap="none" lIns="0" tIns="0" rIns="0" bIns="0" rtlCol="0" anchor="t"/>
          <a:lstStyle/>
          <a:p>
            <a:pPr marL="0" indent="0" algn="l">
              <a:lnSpc>
                <a:spcPct val="104000"/>
              </a:lnSpc>
              <a:buNone/>
            </a:pPr>
            <a:r>
              <a:rPr lang="en-US" sz="1150" dirty="0">
                <a:solidFill>
                  <a:srgbClr val="C9C2C0"/>
                </a:solidFill>
                <a:latin typeface="Gelasio" pitchFamily="34" charset="0"/>
                <a:ea typeface="Gelasio" pitchFamily="34" charset="-122"/>
                <a:cs typeface="Gelasio" pitchFamily="34" charset="-120"/>
              </a:rPr>
              <a:t>Access NameNode Container</a:t>
            </a:r>
            <a:endParaRPr lang="en-US" sz="1150" dirty="0"/>
          </a:p>
        </p:txBody>
      </p:sp>
      <p:sp>
        <p:nvSpPr>
          <p:cNvPr id="24" name="Shape 22"/>
          <p:cNvSpPr/>
          <p:nvPr/>
        </p:nvSpPr>
        <p:spPr>
          <a:xfrm>
            <a:off x="4622378" y="2719388"/>
            <a:ext cx="4076328" cy="415528"/>
          </a:xfrm>
          <a:prstGeom prst="roundRect">
            <a:avLst>
              <a:gd name="adj" fmla="val 4318"/>
            </a:avLst>
          </a:prstGeom>
          <a:solidFill>
            <a:srgbClr val="53504F"/>
          </a:solidFill>
          <a:ln/>
        </p:spPr>
        <p:txBody>
          <a:bodyPr/>
          <a:lstStyle/>
          <a:p>
            <a:endParaRPr lang="en-IN"/>
          </a:p>
        </p:txBody>
      </p:sp>
      <p:sp>
        <p:nvSpPr>
          <p:cNvPr id="25" name="Shape 23"/>
          <p:cNvSpPr/>
          <p:nvPr/>
        </p:nvSpPr>
        <p:spPr>
          <a:xfrm>
            <a:off x="4616425" y="2719388"/>
            <a:ext cx="4088234" cy="415528"/>
          </a:xfrm>
          <a:prstGeom prst="roundRect">
            <a:avLst>
              <a:gd name="adj" fmla="val 4318"/>
            </a:avLst>
          </a:prstGeom>
          <a:solidFill>
            <a:srgbClr val="53504F"/>
          </a:solidFill>
          <a:ln/>
        </p:spPr>
        <p:txBody>
          <a:bodyPr/>
          <a:lstStyle/>
          <a:p>
            <a:endParaRPr lang="en-IN"/>
          </a:p>
        </p:txBody>
      </p:sp>
      <p:sp>
        <p:nvSpPr>
          <p:cNvPr id="26" name="Text 24"/>
          <p:cNvSpPr/>
          <p:nvPr/>
        </p:nvSpPr>
        <p:spPr>
          <a:xfrm>
            <a:off x="4765923" y="2838971"/>
            <a:ext cx="4246438" cy="176361"/>
          </a:xfrm>
          <a:prstGeom prst="rect">
            <a:avLst/>
          </a:prstGeom>
          <a:noFill/>
          <a:ln/>
        </p:spPr>
        <p:txBody>
          <a:bodyPr wrap="none" lIns="0" tIns="0" rIns="0" bIns="0" rtlCol="0" anchor="t"/>
          <a:lstStyle/>
          <a:p>
            <a:pPr marL="0" indent="0" algn="l">
              <a:lnSpc>
                <a:spcPct val="123000"/>
              </a:lnSpc>
              <a:buNone/>
            </a:pPr>
            <a:r>
              <a:rPr lang="en-US" sz="900" dirty="0">
                <a:solidFill>
                  <a:srgbClr val="C9C2C0"/>
                </a:solidFill>
                <a:latin typeface="Consolas" pitchFamily="34" charset="0"/>
                <a:ea typeface="Consolas" pitchFamily="34" charset="-122"/>
                <a:cs typeface="Consolas" pitchFamily="34" charset="-120"/>
              </a:rPr>
              <a:t>docker exec -it hadoop-mahout-namenode bash</a:t>
            </a:r>
            <a:endParaRPr lang="en-US" sz="900" dirty="0"/>
          </a:p>
        </p:txBody>
      </p:sp>
      <p:sp>
        <p:nvSpPr>
          <p:cNvPr id="27" name="Text 25"/>
          <p:cNvSpPr/>
          <p:nvPr/>
        </p:nvSpPr>
        <p:spPr>
          <a:xfrm>
            <a:off x="445219" y="3501851"/>
            <a:ext cx="696367" cy="149498"/>
          </a:xfrm>
          <a:prstGeom prst="rect">
            <a:avLst/>
          </a:prstGeom>
          <a:noFill/>
          <a:ln/>
        </p:spPr>
        <p:txBody>
          <a:bodyPr wrap="none" lIns="0" tIns="0" rIns="0" bIns="0" rtlCol="0" anchor="ctr"/>
          <a:lstStyle/>
          <a:p>
            <a:pPr marL="0" indent="0" algn="l">
              <a:lnSpc>
                <a:spcPct val="100000"/>
              </a:lnSpc>
              <a:buNone/>
            </a:pPr>
            <a:r>
              <a:rPr lang="en-US" sz="900" dirty="0">
                <a:solidFill>
                  <a:srgbClr val="C9C2C0"/>
                </a:solidFill>
                <a:latin typeface="Gelasio Light" pitchFamily="34" charset="0"/>
                <a:ea typeface="Gelasio Light" pitchFamily="34" charset="-122"/>
                <a:cs typeface="Gelasio Light" pitchFamily="34" charset="-120"/>
              </a:rPr>
              <a:t>05</a:t>
            </a:r>
            <a:endParaRPr lang="en-US" sz="900" dirty="0"/>
          </a:p>
        </p:txBody>
      </p:sp>
      <p:sp>
        <p:nvSpPr>
          <p:cNvPr id="28" name="Shape 26"/>
          <p:cNvSpPr/>
          <p:nvPr/>
        </p:nvSpPr>
        <p:spPr>
          <a:xfrm>
            <a:off x="445219" y="3690789"/>
            <a:ext cx="4076254" cy="14288"/>
          </a:xfrm>
          <a:prstGeom prst="rect">
            <a:avLst/>
          </a:prstGeom>
          <a:solidFill>
            <a:srgbClr val="C49F8C"/>
          </a:solidFill>
          <a:ln/>
        </p:spPr>
        <p:txBody>
          <a:bodyPr/>
          <a:lstStyle/>
          <a:p>
            <a:endParaRPr lang="en-IN"/>
          </a:p>
        </p:txBody>
      </p:sp>
      <p:sp>
        <p:nvSpPr>
          <p:cNvPr id="29" name="Text 27"/>
          <p:cNvSpPr/>
          <p:nvPr/>
        </p:nvSpPr>
        <p:spPr>
          <a:xfrm>
            <a:off x="445219" y="3779118"/>
            <a:ext cx="1952402" cy="186854"/>
          </a:xfrm>
          <a:prstGeom prst="rect">
            <a:avLst/>
          </a:prstGeom>
          <a:noFill/>
          <a:ln/>
        </p:spPr>
        <p:txBody>
          <a:bodyPr wrap="none" lIns="0" tIns="0" rIns="0" bIns="0" rtlCol="0" anchor="t"/>
          <a:lstStyle/>
          <a:p>
            <a:pPr marL="0" indent="0" algn="l">
              <a:lnSpc>
                <a:spcPct val="104000"/>
              </a:lnSpc>
              <a:buNone/>
            </a:pPr>
            <a:r>
              <a:rPr lang="en-US" sz="1150" dirty="0">
                <a:solidFill>
                  <a:srgbClr val="C9C2C0"/>
                </a:solidFill>
                <a:latin typeface="Gelasio" pitchFamily="34" charset="0"/>
                <a:ea typeface="Gelasio" pitchFamily="34" charset="-122"/>
                <a:cs typeface="Gelasio" pitchFamily="34" charset="-120"/>
              </a:rPr>
              <a:t>Run Pipeline Scripts</a:t>
            </a:r>
            <a:endParaRPr lang="en-US" sz="1150" dirty="0"/>
          </a:p>
        </p:txBody>
      </p:sp>
      <p:sp>
        <p:nvSpPr>
          <p:cNvPr id="30" name="Shape 28"/>
          <p:cNvSpPr/>
          <p:nvPr/>
        </p:nvSpPr>
        <p:spPr>
          <a:xfrm>
            <a:off x="445219" y="4079453"/>
            <a:ext cx="4076254" cy="591889"/>
          </a:xfrm>
          <a:prstGeom prst="roundRect">
            <a:avLst>
              <a:gd name="adj" fmla="val 3031"/>
            </a:avLst>
          </a:prstGeom>
          <a:solidFill>
            <a:srgbClr val="53504F"/>
          </a:solidFill>
          <a:ln/>
        </p:spPr>
        <p:txBody>
          <a:bodyPr/>
          <a:lstStyle/>
          <a:p>
            <a:endParaRPr lang="en-IN"/>
          </a:p>
        </p:txBody>
      </p:sp>
      <p:sp>
        <p:nvSpPr>
          <p:cNvPr id="31" name="Shape 29"/>
          <p:cNvSpPr/>
          <p:nvPr/>
        </p:nvSpPr>
        <p:spPr>
          <a:xfrm>
            <a:off x="439266" y="4079453"/>
            <a:ext cx="4088160" cy="591889"/>
          </a:xfrm>
          <a:prstGeom prst="roundRect">
            <a:avLst>
              <a:gd name="adj" fmla="val 3031"/>
            </a:avLst>
          </a:prstGeom>
          <a:solidFill>
            <a:srgbClr val="53504F"/>
          </a:solidFill>
          <a:ln/>
        </p:spPr>
        <p:txBody>
          <a:bodyPr/>
          <a:lstStyle/>
          <a:p>
            <a:endParaRPr lang="en-IN"/>
          </a:p>
        </p:txBody>
      </p:sp>
      <p:sp>
        <p:nvSpPr>
          <p:cNvPr id="32" name="Text 30"/>
          <p:cNvSpPr/>
          <p:nvPr/>
        </p:nvSpPr>
        <p:spPr>
          <a:xfrm>
            <a:off x="588764" y="4199037"/>
            <a:ext cx="3789164" cy="352723"/>
          </a:xfrm>
          <a:prstGeom prst="rect">
            <a:avLst/>
          </a:prstGeom>
          <a:noFill/>
          <a:ln/>
        </p:spPr>
        <p:txBody>
          <a:bodyPr wrap="square" lIns="0" tIns="0" rIns="0" bIns="0" rtlCol="0" anchor="t">
            <a:normAutofit/>
          </a:bodyPr>
          <a:lstStyle/>
          <a:p>
            <a:pPr marL="0" indent="0" algn="l">
              <a:lnSpc>
                <a:spcPct val="123000"/>
              </a:lnSpc>
              <a:buNone/>
            </a:pPr>
            <a:r>
              <a:rPr lang="en-US" sz="900" dirty="0">
                <a:solidFill>
                  <a:srgbClr val="C9C2C0"/>
                </a:solidFill>
                <a:highlight>
                  <a:srgbClr val="53504F"/>
                </a:highlight>
                <a:latin typeface="Consolas" pitchFamily="34" charset="0"/>
                <a:ea typeface="Consolas" pitchFamily="34" charset="-122"/>
                <a:cs typeface="Consolas" pitchFamily="34" charset="-120"/>
              </a:rPr>
              <a:t>bash /data/pipeline_scripts/0_prepare_filtered_hdfs.sh</a:t>
            </a:r>
            <a:endParaRPr lang="en-US" sz="900" dirty="0"/>
          </a:p>
          <a:p>
            <a:pPr marL="0" indent="0" algn="l">
              <a:lnSpc>
                <a:spcPct val="123000"/>
              </a:lnSpc>
              <a:buNone/>
            </a:pPr>
            <a:r>
              <a:rPr lang="en-US" sz="900" dirty="0">
                <a:solidFill>
                  <a:srgbClr val="C9C2C0"/>
                </a:solidFill>
                <a:highlight>
                  <a:srgbClr val="53504F"/>
                </a:highlight>
                <a:latin typeface="Consolas" pitchFamily="34" charset="0"/>
                <a:ea typeface="Consolas" pitchFamily="34" charset="-122"/>
                <a:cs typeface="Consolas" pitchFamily="34" charset="-120"/>
              </a:rPr>
              <a:t>bash /data/pipeline_scripts/1_upload_to_hdfs.s</a:t>
            </a:r>
            <a:endParaRPr lang="en-US" sz="900" dirty="0"/>
          </a:p>
        </p:txBody>
      </p:sp>
      <p:sp>
        <p:nvSpPr>
          <p:cNvPr id="33" name="Text 31"/>
          <p:cNvSpPr/>
          <p:nvPr/>
        </p:nvSpPr>
        <p:spPr>
          <a:xfrm>
            <a:off x="4622378" y="3501851"/>
            <a:ext cx="696367" cy="149498"/>
          </a:xfrm>
          <a:prstGeom prst="rect">
            <a:avLst/>
          </a:prstGeom>
          <a:noFill/>
          <a:ln/>
        </p:spPr>
        <p:txBody>
          <a:bodyPr wrap="none" lIns="0" tIns="0" rIns="0" bIns="0" rtlCol="0" anchor="ctr"/>
          <a:lstStyle/>
          <a:p>
            <a:pPr marL="0" indent="0" algn="l">
              <a:lnSpc>
                <a:spcPct val="100000"/>
              </a:lnSpc>
              <a:buNone/>
            </a:pPr>
            <a:r>
              <a:rPr lang="en-US" sz="900" dirty="0">
                <a:solidFill>
                  <a:srgbClr val="C9C2C0"/>
                </a:solidFill>
                <a:latin typeface="Gelasio Light" pitchFamily="34" charset="0"/>
                <a:ea typeface="Gelasio Light" pitchFamily="34" charset="-122"/>
                <a:cs typeface="Gelasio Light" pitchFamily="34" charset="-120"/>
              </a:rPr>
              <a:t>06</a:t>
            </a:r>
            <a:endParaRPr lang="en-US" sz="900" dirty="0"/>
          </a:p>
        </p:txBody>
      </p:sp>
      <p:sp>
        <p:nvSpPr>
          <p:cNvPr id="34" name="Shape 32"/>
          <p:cNvSpPr/>
          <p:nvPr/>
        </p:nvSpPr>
        <p:spPr>
          <a:xfrm>
            <a:off x="4622378" y="3690789"/>
            <a:ext cx="4076328" cy="14288"/>
          </a:xfrm>
          <a:prstGeom prst="rect">
            <a:avLst/>
          </a:prstGeom>
          <a:solidFill>
            <a:srgbClr val="C49F8C"/>
          </a:solidFill>
          <a:ln/>
        </p:spPr>
        <p:txBody>
          <a:bodyPr/>
          <a:lstStyle/>
          <a:p>
            <a:endParaRPr lang="en-IN"/>
          </a:p>
        </p:txBody>
      </p:sp>
      <p:sp>
        <p:nvSpPr>
          <p:cNvPr id="35" name="Text 33"/>
          <p:cNvSpPr/>
          <p:nvPr/>
        </p:nvSpPr>
        <p:spPr>
          <a:xfrm>
            <a:off x="4622378" y="3779118"/>
            <a:ext cx="1952402" cy="186854"/>
          </a:xfrm>
          <a:prstGeom prst="rect">
            <a:avLst/>
          </a:prstGeom>
          <a:noFill/>
          <a:ln/>
        </p:spPr>
        <p:txBody>
          <a:bodyPr wrap="none" lIns="0" tIns="0" rIns="0" bIns="0" rtlCol="0" anchor="t"/>
          <a:lstStyle/>
          <a:p>
            <a:pPr marL="0" indent="0" algn="l">
              <a:lnSpc>
                <a:spcPct val="104000"/>
              </a:lnSpc>
              <a:buNone/>
            </a:pPr>
            <a:r>
              <a:rPr lang="en-US" sz="1150" dirty="0">
                <a:solidFill>
                  <a:srgbClr val="C9C2C0"/>
                </a:solidFill>
                <a:latin typeface="Gelasio" pitchFamily="34" charset="0"/>
                <a:ea typeface="Gelasio" pitchFamily="34" charset="-122"/>
                <a:cs typeface="Gelasio" pitchFamily="34" charset="-120"/>
              </a:rPr>
              <a:t>Review Output</a:t>
            </a:r>
            <a:endParaRPr lang="en-US" sz="1150" dirty="0"/>
          </a:p>
        </p:txBody>
      </p:sp>
      <p:sp>
        <p:nvSpPr>
          <p:cNvPr id="36" name="Shape 34"/>
          <p:cNvSpPr/>
          <p:nvPr/>
        </p:nvSpPr>
        <p:spPr>
          <a:xfrm>
            <a:off x="4622378" y="4079453"/>
            <a:ext cx="4076328" cy="415528"/>
          </a:xfrm>
          <a:prstGeom prst="roundRect">
            <a:avLst>
              <a:gd name="adj" fmla="val 4318"/>
            </a:avLst>
          </a:prstGeom>
          <a:solidFill>
            <a:srgbClr val="53504F"/>
          </a:solidFill>
          <a:ln/>
        </p:spPr>
        <p:txBody>
          <a:bodyPr/>
          <a:lstStyle/>
          <a:p>
            <a:endParaRPr lang="en-IN"/>
          </a:p>
        </p:txBody>
      </p:sp>
      <p:sp>
        <p:nvSpPr>
          <p:cNvPr id="37" name="Shape 35"/>
          <p:cNvSpPr/>
          <p:nvPr/>
        </p:nvSpPr>
        <p:spPr>
          <a:xfrm>
            <a:off x="4616425" y="4079453"/>
            <a:ext cx="4088234" cy="415528"/>
          </a:xfrm>
          <a:prstGeom prst="roundRect">
            <a:avLst>
              <a:gd name="adj" fmla="val 4318"/>
            </a:avLst>
          </a:prstGeom>
          <a:solidFill>
            <a:srgbClr val="53504F"/>
          </a:solidFill>
          <a:ln/>
        </p:spPr>
        <p:txBody>
          <a:bodyPr/>
          <a:lstStyle/>
          <a:p>
            <a:endParaRPr lang="en-IN"/>
          </a:p>
        </p:txBody>
      </p:sp>
      <p:sp>
        <p:nvSpPr>
          <p:cNvPr id="38" name="Text 36"/>
          <p:cNvSpPr/>
          <p:nvPr/>
        </p:nvSpPr>
        <p:spPr>
          <a:xfrm>
            <a:off x="4765923" y="4199037"/>
            <a:ext cx="4246438" cy="176361"/>
          </a:xfrm>
          <a:prstGeom prst="rect">
            <a:avLst/>
          </a:prstGeom>
          <a:noFill/>
          <a:ln/>
        </p:spPr>
        <p:txBody>
          <a:bodyPr wrap="none" lIns="0" tIns="0" rIns="0" bIns="0" rtlCol="0" anchor="t"/>
          <a:lstStyle/>
          <a:p>
            <a:pPr marL="0" indent="0" algn="l">
              <a:lnSpc>
                <a:spcPct val="123000"/>
              </a:lnSpc>
              <a:buNone/>
            </a:pPr>
            <a:r>
              <a:rPr lang="en-US" sz="900" dirty="0">
                <a:solidFill>
                  <a:srgbClr val="C9C2C0"/>
                </a:solidFill>
                <a:latin typeface="Consolas" pitchFamily="34" charset="0"/>
                <a:ea typeface="Consolas" pitchFamily="34" charset="-122"/>
                <a:cs typeface="Consolas" pitchFamily="34" charset="-120"/>
              </a:rPr>
              <a:t>Output printed to terminal</a:t>
            </a:r>
            <a:endParaRPr lang="en-US" sz="900" dirty="0"/>
          </a:p>
        </p:txBody>
      </p:sp>
      <p:sp>
        <p:nvSpPr>
          <p:cNvPr id="39" name="Rectangle 38">
            <a:extLst>
              <a:ext uri="{FF2B5EF4-FFF2-40B4-BE49-F238E27FC236}">
                <a16:creationId xmlns:a16="http://schemas.microsoft.com/office/drawing/2014/main" id="{FA01E10F-45DF-385D-45CE-CB76A74606FC}"/>
              </a:ext>
            </a:extLst>
          </p:cNvPr>
          <p:cNvSpPr/>
          <p:nvPr/>
        </p:nvSpPr>
        <p:spPr>
          <a:xfrm>
            <a:off x="8060788" y="4831849"/>
            <a:ext cx="1012370" cy="226815"/>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74489" y="329580"/>
            <a:ext cx="3937769" cy="352946"/>
          </a:xfrm>
          <a:prstGeom prst="rect">
            <a:avLst/>
          </a:prstGeom>
          <a:noFill/>
          <a:ln/>
        </p:spPr>
        <p:txBody>
          <a:bodyPr wrap="none" lIns="0" tIns="0" rIns="0" bIns="0" rtlCol="0" anchor="t"/>
          <a:lstStyle/>
          <a:p>
            <a:pPr marL="0" indent="0" algn="l">
              <a:lnSpc>
                <a:spcPct val="104000"/>
              </a:lnSpc>
              <a:buNone/>
            </a:pPr>
            <a:r>
              <a:rPr lang="en-US" sz="2200" dirty="0">
                <a:solidFill>
                  <a:srgbClr val="D8B6A4"/>
                </a:solidFill>
                <a:latin typeface="Gelasio" pitchFamily="34" charset="0"/>
                <a:ea typeface="Gelasio" pitchFamily="34" charset="-122"/>
                <a:cs typeface="Gelasio" pitchFamily="34" charset="-120"/>
              </a:rPr>
              <a:t>CINEVAULT DASHBOARD</a:t>
            </a:r>
            <a:endParaRPr lang="en-US" sz="2200" dirty="0"/>
          </a:p>
        </p:txBody>
      </p:sp>
      <p:sp>
        <p:nvSpPr>
          <p:cNvPr id="3" name="Text 1"/>
          <p:cNvSpPr/>
          <p:nvPr/>
        </p:nvSpPr>
        <p:spPr>
          <a:xfrm>
            <a:off x="674489" y="817513"/>
            <a:ext cx="8252147" cy="171896"/>
          </a:xfrm>
          <a:prstGeom prst="rect">
            <a:avLst/>
          </a:prstGeom>
          <a:noFill/>
          <a:ln/>
        </p:spPr>
        <p:txBody>
          <a:bodyPr wrap="none" lIns="0" tIns="0" rIns="0" bIns="0" rtlCol="0" anchor="t"/>
          <a:lstStyle/>
          <a:p>
            <a:pPr marL="0" indent="0" algn="l">
              <a:lnSpc>
                <a:spcPct val="120000"/>
              </a:lnSpc>
              <a:buNone/>
            </a:pPr>
            <a:r>
              <a:rPr lang="en-US" sz="850" dirty="0">
                <a:solidFill>
                  <a:srgbClr val="C9C2C0"/>
                </a:solidFill>
                <a:latin typeface="Gelasio" pitchFamily="34" charset="0"/>
                <a:ea typeface="Gelasio" pitchFamily="34" charset="-122"/>
                <a:cs typeface="Gelasio" pitchFamily="34" charset="-120"/>
              </a:rPr>
              <a:t>Our interactive web application, </a:t>
            </a:r>
            <a:r>
              <a:rPr lang="en-US" sz="850" dirty="0">
                <a:solidFill>
                  <a:srgbClr val="C9C2C0"/>
                </a:solidFill>
                <a:highlight>
                  <a:srgbClr val="53504F"/>
                </a:highlight>
                <a:latin typeface="Consolas" pitchFamily="34" charset="0"/>
                <a:ea typeface="Consolas" pitchFamily="34" charset="-122"/>
                <a:cs typeface="Consolas" pitchFamily="34" charset="-120"/>
              </a:rPr>
              <a:t>movie_recommender/index.html</a:t>
            </a:r>
            <a:r>
              <a:rPr lang="en-US" sz="850" dirty="0">
                <a:solidFill>
                  <a:srgbClr val="C9C2C0"/>
                </a:solidFill>
                <a:latin typeface="Gelasio" pitchFamily="34" charset="0"/>
                <a:ea typeface="Gelasio" pitchFamily="34" charset="-122"/>
                <a:cs typeface="Gelasio" pitchFamily="34" charset="-120"/>
              </a:rPr>
              <a:t>, delivers a personalized movie discovery experience.</a:t>
            </a:r>
            <a:endParaRPr lang="en-US" sz="850" dirty="0"/>
          </a:p>
        </p:txBody>
      </p:sp>
      <p:pic>
        <p:nvPicPr>
          <p:cNvPr id="4" name="Image 0" descr="preencoded.png"/>
          <p:cNvPicPr>
            <a:picLocks noChangeAspect="1"/>
          </p:cNvPicPr>
          <p:nvPr/>
        </p:nvPicPr>
        <p:blipFill>
          <a:blip r:embed="rId3"/>
          <a:stretch>
            <a:fillRect/>
          </a:stretch>
        </p:blipFill>
        <p:spPr>
          <a:xfrm>
            <a:off x="1394668" y="1090613"/>
            <a:ext cx="6354589" cy="3459659"/>
          </a:xfrm>
          <a:prstGeom prst="rect">
            <a:avLst/>
          </a:prstGeom>
        </p:spPr>
      </p:pic>
      <p:sp>
        <p:nvSpPr>
          <p:cNvPr id="5" name="Text 2"/>
          <p:cNvSpPr/>
          <p:nvPr/>
        </p:nvSpPr>
        <p:spPr>
          <a:xfrm>
            <a:off x="674489" y="4651474"/>
            <a:ext cx="8252147" cy="162371"/>
          </a:xfrm>
          <a:prstGeom prst="rect">
            <a:avLst/>
          </a:prstGeom>
          <a:noFill/>
          <a:ln/>
        </p:spPr>
        <p:txBody>
          <a:bodyPr wrap="none" lIns="0" tIns="0" rIns="0" bIns="0" rtlCol="0" anchor="t"/>
          <a:lstStyle/>
          <a:p>
            <a:pPr marL="0" indent="0" algn="l">
              <a:lnSpc>
                <a:spcPct val="120000"/>
              </a:lnSpc>
              <a:buNone/>
            </a:pPr>
            <a:endParaRPr lang="en-US" sz="850" dirty="0"/>
          </a:p>
        </p:txBody>
      </p:sp>
      <p:sp>
        <p:nvSpPr>
          <p:cNvPr id="6" name="Rectangle 5">
            <a:extLst>
              <a:ext uri="{FF2B5EF4-FFF2-40B4-BE49-F238E27FC236}">
                <a16:creationId xmlns:a16="http://schemas.microsoft.com/office/drawing/2014/main" id="{A0D48FD1-CCDE-7295-73DD-B640CB76778C}"/>
              </a:ext>
            </a:extLst>
          </p:cNvPr>
          <p:cNvSpPr/>
          <p:nvPr/>
        </p:nvSpPr>
        <p:spPr>
          <a:xfrm>
            <a:off x="8060788" y="4831849"/>
            <a:ext cx="1012370" cy="226815"/>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26393" y="438448"/>
            <a:ext cx="4572744" cy="380702"/>
          </a:xfrm>
          <a:prstGeom prst="rect">
            <a:avLst/>
          </a:prstGeom>
          <a:noFill/>
          <a:ln/>
        </p:spPr>
        <p:txBody>
          <a:bodyPr wrap="none" lIns="0" tIns="0" rIns="0" bIns="0" rtlCol="0" anchor="t"/>
          <a:lstStyle/>
          <a:p>
            <a:pPr marL="0" indent="0" algn="l">
              <a:lnSpc>
                <a:spcPct val="104000"/>
              </a:lnSpc>
              <a:buNone/>
            </a:pPr>
            <a:r>
              <a:rPr lang="en-US" sz="2350" dirty="0">
                <a:solidFill>
                  <a:srgbClr val="D8B6A4"/>
                </a:solidFill>
                <a:latin typeface="Gelasio" pitchFamily="34" charset="0"/>
                <a:ea typeface="Gelasio" pitchFamily="34" charset="-122"/>
                <a:cs typeface="Gelasio" pitchFamily="34" charset="-120"/>
              </a:rPr>
              <a:t>Recommender Scoring System</a:t>
            </a:r>
            <a:endParaRPr lang="en-US" sz="2350" dirty="0"/>
          </a:p>
        </p:txBody>
      </p:sp>
      <p:sp>
        <p:nvSpPr>
          <p:cNvPr id="3" name="Text 1"/>
          <p:cNvSpPr/>
          <p:nvPr/>
        </p:nvSpPr>
        <p:spPr>
          <a:xfrm>
            <a:off x="426393" y="1028477"/>
            <a:ext cx="8291215" cy="362396"/>
          </a:xfrm>
          <a:prstGeom prst="rect">
            <a:avLst/>
          </a:prstGeom>
          <a:noFill/>
          <a:ln/>
        </p:spPr>
        <p:txBody>
          <a:bodyPr wrap="square" lIns="0" tIns="0" rIns="0" bIns="0" rtlCol="0" anchor="t">
            <a:normAutofit/>
          </a:bodyPr>
          <a:lstStyle/>
          <a:p>
            <a:pPr marL="0" indent="0" algn="l">
              <a:lnSpc>
                <a:spcPct val="124000"/>
              </a:lnSpc>
              <a:buNone/>
            </a:pPr>
            <a:r>
              <a:rPr lang="en-US" sz="950" dirty="0">
                <a:solidFill>
                  <a:srgbClr val="C9C2C0"/>
                </a:solidFill>
                <a:latin typeface="Gelasio" pitchFamily="34" charset="0"/>
                <a:ea typeface="Gelasio" pitchFamily="34" charset="-122"/>
                <a:cs typeface="Gelasio" pitchFamily="34" charset="-120"/>
              </a:rPr>
              <a:t>Our client-side recommendation engine dynamically personalizes movie suggestions using a robust scoring algorithm, ensuring each user's 'For You' row is uniquely tailored.</a:t>
            </a:r>
            <a:endParaRPr lang="en-US" sz="950" dirty="0"/>
          </a:p>
        </p:txBody>
      </p:sp>
      <p:pic>
        <p:nvPicPr>
          <p:cNvPr id="4" name="Image 0" descr="preencoded.png"/>
          <p:cNvPicPr>
            <a:picLocks noChangeAspect="1"/>
          </p:cNvPicPr>
          <p:nvPr/>
        </p:nvPicPr>
        <p:blipFill>
          <a:blip r:embed="rId3"/>
          <a:stretch>
            <a:fillRect/>
          </a:stretch>
        </p:blipFill>
        <p:spPr>
          <a:xfrm>
            <a:off x="426393" y="1508596"/>
            <a:ext cx="7005265" cy="355550"/>
          </a:xfrm>
          <a:prstGeom prst="rect">
            <a:avLst/>
          </a:prstGeom>
        </p:spPr>
      </p:pic>
      <p:sp>
        <p:nvSpPr>
          <p:cNvPr id="5" name="Text 2"/>
          <p:cNvSpPr/>
          <p:nvPr/>
        </p:nvSpPr>
        <p:spPr>
          <a:xfrm>
            <a:off x="426393" y="1981870"/>
            <a:ext cx="8717607" cy="181198"/>
          </a:xfrm>
          <a:prstGeom prst="rect">
            <a:avLst/>
          </a:prstGeom>
          <a:noFill/>
          <a:ln/>
        </p:spPr>
        <p:txBody>
          <a:bodyPr wrap="none" lIns="0" tIns="0" rIns="0" bIns="0" rtlCol="0" anchor="t"/>
          <a:lstStyle/>
          <a:p>
            <a:pPr marL="0" indent="0" algn="l">
              <a:lnSpc>
                <a:spcPct val="124000"/>
              </a:lnSpc>
              <a:buNone/>
            </a:pPr>
            <a:r>
              <a:rPr lang="en-US" sz="950" dirty="0">
                <a:solidFill>
                  <a:srgbClr val="C9C2C0"/>
                </a:solidFill>
                <a:latin typeface="Gelasio" pitchFamily="34" charset="0"/>
                <a:ea typeface="Gelasio" pitchFamily="34" charset="-122"/>
                <a:cs typeface="Gelasio" pitchFamily="34" charset="-120"/>
              </a:rPr>
              <a:t>The scoring mechanism considers three key factors:</a:t>
            </a:r>
            <a:endParaRPr lang="en-US" sz="950" dirty="0"/>
          </a:p>
        </p:txBody>
      </p:sp>
      <p:sp>
        <p:nvSpPr>
          <p:cNvPr id="6" name="Shape 3"/>
          <p:cNvSpPr/>
          <p:nvPr/>
        </p:nvSpPr>
        <p:spPr>
          <a:xfrm>
            <a:off x="426393" y="2280791"/>
            <a:ext cx="8291215" cy="1332012"/>
          </a:xfrm>
          <a:prstGeom prst="roundRect">
            <a:avLst>
              <a:gd name="adj" fmla="val 1372"/>
            </a:avLst>
          </a:prstGeom>
          <a:noFill/>
          <a:ln w="4763">
            <a:solidFill>
              <a:srgbClr val="FFFFFF">
                <a:alpha val="24000"/>
              </a:srgbClr>
            </a:solidFill>
            <a:prstDash val="solid"/>
          </a:ln>
        </p:spPr>
        <p:txBody>
          <a:bodyPr/>
          <a:lstStyle/>
          <a:p>
            <a:endParaRPr lang="en-IN"/>
          </a:p>
        </p:txBody>
      </p:sp>
      <p:sp>
        <p:nvSpPr>
          <p:cNvPr id="7" name="Text 4"/>
          <p:cNvSpPr/>
          <p:nvPr/>
        </p:nvSpPr>
        <p:spPr>
          <a:xfrm>
            <a:off x="553045" y="2353121"/>
            <a:ext cx="2695649" cy="181198"/>
          </a:xfrm>
          <a:prstGeom prst="rect">
            <a:avLst/>
          </a:prstGeom>
          <a:noFill/>
          <a:ln/>
        </p:spPr>
        <p:txBody>
          <a:bodyPr wrap="none" lIns="0" tIns="0" rIns="0" bIns="0" rtlCol="0" anchor="t"/>
          <a:lstStyle/>
          <a:p>
            <a:pPr marL="0" indent="0" algn="l">
              <a:lnSpc>
                <a:spcPct val="124000"/>
              </a:lnSpc>
              <a:buNone/>
            </a:pPr>
            <a:r>
              <a:rPr lang="en-US" sz="950" b="1" dirty="0">
                <a:solidFill>
                  <a:srgbClr val="C9C2C0"/>
                </a:solidFill>
                <a:latin typeface="Gelasio" pitchFamily="34" charset="0"/>
                <a:ea typeface="Gelasio" pitchFamily="34" charset="-122"/>
                <a:cs typeface="Gelasio" pitchFamily="34" charset="-120"/>
              </a:rPr>
              <a:t>Feature</a:t>
            </a:r>
            <a:endParaRPr lang="en-US" sz="950" dirty="0"/>
          </a:p>
        </p:txBody>
      </p:sp>
      <p:sp>
        <p:nvSpPr>
          <p:cNvPr id="8" name="Text 5"/>
          <p:cNvSpPr/>
          <p:nvPr/>
        </p:nvSpPr>
        <p:spPr>
          <a:xfrm>
            <a:off x="3039889" y="2353121"/>
            <a:ext cx="6008340" cy="181198"/>
          </a:xfrm>
          <a:prstGeom prst="rect">
            <a:avLst/>
          </a:prstGeom>
          <a:noFill/>
          <a:ln/>
        </p:spPr>
        <p:txBody>
          <a:bodyPr wrap="none" lIns="0" tIns="0" rIns="0" bIns="0" rtlCol="0" anchor="t"/>
          <a:lstStyle/>
          <a:p>
            <a:pPr marL="0" indent="0" algn="l">
              <a:lnSpc>
                <a:spcPct val="124000"/>
              </a:lnSpc>
              <a:buNone/>
            </a:pPr>
            <a:r>
              <a:rPr lang="en-US" sz="950" b="1" dirty="0">
                <a:solidFill>
                  <a:srgbClr val="C9C2C0"/>
                </a:solidFill>
                <a:latin typeface="Gelasio" pitchFamily="34" charset="0"/>
                <a:ea typeface="Gelasio" pitchFamily="34" charset="-122"/>
                <a:cs typeface="Gelasio" pitchFamily="34" charset="-120"/>
              </a:rPr>
              <a:t>Description</a:t>
            </a:r>
            <a:endParaRPr lang="en-US" sz="950" dirty="0"/>
          </a:p>
        </p:txBody>
      </p:sp>
      <p:sp>
        <p:nvSpPr>
          <p:cNvPr id="9" name="Text 6"/>
          <p:cNvSpPr/>
          <p:nvPr/>
        </p:nvSpPr>
        <p:spPr>
          <a:xfrm>
            <a:off x="553045" y="2674218"/>
            <a:ext cx="2695649" cy="195486"/>
          </a:xfrm>
          <a:prstGeom prst="rect">
            <a:avLst/>
          </a:prstGeom>
          <a:noFill/>
          <a:ln/>
        </p:spPr>
        <p:txBody>
          <a:bodyPr wrap="none" lIns="0" tIns="0" rIns="0" bIns="0" rtlCol="0" anchor="t"/>
          <a:lstStyle/>
          <a:p>
            <a:pPr marL="0" indent="0" algn="l">
              <a:lnSpc>
                <a:spcPct val="124000"/>
              </a:lnSpc>
              <a:buNone/>
            </a:pPr>
            <a:r>
              <a:rPr lang="en-US" sz="950" dirty="0">
                <a:solidFill>
                  <a:srgbClr val="C9C2C0"/>
                </a:solidFill>
                <a:highlight>
                  <a:srgbClr val="53504F"/>
                </a:highlight>
                <a:latin typeface="Consolas" pitchFamily="34" charset="0"/>
                <a:ea typeface="Consolas" pitchFamily="34" charset="-122"/>
                <a:cs typeface="Consolas" pitchFamily="34" charset="-120"/>
              </a:rPr>
              <a:t>genreMatch</a:t>
            </a:r>
            <a:endParaRPr lang="en-US" sz="950" dirty="0"/>
          </a:p>
        </p:txBody>
      </p:sp>
      <p:sp>
        <p:nvSpPr>
          <p:cNvPr id="10" name="Text 7"/>
          <p:cNvSpPr/>
          <p:nvPr/>
        </p:nvSpPr>
        <p:spPr>
          <a:xfrm>
            <a:off x="3039889" y="2674218"/>
            <a:ext cx="6008340" cy="195486"/>
          </a:xfrm>
          <a:prstGeom prst="rect">
            <a:avLst/>
          </a:prstGeom>
          <a:noFill/>
          <a:ln/>
        </p:spPr>
        <p:txBody>
          <a:bodyPr wrap="none" lIns="0" tIns="0" rIns="0" bIns="0" rtlCol="0" anchor="t"/>
          <a:lstStyle/>
          <a:p>
            <a:pPr marL="0" indent="0" algn="l">
              <a:lnSpc>
                <a:spcPct val="124000"/>
              </a:lnSpc>
              <a:buNone/>
            </a:pPr>
            <a:r>
              <a:rPr lang="en-US" sz="950" dirty="0">
                <a:solidFill>
                  <a:srgbClr val="C9C2C0"/>
                </a:solidFill>
                <a:latin typeface="Gelasio" pitchFamily="34" charset="0"/>
                <a:ea typeface="Gelasio" pitchFamily="34" charset="-122"/>
                <a:cs typeface="Gelasio" pitchFamily="34" charset="-120"/>
              </a:rPr>
              <a:t>Scores </a:t>
            </a:r>
            <a:r>
              <a:rPr lang="en-US" sz="950" dirty="0">
                <a:solidFill>
                  <a:srgbClr val="C9C2C0"/>
                </a:solidFill>
                <a:highlight>
                  <a:srgbClr val="53504F"/>
                </a:highlight>
                <a:latin typeface="Consolas" pitchFamily="34" charset="0"/>
                <a:ea typeface="Consolas" pitchFamily="34" charset="-122"/>
                <a:cs typeface="Consolas" pitchFamily="34" charset="-120"/>
              </a:rPr>
              <a:t>+2.0</a:t>
            </a:r>
            <a:r>
              <a:rPr lang="en-US" sz="950" dirty="0">
                <a:solidFill>
                  <a:srgbClr val="C9C2C0"/>
                </a:solidFill>
                <a:latin typeface="Gelasio" pitchFamily="34" charset="0"/>
                <a:ea typeface="Gelasio" pitchFamily="34" charset="-122"/>
                <a:cs typeface="Gelasio" pitchFamily="34" charset="-120"/>
              </a:rPr>
              <a:t> if the primary genre matches user preference; </a:t>
            </a:r>
            <a:r>
              <a:rPr lang="en-US" sz="950" dirty="0">
                <a:solidFill>
                  <a:srgbClr val="C9C2C0"/>
                </a:solidFill>
                <a:highlight>
                  <a:srgbClr val="53504F"/>
                </a:highlight>
                <a:latin typeface="Consolas" pitchFamily="34" charset="0"/>
                <a:ea typeface="Consolas" pitchFamily="34" charset="-122"/>
                <a:cs typeface="Consolas" pitchFamily="34" charset="-120"/>
              </a:rPr>
              <a:t>+0.5</a:t>
            </a:r>
            <a:r>
              <a:rPr lang="en-US" sz="950" dirty="0">
                <a:solidFill>
                  <a:srgbClr val="C9C2C0"/>
                </a:solidFill>
                <a:latin typeface="Gelasio" pitchFamily="34" charset="0"/>
                <a:ea typeface="Gelasio" pitchFamily="34" charset="-122"/>
                <a:cs typeface="Gelasio" pitchFamily="34" charset="-120"/>
              </a:rPr>
              <a:t> for a partial genre match.</a:t>
            </a:r>
            <a:endParaRPr lang="en-US" sz="950" dirty="0"/>
          </a:p>
        </p:txBody>
      </p:sp>
      <p:sp>
        <p:nvSpPr>
          <p:cNvPr id="11" name="Text 8"/>
          <p:cNvSpPr/>
          <p:nvPr/>
        </p:nvSpPr>
        <p:spPr>
          <a:xfrm>
            <a:off x="553045" y="3009602"/>
            <a:ext cx="2695649" cy="195486"/>
          </a:xfrm>
          <a:prstGeom prst="rect">
            <a:avLst/>
          </a:prstGeom>
          <a:noFill/>
          <a:ln/>
        </p:spPr>
        <p:txBody>
          <a:bodyPr wrap="none" lIns="0" tIns="0" rIns="0" bIns="0" rtlCol="0" anchor="t"/>
          <a:lstStyle/>
          <a:p>
            <a:pPr marL="0" indent="0" algn="l">
              <a:lnSpc>
                <a:spcPct val="124000"/>
              </a:lnSpc>
              <a:buNone/>
            </a:pPr>
            <a:r>
              <a:rPr lang="en-US" sz="950" dirty="0">
                <a:solidFill>
                  <a:srgbClr val="C9C2C0"/>
                </a:solidFill>
                <a:highlight>
                  <a:srgbClr val="53504F"/>
                </a:highlight>
                <a:latin typeface="Consolas" pitchFamily="34" charset="0"/>
                <a:ea typeface="Consolas" pitchFamily="34" charset="-122"/>
                <a:cs typeface="Consolas" pitchFamily="34" charset="-120"/>
              </a:rPr>
              <a:t>ratingWeight</a:t>
            </a:r>
            <a:endParaRPr lang="en-US" sz="950" dirty="0"/>
          </a:p>
        </p:txBody>
      </p:sp>
      <p:sp>
        <p:nvSpPr>
          <p:cNvPr id="12" name="Text 9"/>
          <p:cNvSpPr/>
          <p:nvPr/>
        </p:nvSpPr>
        <p:spPr>
          <a:xfrm>
            <a:off x="3039889" y="3009602"/>
            <a:ext cx="6008340" cy="195486"/>
          </a:xfrm>
          <a:prstGeom prst="rect">
            <a:avLst/>
          </a:prstGeom>
          <a:noFill/>
          <a:ln/>
        </p:spPr>
        <p:txBody>
          <a:bodyPr wrap="none" lIns="0" tIns="0" rIns="0" bIns="0" rtlCol="0" anchor="t"/>
          <a:lstStyle/>
          <a:p>
            <a:pPr marL="0" indent="0" algn="l">
              <a:lnSpc>
                <a:spcPct val="124000"/>
              </a:lnSpc>
              <a:buNone/>
            </a:pPr>
            <a:r>
              <a:rPr lang="en-US" sz="950" dirty="0">
                <a:solidFill>
                  <a:srgbClr val="C9C2C0"/>
                </a:solidFill>
                <a:latin typeface="Gelasio" pitchFamily="34" charset="0"/>
                <a:ea typeface="Gelasio" pitchFamily="34" charset="-122"/>
                <a:cs typeface="Gelasio" pitchFamily="34" charset="-120"/>
              </a:rPr>
              <a:t>Derived from TMDB's </a:t>
            </a:r>
            <a:r>
              <a:rPr lang="en-US" sz="950" dirty="0">
                <a:solidFill>
                  <a:srgbClr val="C9C2C0"/>
                </a:solidFill>
                <a:highlight>
                  <a:srgbClr val="53504F"/>
                </a:highlight>
                <a:latin typeface="Consolas" pitchFamily="34" charset="0"/>
                <a:ea typeface="Consolas" pitchFamily="34" charset="-122"/>
                <a:cs typeface="Consolas" pitchFamily="34" charset="-120"/>
              </a:rPr>
              <a:t>vote_average</a:t>
            </a:r>
            <a:r>
              <a:rPr lang="en-US" sz="950" dirty="0">
                <a:solidFill>
                  <a:srgbClr val="C9C2C0"/>
                </a:solidFill>
                <a:latin typeface="Gelasio" pitchFamily="34" charset="0"/>
                <a:ea typeface="Gelasio" pitchFamily="34" charset="-122"/>
                <a:cs typeface="Gelasio" pitchFamily="34" charset="-120"/>
              </a:rPr>
              <a:t>, normalized to a </a:t>
            </a:r>
            <a:r>
              <a:rPr lang="en-US" sz="950" dirty="0">
                <a:solidFill>
                  <a:srgbClr val="C9C2C0"/>
                </a:solidFill>
                <a:highlight>
                  <a:srgbClr val="53504F"/>
                </a:highlight>
                <a:latin typeface="Consolas" pitchFamily="34" charset="0"/>
                <a:ea typeface="Consolas" pitchFamily="34" charset="-122"/>
                <a:cs typeface="Consolas" pitchFamily="34" charset="-120"/>
              </a:rPr>
              <a:t>[0, 1]</a:t>
            </a:r>
            <a:r>
              <a:rPr lang="en-US" sz="950" dirty="0">
                <a:solidFill>
                  <a:srgbClr val="C9C2C0"/>
                </a:solidFill>
                <a:latin typeface="Gelasio" pitchFamily="34" charset="0"/>
                <a:ea typeface="Gelasio" pitchFamily="34" charset="-122"/>
                <a:cs typeface="Gelasio" pitchFamily="34" charset="-120"/>
              </a:rPr>
              <a:t> range for consistent weighting.</a:t>
            </a:r>
            <a:endParaRPr lang="en-US" sz="950" dirty="0"/>
          </a:p>
        </p:txBody>
      </p:sp>
      <p:sp>
        <p:nvSpPr>
          <p:cNvPr id="13" name="Text 10"/>
          <p:cNvSpPr/>
          <p:nvPr/>
        </p:nvSpPr>
        <p:spPr>
          <a:xfrm>
            <a:off x="553045" y="3344987"/>
            <a:ext cx="2695649" cy="195486"/>
          </a:xfrm>
          <a:prstGeom prst="rect">
            <a:avLst/>
          </a:prstGeom>
          <a:noFill/>
          <a:ln/>
        </p:spPr>
        <p:txBody>
          <a:bodyPr wrap="none" lIns="0" tIns="0" rIns="0" bIns="0" rtlCol="0" anchor="t"/>
          <a:lstStyle/>
          <a:p>
            <a:pPr marL="0" indent="0" algn="l">
              <a:lnSpc>
                <a:spcPct val="124000"/>
              </a:lnSpc>
              <a:buNone/>
            </a:pPr>
            <a:r>
              <a:rPr lang="en-US" sz="950" dirty="0">
                <a:solidFill>
                  <a:srgbClr val="C9C2C0"/>
                </a:solidFill>
                <a:highlight>
                  <a:srgbClr val="53504F"/>
                </a:highlight>
                <a:latin typeface="Consolas" pitchFamily="34" charset="0"/>
                <a:ea typeface="Consolas" pitchFamily="34" charset="-122"/>
                <a:cs typeface="Consolas" pitchFamily="34" charset="-120"/>
              </a:rPr>
              <a:t>recencyBoost</a:t>
            </a:r>
            <a:endParaRPr lang="en-US" sz="950" dirty="0"/>
          </a:p>
        </p:txBody>
      </p:sp>
      <p:sp>
        <p:nvSpPr>
          <p:cNvPr id="14" name="Text 11"/>
          <p:cNvSpPr/>
          <p:nvPr/>
        </p:nvSpPr>
        <p:spPr>
          <a:xfrm>
            <a:off x="3039889" y="3344987"/>
            <a:ext cx="6008340" cy="181198"/>
          </a:xfrm>
          <a:prstGeom prst="rect">
            <a:avLst/>
          </a:prstGeom>
          <a:noFill/>
          <a:ln/>
        </p:spPr>
        <p:txBody>
          <a:bodyPr wrap="none" lIns="0" tIns="0" rIns="0" bIns="0" rtlCol="0" anchor="t"/>
          <a:lstStyle/>
          <a:p>
            <a:pPr marL="0" indent="0" algn="l">
              <a:lnSpc>
                <a:spcPct val="124000"/>
              </a:lnSpc>
              <a:buNone/>
            </a:pPr>
            <a:r>
              <a:rPr lang="en-US" sz="950" dirty="0">
                <a:solidFill>
                  <a:srgbClr val="C9C2C0"/>
                </a:solidFill>
                <a:latin typeface="Gelasio" pitchFamily="34" charset="0"/>
                <a:ea typeface="Gelasio" pitchFamily="34" charset="-122"/>
                <a:cs typeface="Gelasio" pitchFamily="34" charset="-120"/>
              </a:rPr>
              <a:t>A higher boost is applied to newer release years, prioritizing fresh and current content.</a:t>
            </a:r>
            <a:endParaRPr lang="en-US" sz="950" dirty="0"/>
          </a:p>
        </p:txBody>
      </p:sp>
      <p:sp>
        <p:nvSpPr>
          <p:cNvPr id="15" name="Text 12"/>
          <p:cNvSpPr/>
          <p:nvPr/>
        </p:nvSpPr>
        <p:spPr>
          <a:xfrm>
            <a:off x="426393" y="3730526"/>
            <a:ext cx="8717607" cy="181198"/>
          </a:xfrm>
          <a:prstGeom prst="rect">
            <a:avLst/>
          </a:prstGeom>
          <a:noFill/>
          <a:ln/>
        </p:spPr>
        <p:txBody>
          <a:bodyPr wrap="none" lIns="0" tIns="0" rIns="0" bIns="0" rtlCol="0" anchor="t"/>
          <a:lstStyle/>
          <a:p>
            <a:pPr marL="0" indent="0" algn="l">
              <a:lnSpc>
                <a:spcPct val="124000"/>
              </a:lnSpc>
              <a:buNone/>
            </a:pPr>
            <a:r>
              <a:rPr lang="en-US" sz="950" dirty="0">
                <a:solidFill>
                  <a:srgbClr val="C9C2C0"/>
                </a:solidFill>
                <a:latin typeface="Gelasio" pitchFamily="34" charset="0"/>
                <a:ea typeface="Gelasio" pitchFamily="34" charset="-122"/>
                <a:cs typeface="Gelasio" pitchFamily="34" charset="-120"/>
              </a:rPr>
              <a:t>Mahout-trained genre labels directly inform which genre directories are preferred for matching against user preferences.</a:t>
            </a:r>
            <a:endParaRPr lang="en-US" sz="950" dirty="0"/>
          </a:p>
        </p:txBody>
      </p:sp>
      <p:sp>
        <p:nvSpPr>
          <p:cNvPr id="16" name="Text 13"/>
          <p:cNvSpPr/>
          <p:nvPr/>
        </p:nvSpPr>
        <p:spPr>
          <a:xfrm>
            <a:off x="426393" y="4029447"/>
            <a:ext cx="8291215" cy="376684"/>
          </a:xfrm>
          <a:prstGeom prst="rect">
            <a:avLst/>
          </a:prstGeom>
          <a:noFill/>
          <a:ln/>
        </p:spPr>
        <p:txBody>
          <a:bodyPr wrap="square" lIns="0" tIns="0" rIns="0" bIns="0" rtlCol="0" anchor="t">
            <a:normAutofit/>
          </a:bodyPr>
          <a:lstStyle/>
          <a:p>
            <a:pPr marL="0" indent="0" algn="l">
              <a:lnSpc>
                <a:spcPct val="124000"/>
              </a:lnSpc>
              <a:buNone/>
            </a:pPr>
            <a:r>
              <a:rPr lang="en-US" sz="950" dirty="0">
                <a:solidFill>
                  <a:srgbClr val="C9C2C0"/>
                </a:solidFill>
                <a:latin typeface="Gelasio" pitchFamily="34" charset="0"/>
                <a:ea typeface="Gelasio" pitchFamily="34" charset="-122"/>
                <a:cs typeface="Gelasio" pitchFamily="34" charset="-120"/>
              </a:rPr>
              <a:t>User history, including viewed movies and implicit preferences, is stored and updated in </a:t>
            </a:r>
            <a:r>
              <a:rPr lang="en-US" sz="950" dirty="0">
                <a:solidFill>
                  <a:srgbClr val="C9C2C0"/>
                </a:solidFill>
                <a:highlight>
                  <a:srgbClr val="53504F"/>
                </a:highlight>
                <a:latin typeface="Consolas" pitchFamily="34" charset="0"/>
                <a:ea typeface="Consolas" pitchFamily="34" charset="-122"/>
                <a:cs typeface="Consolas" pitchFamily="34" charset="-120"/>
              </a:rPr>
              <a:t>localStorage</a:t>
            </a:r>
            <a:r>
              <a:rPr lang="en-US" sz="950" dirty="0">
                <a:solidFill>
                  <a:srgbClr val="C9C2C0"/>
                </a:solidFill>
                <a:latin typeface="Gelasio" pitchFamily="34" charset="0"/>
                <a:ea typeface="Gelasio" pitchFamily="34" charset="-122"/>
                <a:cs typeface="Gelasio" pitchFamily="34" charset="-120"/>
              </a:rPr>
              <a:t> with each movie interaction, constantly refining recommendations.</a:t>
            </a:r>
            <a:endParaRPr lang="en-US" sz="950" dirty="0"/>
          </a:p>
        </p:txBody>
      </p:sp>
      <p:sp>
        <p:nvSpPr>
          <p:cNvPr id="17" name="Text 14"/>
          <p:cNvSpPr/>
          <p:nvPr/>
        </p:nvSpPr>
        <p:spPr>
          <a:xfrm>
            <a:off x="426393" y="4523854"/>
            <a:ext cx="8717607" cy="181198"/>
          </a:xfrm>
          <a:prstGeom prst="rect">
            <a:avLst/>
          </a:prstGeom>
          <a:noFill/>
          <a:ln/>
        </p:spPr>
        <p:txBody>
          <a:bodyPr wrap="none" lIns="0" tIns="0" rIns="0" bIns="0" rtlCol="0" anchor="t"/>
          <a:lstStyle/>
          <a:p>
            <a:pPr marL="0" indent="0" algn="l">
              <a:lnSpc>
                <a:spcPct val="124000"/>
              </a:lnSpc>
              <a:buNone/>
            </a:pPr>
            <a:r>
              <a:rPr lang="en-US" sz="950" dirty="0">
                <a:solidFill>
                  <a:srgbClr val="C9C2C0"/>
                </a:solidFill>
                <a:latin typeface="Gelasio" pitchFamily="34" charset="0"/>
                <a:ea typeface="Gelasio" pitchFamily="34" charset="-122"/>
                <a:cs typeface="Gelasio" pitchFamily="34" charset="-120"/>
              </a:rPr>
              <a:t>The result is a personalized, ranked list of movies rendered in the 'For You' swiper row, offering relevant and engaging content based on individual tastes.</a:t>
            </a:r>
            <a:endParaRPr lang="en-US" sz="950" dirty="0"/>
          </a:p>
        </p:txBody>
      </p:sp>
      <p:sp>
        <p:nvSpPr>
          <p:cNvPr id="18" name="Rectangle 17">
            <a:extLst>
              <a:ext uri="{FF2B5EF4-FFF2-40B4-BE49-F238E27FC236}">
                <a16:creationId xmlns:a16="http://schemas.microsoft.com/office/drawing/2014/main" id="{59B2844D-4AF6-1E6B-650E-C8B63379797F}"/>
              </a:ext>
            </a:extLst>
          </p:cNvPr>
          <p:cNvSpPr/>
          <p:nvPr/>
        </p:nvSpPr>
        <p:spPr>
          <a:xfrm>
            <a:off x="8060788" y="4831849"/>
            <a:ext cx="1012370" cy="226815"/>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96119" y="398562"/>
            <a:ext cx="6081117" cy="442987"/>
          </a:xfrm>
          <a:prstGeom prst="rect">
            <a:avLst/>
          </a:prstGeom>
          <a:noFill/>
          <a:ln/>
        </p:spPr>
        <p:txBody>
          <a:bodyPr wrap="none" lIns="0" tIns="0" rIns="0" bIns="0" rtlCol="0" anchor="t"/>
          <a:lstStyle/>
          <a:p>
            <a:pPr marL="0" indent="0" algn="l">
              <a:lnSpc>
                <a:spcPct val="104000"/>
              </a:lnSpc>
              <a:buNone/>
            </a:pPr>
            <a:r>
              <a:rPr lang="en-US" sz="2750" dirty="0">
                <a:solidFill>
                  <a:srgbClr val="D8B6A4"/>
                </a:solidFill>
                <a:latin typeface="Gelasio" pitchFamily="34" charset="0"/>
                <a:ea typeface="Gelasio" pitchFamily="34" charset="-122"/>
                <a:cs typeface="Gelasio" pitchFamily="34" charset="-120"/>
              </a:rPr>
              <a:t>KEY RESULTS &amp; ACHIEVEMENTS</a:t>
            </a:r>
            <a:endParaRPr lang="en-US" sz="2750" dirty="0"/>
          </a:p>
        </p:txBody>
      </p:sp>
      <p:sp>
        <p:nvSpPr>
          <p:cNvPr id="3" name="Text 1"/>
          <p:cNvSpPr/>
          <p:nvPr/>
        </p:nvSpPr>
        <p:spPr>
          <a:xfrm>
            <a:off x="496119" y="1054150"/>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9C2C0"/>
                </a:solidFill>
                <a:latin typeface="Gelasio" pitchFamily="34" charset="0"/>
                <a:ea typeface="Gelasio" pitchFamily="34" charset="-122"/>
                <a:cs typeface="Gelasio" pitchFamily="34" charset="-120"/>
              </a:rPr>
              <a:t>Our project successfully integrated a robust AI engine with a scalable infrastructure, culminating in a dynamic movie recommendation system.</a:t>
            </a:r>
            <a:endParaRPr lang="en-US" sz="1100" dirty="0"/>
          </a:p>
        </p:txBody>
      </p:sp>
      <p:sp>
        <p:nvSpPr>
          <p:cNvPr id="4" name="Text 2"/>
          <p:cNvSpPr/>
          <p:nvPr/>
        </p:nvSpPr>
        <p:spPr>
          <a:xfrm>
            <a:off x="267519" y="1738089"/>
            <a:ext cx="2827734" cy="467841"/>
          </a:xfrm>
          <a:prstGeom prst="rect">
            <a:avLst/>
          </a:prstGeom>
          <a:noFill/>
          <a:ln/>
        </p:spPr>
        <p:txBody>
          <a:bodyPr wrap="none" lIns="0" tIns="0" rIns="0" bIns="0" rtlCol="0" anchor="t"/>
          <a:lstStyle/>
          <a:p>
            <a:pPr marL="0" indent="0" algn="ctr">
              <a:lnSpc>
                <a:spcPct val="83000"/>
              </a:lnSpc>
              <a:buNone/>
            </a:pPr>
            <a:r>
              <a:rPr lang="en-US" sz="3650" dirty="0">
                <a:solidFill>
                  <a:srgbClr val="C9C2C0"/>
                </a:solidFill>
                <a:latin typeface="Gelasio" pitchFamily="34" charset="0"/>
                <a:ea typeface="Gelasio" pitchFamily="34" charset="-122"/>
                <a:cs typeface="Gelasio" pitchFamily="34" charset="-120"/>
              </a:rPr>
              <a:t>13,711</a:t>
            </a:r>
            <a:endParaRPr lang="en-US" sz="3650" dirty="0"/>
          </a:p>
        </p:txBody>
      </p:sp>
      <p:sp>
        <p:nvSpPr>
          <p:cNvPr id="5" name="Text 3"/>
          <p:cNvSpPr/>
          <p:nvPr/>
        </p:nvSpPr>
        <p:spPr>
          <a:xfrm>
            <a:off x="681038" y="2383036"/>
            <a:ext cx="2000622" cy="221456"/>
          </a:xfrm>
          <a:prstGeom prst="rect">
            <a:avLst/>
          </a:prstGeom>
          <a:noFill/>
          <a:ln/>
        </p:spPr>
        <p:txBody>
          <a:bodyPr wrap="none" lIns="0" tIns="0" rIns="0" bIns="0" rtlCol="0" anchor="t"/>
          <a:lstStyle/>
          <a:p>
            <a:pPr marL="0" indent="0" algn="ctr">
              <a:lnSpc>
                <a:spcPct val="104000"/>
              </a:lnSpc>
              <a:buNone/>
            </a:pPr>
            <a:r>
              <a:rPr lang="en-US" sz="1350" dirty="0">
                <a:solidFill>
                  <a:srgbClr val="C9C2C0"/>
                </a:solidFill>
                <a:latin typeface="Gelasio" pitchFamily="34" charset="0"/>
                <a:ea typeface="Gelasio" pitchFamily="34" charset="-122"/>
                <a:cs typeface="Gelasio" pitchFamily="34" charset="-120"/>
              </a:rPr>
              <a:t>Movies Collected</a:t>
            </a:r>
            <a:endParaRPr lang="en-US" sz="1350" dirty="0"/>
          </a:p>
        </p:txBody>
      </p:sp>
      <p:sp>
        <p:nvSpPr>
          <p:cNvPr id="6" name="Text 4"/>
          <p:cNvSpPr/>
          <p:nvPr/>
        </p:nvSpPr>
        <p:spPr>
          <a:xfrm>
            <a:off x="496119" y="2689547"/>
            <a:ext cx="2599134" cy="453628"/>
          </a:xfrm>
          <a:prstGeom prst="rect">
            <a:avLst/>
          </a:prstGeom>
          <a:noFill/>
          <a:ln/>
        </p:spPr>
        <p:txBody>
          <a:bodyPr wrap="square" lIns="0" tIns="0" rIns="0" bIns="0" rtlCol="0" anchor="t">
            <a:normAutofit/>
          </a:bodyPr>
          <a:lstStyle/>
          <a:p>
            <a:pPr marL="0" indent="0" algn="ctr">
              <a:lnSpc>
                <a:spcPct val="133000"/>
              </a:lnSpc>
              <a:buNone/>
            </a:pPr>
            <a:r>
              <a:rPr lang="en-US" sz="1100" dirty="0">
                <a:solidFill>
                  <a:srgbClr val="C9C2C0"/>
                </a:solidFill>
                <a:latin typeface="Gelasio" pitchFamily="34" charset="0"/>
                <a:ea typeface="Gelasio" pitchFamily="34" charset="-122"/>
                <a:cs typeface="Gelasio" pitchFamily="34" charset="-120"/>
              </a:rPr>
              <a:t>Enriched with keywords, cast, and taglines across 17 genres.</a:t>
            </a:r>
            <a:endParaRPr lang="en-US" sz="1100" dirty="0"/>
          </a:p>
        </p:txBody>
      </p:sp>
      <p:sp>
        <p:nvSpPr>
          <p:cNvPr id="7" name="Text 5"/>
          <p:cNvSpPr/>
          <p:nvPr/>
        </p:nvSpPr>
        <p:spPr>
          <a:xfrm>
            <a:off x="3043833" y="1738089"/>
            <a:ext cx="2827734" cy="467841"/>
          </a:xfrm>
          <a:prstGeom prst="rect">
            <a:avLst/>
          </a:prstGeom>
          <a:noFill/>
          <a:ln/>
        </p:spPr>
        <p:txBody>
          <a:bodyPr wrap="none" lIns="0" tIns="0" rIns="0" bIns="0" rtlCol="0" anchor="t"/>
          <a:lstStyle/>
          <a:p>
            <a:pPr marL="0" indent="0" algn="ctr">
              <a:lnSpc>
                <a:spcPct val="83000"/>
              </a:lnSpc>
              <a:buNone/>
            </a:pPr>
            <a:r>
              <a:rPr lang="en-US" sz="3650" dirty="0">
                <a:solidFill>
                  <a:srgbClr val="C9C2C0"/>
                </a:solidFill>
                <a:latin typeface="Gelasio" pitchFamily="34" charset="0"/>
                <a:ea typeface="Gelasio" pitchFamily="34" charset="-122"/>
                <a:cs typeface="Gelasio" pitchFamily="34" charset="-120"/>
              </a:rPr>
              <a:t>0</a:t>
            </a:r>
            <a:endParaRPr lang="en-US" sz="3650" dirty="0"/>
          </a:p>
        </p:txBody>
      </p:sp>
      <p:sp>
        <p:nvSpPr>
          <p:cNvPr id="8" name="Text 6"/>
          <p:cNvSpPr/>
          <p:nvPr/>
        </p:nvSpPr>
        <p:spPr>
          <a:xfrm>
            <a:off x="3457352" y="2383036"/>
            <a:ext cx="2000622" cy="221456"/>
          </a:xfrm>
          <a:prstGeom prst="rect">
            <a:avLst/>
          </a:prstGeom>
          <a:noFill/>
          <a:ln/>
        </p:spPr>
        <p:txBody>
          <a:bodyPr wrap="none" lIns="0" tIns="0" rIns="0" bIns="0" rtlCol="0" anchor="t"/>
          <a:lstStyle/>
          <a:p>
            <a:pPr marL="0" indent="0" algn="ctr">
              <a:lnSpc>
                <a:spcPct val="104000"/>
              </a:lnSpc>
              <a:buNone/>
            </a:pPr>
            <a:r>
              <a:rPr lang="en-US" sz="1350" dirty="0">
                <a:solidFill>
                  <a:srgbClr val="C9C2C0"/>
                </a:solidFill>
                <a:latin typeface="Gelasio" pitchFamily="34" charset="0"/>
                <a:ea typeface="Gelasio" pitchFamily="34" charset="-122"/>
                <a:cs typeface="Gelasio" pitchFamily="34" charset="-120"/>
              </a:rPr>
              <a:t>Manual Steps</a:t>
            </a:r>
            <a:endParaRPr lang="en-US" sz="1350" dirty="0"/>
          </a:p>
        </p:txBody>
      </p:sp>
      <p:sp>
        <p:nvSpPr>
          <p:cNvPr id="9" name="Text 7"/>
          <p:cNvSpPr/>
          <p:nvPr/>
        </p:nvSpPr>
        <p:spPr>
          <a:xfrm>
            <a:off x="3272433" y="2689547"/>
            <a:ext cx="2599134" cy="453628"/>
          </a:xfrm>
          <a:prstGeom prst="rect">
            <a:avLst/>
          </a:prstGeom>
          <a:noFill/>
          <a:ln/>
        </p:spPr>
        <p:txBody>
          <a:bodyPr wrap="square" lIns="0" tIns="0" rIns="0" bIns="0" rtlCol="0" anchor="t">
            <a:normAutofit/>
          </a:bodyPr>
          <a:lstStyle/>
          <a:p>
            <a:pPr marL="0" indent="0" algn="ctr">
              <a:lnSpc>
                <a:spcPct val="133000"/>
              </a:lnSpc>
              <a:buNone/>
            </a:pPr>
            <a:r>
              <a:rPr lang="en-US" sz="1100" dirty="0">
                <a:solidFill>
                  <a:srgbClr val="C9C2C0"/>
                </a:solidFill>
                <a:latin typeface="Gelasio" pitchFamily="34" charset="0"/>
                <a:ea typeface="Gelasio" pitchFamily="34" charset="-122"/>
                <a:cs typeface="Gelasio" pitchFamily="34" charset="-120"/>
              </a:rPr>
              <a:t>The entire pipeline executes automatically inside the container.</a:t>
            </a:r>
            <a:endParaRPr lang="en-US" sz="1100" dirty="0"/>
          </a:p>
        </p:txBody>
      </p:sp>
      <p:sp>
        <p:nvSpPr>
          <p:cNvPr id="10" name="Text 8"/>
          <p:cNvSpPr/>
          <p:nvPr/>
        </p:nvSpPr>
        <p:spPr>
          <a:xfrm>
            <a:off x="5820147" y="1738089"/>
            <a:ext cx="2827734" cy="467841"/>
          </a:xfrm>
          <a:prstGeom prst="rect">
            <a:avLst/>
          </a:prstGeom>
          <a:noFill/>
          <a:ln/>
        </p:spPr>
        <p:txBody>
          <a:bodyPr wrap="none" lIns="0" tIns="0" rIns="0" bIns="0" rtlCol="0" anchor="t"/>
          <a:lstStyle/>
          <a:p>
            <a:pPr marL="0" indent="0" algn="ctr">
              <a:lnSpc>
                <a:spcPct val="83000"/>
              </a:lnSpc>
              <a:buNone/>
            </a:pPr>
            <a:r>
              <a:rPr lang="en-US" sz="3650" dirty="0">
                <a:solidFill>
                  <a:srgbClr val="C9C2C0"/>
                </a:solidFill>
                <a:latin typeface="Gelasio" pitchFamily="34" charset="0"/>
                <a:ea typeface="Gelasio" pitchFamily="34" charset="-122"/>
                <a:cs typeface="Gelasio" pitchFamily="34" charset="-120"/>
              </a:rPr>
              <a:t>0.87</a:t>
            </a:r>
            <a:endParaRPr lang="en-US" sz="3650" dirty="0"/>
          </a:p>
        </p:txBody>
      </p:sp>
      <p:sp>
        <p:nvSpPr>
          <p:cNvPr id="11" name="Text 9"/>
          <p:cNvSpPr/>
          <p:nvPr/>
        </p:nvSpPr>
        <p:spPr>
          <a:xfrm>
            <a:off x="6233666" y="2383036"/>
            <a:ext cx="2000622" cy="221456"/>
          </a:xfrm>
          <a:prstGeom prst="rect">
            <a:avLst/>
          </a:prstGeom>
          <a:noFill/>
          <a:ln/>
        </p:spPr>
        <p:txBody>
          <a:bodyPr wrap="none" lIns="0" tIns="0" rIns="0" bIns="0" rtlCol="0" anchor="t"/>
          <a:lstStyle/>
          <a:p>
            <a:pPr marL="0" indent="0" algn="ctr">
              <a:lnSpc>
                <a:spcPct val="104000"/>
              </a:lnSpc>
              <a:buNone/>
            </a:pPr>
            <a:r>
              <a:rPr lang="en-US" sz="1350" dirty="0">
                <a:solidFill>
                  <a:srgbClr val="C9C2C0"/>
                </a:solidFill>
                <a:latin typeface="Gelasio" pitchFamily="34" charset="0"/>
                <a:ea typeface="Gelasio" pitchFamily="34" charset="-122"/>
                <a:cs typeface="Gelasio" pitchFamily="34" charset="-120"/>
              </a:rPr>
              <a:t>Expected AUC</a:t>
            </a:r>
            <a:endParaRPr lang="en-US" sz="1350" dirty="0"/>
          </a:p>
        </p:txBody>
      </p:sp>
      <p:sp>
        <p:nvSpPr>
          <p:cNvPr id="12" name="Text 10"/>
          <p:cNvSpPr/>
          <p:nvPr/>
        </p:nvSpPr>
        <p:spPr>
          <a:xfrm>
            <a:off x="6048747" y="2689547"/>
            <a:ext cx="2599134" cy="453628"/>
          </a:xfrm>
          <a:prstGeom prst="rect">
            <a:avLst/>
          </a:prstGeom>
          <a:noFill/>
          <a:ln/>
        </p:spPr>
        <p:txBody>
          <a:bodyPr wrap="square" lIns="0" tIns="0" rIns="0" bIns="0" rtlCol="0" anchor="t">
            <a:normAutofit/>
          </a:bodyPr>
          <a:lstStyle/>
          <a:p>
            <a:pPr marL="0" indent="0" algn="ctr">
              <a:lnSpc>
                <a:spcPct val="133000"/>
              </a:lnSpc>
              <a:buNone/>
            </a:pPr>
            <a:r>
              <a:rPr lang="en-US" sz="1100" dirty="0">
                <a:solidFill>
                  <a:srgbClr val="C9C2C0"/>
                </a:solidFill>
                <a:latin typeface="Gelasio" pitchFamily="34" charset="0"/>
                <a:ea typeface="Gelasio" pitchFamily="34" charset="-122"/>
                <a:cs typeface="Gelasio" pitchFamily="34" charset="-120"/>
              </a:rPr>
              <a:t>Achieved on a 20% holdout test set with Complementary Naive Bayes.</a:t>
            </a:r>
            <a:endParaRPr lang="en-US" sz="1100" dirty="0"/>
          </a:p>
        </p:txBody>
      </p:sp>
      <p:sp>
        <p:nvSpPr>
          <p:cNvPr id="13" name="Text 11"/>
          <p:cNvSpPr/>
          <p:nvPr/>
        </p:nvSpPr>
        <p:spPr>
          <a:xfrm>
            <a:off x="496119" y="3302645"/>
            <a:ext cx="8608963" cy="226814"/>
          </a:xfrm>
          <a:prstGeom prst="rect">
            <a:avLst/>
          </a:prstGeom>
          <a:noFill/>
          <a:ln/>
        </p:spPr>
        <p:txBody>
          <a:bodyPr wrap="none" lIns="0" tIns="0" rIns="0" bIns="0" rtlCol="0" anchor="t"/>
          <a:lstStyle/>
          <a:p>
            <a:pPr marL="0" indent="0" algn="l">
              <a:lnSpc>
                <a:spcPct val="133000"/>
              </a:lnSpc>
              <a:buNone/>
            </a:pPr>
            <a:r>
              <a:rPr lang="en-US" sz="1100" dirty="0">
                <a:solidFill>
                  <a:srgbClr val="C9C2C0"/>
                </a:solidFill>
                <a:latin typeface="Gelasio" pitchFamily="34" charset="0"/>
                <a:ea typeface="Gelasio" pitchFamily="34" charset="-122"/>
                <a:cs typeface="Gelasio" pitchFamily="34" charset="-120"/>
              </a:rPr>
              <a:t>Key achievements include:</a:t>
            </a:r>
            <a:endParaRPr lang="en-US" sz="1100" dirty="0"/>
          </a:p>
        </p:txBody>
      </p:sp>
      <p:sp>
        <p:nvSpPr>
          <p:cNvPr id="14" name="Text 12"/>
          <p:cNvSpPr/>
          <p:nvPr/>
        </p:nvSpPr>
        <p:spPr>
          <a:xfrm>
            <a:off x="496119" y="3688928"/>
            <a:ext cx="8151763" cy="1055936"/>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100" b="1" dirty="0">
                <a:solidFill>
                  <a:srgbClr val="C9C2C0"/>
                </a:solidFill>
                <a:latin typeface="Gelasio" pitchFamily="34" charset="0"/>
                <a:ea typeface="Gelasio" pitchFamily="34" charset="-122"/>
                <a:cs typeface="Gelasio" pitchFamily="34" charset="-120"/>
              </a:rPr>
              <a:t>Storage:</a:t>
            </a:r>
            <a:r>
              <a:rPr lang="en-US" sz="1100" dirty="0">
                <a:solidFill>
                  <a:srgbClr val="C9C2C0"/>
                </a:solidFill>
                <a:latin typeface="Gelasio" pitchFamily="34" charset="0"/>
                <a:ea typeface="Gelasio" pitchFamily="34" charset="-122"/>
                <a:cs typeface="Gelasio" pitchFamily="34" charset="-120"/>
              </a:rPr>
              <a:t> HDFS distributed block storage eliminates single-node memory limits.</a:t>
            </a:r>
            <a:endParaRPr lang="en-US" sz="1100" dirty="0"/>
          </a:p>
          <a:p>
            <a:pPr marL="342900" indent="-342900" algn="l">
              <a:lnSpc>
                <a:spcPct val="133000"/>
              </a:lnSpc>
              <a:buSzPct val="100000"/>
              <a:buChar char="•"/>
            </a:pPr>
            <a:r>
              <a:rPr lang="en-US" sz="1100" b="1" dirty="0">
                <a:solidFill>
                  <a:srgbClr val="C9C2C0"/>
                </a:solidFill>
                <a:latin typeface="Gelasio" pitchFamily="34" charset="0"/>
                <a:ea typeface="Gelasio" pitchFamily="34" charset="-122"/>
                <a:cs typeface="Gelasio" pitchFamily="34" charset="-120"/>
              </a:rPr>
              <a:t>NLP:</a:t>
            </a:r>
            <a:r>
              <a:rPr lang="en-US" sz="1100" dirty="0">
                <a:solidFill>
                  <a:srgbClr val="C9C2C0"/>
                </a:solidFill>
                <a:latin typeface="Gelasio" pitchFamily="34" charset="0"/>
                <a:ea typeface="Gelasio" pitchFamily="34" charset="-122"/>
                <a:cs typeface="Gelasio" pitchFamily="34" charset="-120"/>
              </a:rPr>
              <a:t> TF-IDF vectorization with EnglishAnalyzer for Porter stemming, stop-word removal, and bigram extraction.</a:t>
            </a:r>
            <a:endParaRPr lang="en-US" sz="1100" dirty="0"/>
          </a:p>
          <a:p>
            <a:pPr marL="342900" indent="-342900" algn="l">
              <a:lnSpc>
                <a:spcPct val="133000"/>
              </a:lnSpc>
              <a:buSzPct val="100000"/>
              <a:buChar char="•"/>
            </a:pPr>
            <a:r>
              <a:rPr lang="en-US" sz="1100" b="1" dirty="0">
                <a:solidFill>
                  <a:srgbClr val="C9C2C0"/>
                </a:solidFill>
                <a:latin typeface="Gelasio" pitchFamily="34" charset="0"/>
                <a:ea typeface="Gelasio" pitchFamily="34" charset="-122"/>
                <a:cs typeface="Gelasio" pitchFamily="34" charset="-120"/>
              </a:rPr>
              <a:t>Deployment:</a:t>
            </a:r>
            <a:r>
              <a:rPr lang="en-US" sz="1100" dirty="0">
                <a:solidFill>
                  <a:srgbClr val="C9C2C0"/>
                </a:solidFill>
                <a:latin typeface="Gelasio" pitchFamily="34" charset="0"/>
                <a:ea typeface="Gelasio" pitchFamily="34" charset="-122"/>
                <a:cs typeface="Gelasio" pitchFamily="34" charset="-120"/>
              </a:rPr>
              <a:t> Fully containerized with Docker, ensuring reproducible deployments in one command.</a:t>
            </a:r>
            <a:endParaRPr lang="en-US" sz="1100" dirty="0"/>
          </a:p>
          <a:p>
            <a:pPr marL="342900" indent="-342900" algn="l">
              <a:lnSpc>
                <a:spcPct val="133000"/>
              </a:lnSpc>
              <a:buSzPct val="100000"/>
              <a:buChar char="•"/>
            </a:pPr>
            <a:r>
              <a:rPr lang="en-US" sz="1100" b="1" dirty="0">
                <a:solidFill>
                  <a:srgbClr val="C9C2C0"/>
                </a:solidFill>
                <a:latin typeface="Gelasio" pitchFamily="34" charset="0"/>
                <a:ea typeface="Gelasio" pitchFamily="34" charset="-122"/>
                <a:cs typeface="Gelasio" pitchFamily="34" charset="-120"/>
              </a:rPr>
              <a:t>UI:</a:t>
            </a:r>
            <a:r>
              <a:rPr lang="en-US" sz="1100" dirty="0">
                <a:solidFill>
                  <a:srgbClr val="C9C2C0"/>
                </a:solidFill>
                <a:latin typeface="Gelasio" pitchFamily="34" charset="0"/>
                <a:ea typeface="Gelasio" pitchFamily="34" charset="-122"/>
                <a:cs typeface="Gelasio" pitchFamily="34" charset="-120"/>
              </a:rPr>
              <a:t> CineVault SPA browses 3,000+ movies with real-time search and personalized recommendations.</a:t>
            </a:r>
            <a:endParaRPr lang="en-US" sz="1100" dirty="0"/>
          </a:p>
        </p:txBody>
      </p:sp>
      <p:sp>
        <p:nvSpPr>
          <p:cNvPr id="15" name="Rectangle 14">
            <a:extLst>
              <a:ext uri="{FF2B5EF4-FFF2-40B4-BE49-F238E27FC236}">
                <a16:creationId xmlns:a16="http://schemas.microsoft.com/office/drawing/2014/main" id="{BD4E353D-5DAA-06D6-530E-DBB03264CA7D}"/>
              </a:ext>
            </a:extLst>
          </p:cNvPr>
          <p:cNvSpPr/>
          <p:nvPr/>
        </p:nvSpPr>
        <p:spPr>
          <a:xfrm>
            <a:off x="8060788" y="4831849"/>
            <a:ext cx="1012370" cy="226815"/>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80640" y="420365"/>
            <a:ext cx="5692973" cy="429146"/>
          </a:xfrm>
          <a:prstGeom prst="rect">
            <a:avLst/>
          </a:prstGeom>
          <a:noFill/>
          <a:ln/>
        </p:spPr>
        <p:txBody>
          <a:bodyPr wrap="none" lIns="0" tIns="0" rIns="0" bIns="0" rtlCol="0" anchor="t"/>
          <a:lstStyle/>
          <a:p>
            <a:pPr marL="0" indent="0" algn="l">
              <a:lnSpc>
                <a:spcPct val="104000"/>
              </a:lnSpc>
              <a:buNone/>
            </a:pPr>
            <a:r>
              <a:rPr lang="en-US" sz="2700" dirty="0">
                <a:solidFill>
                  <a:srgbClr val="D8B6A4"/>
                </a:solidFill>
                <a:latin typeface="Gelasio" pitchFamily="34" charset="0"/>
                <a:ea typeface="Gelasio" pitchFamily="34" charset="-122"/>
                <a:cs typeface="Gelasio" pitchFamily="34" charset="-120"/>
              </a:rPr>
              <a:t>CONCLUSION &amp; FUTURE WORK</a:t>
            </a:r>
            <a:endParaRPr lang="en-US" sz="2700" dirty="0"/>
          </a:p>
        </p:txBody>
      </p:sp>
      <p:sp>
        <p:nvSpPr>
          <p:cNvPr id="3" name="Text 1"/>
          <p:cNvSpPr/>
          <p:nvPr/>
        </p:nvSpPr>
        <p:spPr>
          <a:xfrm>
            <a:off x="480640" y="902717"/>
            <a:ext cx="3203897" cy="343272"/>
          </a:xfrm>
          <a:prstGeom prst="rect">
            <a:avLst/>
          </a:prstGeom>
          <a:noFill/>
          <a:ln/>
        </p:spPr>
        <p:txBody>
          <a:bodyPr wrap="none" lIns="0" tIns="0" rIns="0" bIns="0" rtlCol="0" anchor="t"/>
          <a:lstStyle/>
          <a:p>
            <a:pPr marL="0" indent="0" algn="l">
              <a:lnSpc>
                <a:spcPct val="104000"/>
              </a:lnSpc>
              <a:buNone/>
            </a:pPr>
            <a:r>
              <a:rPr lang="en-US" sz="2150" dirty="0">
                <a:solidFill>
                  <a:srgbClr val="D8B6A4"/>
                </a:solidFill>
                <a:latin typeface="Gelasio" pitchFamily="34" charset="0"/>
                <a:ea typeface="Gelasio" pitchFamily="34" charset="-122"/>
                <a:cs typeface="Gelasio" pitchFamily="34" charset="-120"/>
              </a:rPr>
              <a:t>Conclusion</a:t>
            </a:r>
            <a:endParaRPr lang="en-US" sz="2150" dirty="0"/>
          </a:p>
        </p:txBody>
      </p:sp>
      <p:sp>
        <p:nvSpPr>
          <p:cNvPr id="4" name="Text 2"/>
          <p:cNvSpPr/>
          <p:nvPr/>
        </p:nvSpPr>
        <p:spPr>
          <a:xfrm>
            <a:off x="480640" y="1445493"/>
            <a:ext cx="8182719" cy="1267644"/>
          </a:xfrm>
          <a:prstGeom prst="rect">
            <a:avLst/>
          </a:prstGeom>
          <a:noFill/>
          <a:ln/>
        </p:spPr>
        <p:txBody>
          <a:bodyPr wrap="square" lIns="0" tIns="0" rIns="0" bIns="0" rtlCol="0" anchor="t">
            <a:normAutofit/>
          </a:bodyPr>
          <a:lstStyle/>
          <a:p>
            <a:pPr marL="342900" indent="-342900" algn="l">
              <a:lnSpc>
                <a:spcPct val="131000"/>
              </a:lnSpc>
              <a:buSzPct val="100000"/>
              <a:buChar char="•"/>
            </a:pPr>
            <a:r>
              <a:rPr lang="en-US" sz="1050" dirty="0">
                <a:solidFill>
                  <a:srgbClr val="C9C2C0"/>
                </a:solidFill>
                <a:latin typeface="Gelasio" pitchFamily="34" charset="0"/>
                <a:ea typeface="Gelasio" pitchFamily="34" charset="-122"/>
                <a:cs typeface="Gelasio" pitchFamily="34" charset="-120"/>
              </a:rPr>
              <a:t>Successfully built a complete end-to-end Big Data NLP classification pipeline.</a:t>
            </a:r>
            <a:endParaRPr lang="en-US" sz="1050" dirty="0"/>
          </a:p>
          <a:p>
            <a:pPr marL="342900" indent="-342900" algn="l">
              <a:lnSpc>
                <a:spcPct val="131000"/>
              </a:lnSpc>
              <a:buSzPct val="100000"/>
              <a:buChar char="•"/>
            </a:pPr>
            <a:r>
              <a:rPr lang="en-US" sz="1050" dirty="0">
                <a:solidFill>
                  <a:srgbClr val="C9C2C0"/>
                </a:solidFill>
                <a:latin typeface="Gelasio" pitchFamily="34" charset="0"/>
                <a:ea typeface="Gelasio" pitchFamily="34" charset="-122"/>
                <a:cs typeface="Gelasio" pitchFamily="34" charset="-120"/>
              </a:rPr>
              <a:t>TMDB API ingestion → HDFS distributed storage → Mahout TF-IDF + CNB → CineVault UI.</a:t>
            </a:r>
            <a:endParaRPr lang="en-US" sz="1050" dirty="0"/>
          </a:p>
          <a:p>
            <a:pPr marL="342900" indent="-342900" algn="l">
              <a:lnSpc>
                <a:spcPct val="131000"/>
              </a:lnSpc>
              <a:buSzPct val="100000"/>
              <a:buChar char="•"/>
            </a:pPr>
            <a:r>
              <a:rPr lang="en-US" sz="1050" dirty="0">
                <a:solidFill>
                  <a:srgbClr val="C9C2C0"/>
                </a:solidFill>
                <a:latin typeface="Gelasio" pitchFamily="34" charset="0"/>
                <a:ea typeface="Gelasio" pitchFamily="34" charset="-122"/>
                <a:cs typeface="Gelasio" pitchFamily="34" charset="-120"/>
              </a:rPr>
              <a:t>Docker containerization ensures full portability and one-command reproducibility.</a:t>
            </a:r>
            <a:endParaRPr lang="en-US" sz="1050" dirty="0"/>
          </a:p>
          <a:p>
            <a:pPr marL="342900" indent="-342900" algn="l">
              <a:lnSpc>
                <a:spcPct val="131000"/>
              </a:lnSpc>
              <a:buSzPct val="100000"/>
              <a:buChar char="•"/>
            </a:pPr>
            <a:r>
              <a:rPr lang="en-US" sz="1050" dirty="0">
                <a:solidFill>
                  <a:srgbClr val="C9C2C0"/>
                </a:solidFill>
                <a:latin typeface="Gelasio" pitchFamily="34" charset="0"/>
                <a:ea typeface="Gelasio" pitchFamily="34" charset="-122"/>
                <a:cs typeface="Gelasio" pitchFamily="34" charset="-120"/>
              </a:rPr>
              <a:t>CNB algorithm effectively handles the 27× genre class imbalance in the dataset.</a:t>
            </a:r>
            <a:endParaRPr lang="en-US" sz="1050" dirty="0"/>
          </a:p>
          <a:p>
            <a:pPr marL="342900" indent="-342900" algn="l">
              <a:lnSpc>
                <a:spcPct val="131000"/>
              </a:lnSpc>
              <a:buSzPct val="100000"/>
              <a:buChar char="•"/>
            </a:pPr>
            <a:r>
              <a:rPr lang="en-US" sz="1050" dirty="0">
                <a:solidFill>
                  <a:srgbClr val="C9C2C0"/>
                </a:solidFill>
                <a:latin typeface="Gelasio" pitchFamily="34" charset="0"/>
                <a:ea typeface="Gelasio" pitchFamily="34" charset="-122"/>
                <a:cs typeface="Gelasio" pitchFamily="34" charset="-120"/>
              </a:rPr>
              <a:t>Project bridges Big Data infrastructure (Hadoop) with real-world web delivery (CineVault).</a:t>
            </a:r>
            <a:endParaRPr lang="en-US" sz="1050" dirty="0"/>
          </a:p>
        </p:txBody>
      </p:sp>
      <p:sp>
        <p:nvSpPr>
          <p:cNvPr id="5" name="Text 3"/>
          <p:cNvSpPr/>
          <p:nvPr/>
        </p:nvSpPr>
        <p:spPr>
          <a:xfrm>
            <a:off x="480640" y="2912641"/>
            <a:ext cx="3203897" cy="343272"/>
          </a:xfrm>
          <a:prstGeom prst="rect">
            <a:avLst/>
          </a:prstGeom>
          <a:noFill/>
          <a:ln/>
        </p:spPr>
        <p:txBody>
          <a:bodyPr wrap="none" lIns="0" tIns="0" rIns="0" bIns="0" rtlCol="0" anchor="t"/>
          <a:lstStyle/>
          <a:p>
            <a:pPr marL="0" indent="0" algn="l">
              <a:lnSpc>
                <a:spcPct val="104000"/>
              </a:lnSpc>
              <a:buNone/>
            </a:pPr>
            <a:r>
              <a:rPr lang="en-US" sz="2150" dirty="0">
                <a:solidFill>
                  <a:srgbClr val="D8B6A4"/>
                </a:solidFill>
                <a:latin typeface="Gelasio" pitchFamily="34" charset="0"/>
                <a:ea typeface="Gelasio" pitchFamily="34" charset="-122"/>
                <a:cs typeface="Gelasio" pitchFamily="34" charset="-120"/>
              </a:rPr>
              <a:t>Future Work</a:t>
            </a:r>
            <a:endParaRPr lang="en-US" sz="2150" dirty="0"/>
          </a:p>
        </p:txBody>
      </p:sp>
      <p:sp>
        <p:nvSpPr>
          <p:cNvPr id="6" name="Text 4"/>
          <p:cNvSpPr/>
          <p:nvPr/>
        </p:nvSpPr>
        <p:spPr>
          <a:xfrm>
            <a:off x="480640" y="3455417"/>
            <a:ext cx="8182719" cy="1267644"/>
          </a:xfrm>
          <a:prstGeom prst="rect">
            <a:avLst/>
          </a:prstGeom>
          <a:noFill/>
          <a:ln/>
        </p:spPr>
        <p:txBody>
          <a:bodyPr wrap="square" lIns="0" tIns="0" rIns="0" bIns="0" rtlCol="0" anchor="t">
            <a:normAutofit/>
          </a:bodyPr>
          <a:lstStyle/>
          <a:p>
            <a:pPr marL="342900" indent="-342900" algn="l">
              <a:lnSpc>
                <a:spcPct val="131000"/>
              </a:lnSpc>
              <a:buSzPct val="100000"/>
              <a:buChar char="•"/>
            </a:pPr>
            <a:r>
              <a:rPr lang="en-US" sz="1050" dirty="0">
                <a:solidFill>
                  <a:srgbClr val="C9C2C0"/>
                </a:solidFill>
                <a:latin typeface="Gelasio" pitchFamily="34" charset="0"/>
                <a:ea typeface="Gelasio" pitchFamily="34" charset="-122"/>
                <a:cs typeface="Gelasio" pitchFamily="34" charset="-120"/>
              </a:rPr>
              <a:t>Deep learning: Replace CNB with BERT/DistilBERT for richer text embeddings.</a:t>
            </a:r>
            <a:endParaRPr lang="en-US" sz="1050" dirty="0"/>
          </a:p>
          <a:p>
            <a:pPr marL="342900" indent="-342900" algn="l">
              <a:lnSpc>
                <a:spcPct val="131000"/>
              </a:lnSpc>
              <a:buSzPct val="100000"/>
              <a:buChar char="•"/>
            </a:pPr>
            <a:r>
              <a:rPr lang="en-US" sz="1050" dirty="0">
                <a:solidFill>
                  <a:srgbClr val="C9C2C0"/>
                </a:solidFill>
                <a:latin typeface="Gelasio" pitchFamily="34" charset="0"/>
                <a:ea typeface="Gelasio" pitchFamily="34" charset="-122"/>
                <a:cs typeface="Gelasio" pitchFamily="34" charset="-120"/>
              </a:rPr>
              <a:t>Real-time streaming: Apache Kafka for continuous TMDB data ingestion.</a:t>
            </a:r>
            <a:endParaRPr lang="en-US" sz="1050" dirty="0"/>
          </a:p>
          <a:p>
            <a:pPr marL="342900" indent="-342900" algn="l">
              <a:lnSpc>
                <a:spcPct val="131000"/>
              </a:lnSpc>
              <a:buSzPct val="100000"/>
              <a:buChar char="•"/>
            </a:pPr>
            <a:r>
              <a:rPr lang="en-US" sz="1050" dirty="0">
                <a:solidFill>
                  <a:srgbClr val="C9C2C0"/>
                </a:solidFill>
                <a:latin typeface="Gelasio" pitchFamily="34" charset="0"/>
                <a:ea typeface="Gelasio" pitchFamily="34" charset="-122"/>
                <a:cs typeface="Gelasio" pitchFamily="34" charset="-120"/>
              </a:rPr>
              <a:t>Multi-label classification: Movies can belong to multiple genres simultaneously.</a:t>
            </a:r>
            <a:endParaRPr lang="en-US" sz="1050" dirty="0"/>
          </a:p>
          <a:p>
            <a:pPr marL="342900" indent="-342900" algn="l">
              <a:lnSpc>
                <a:spcPct val="131000"/>
              </a:lnSpc>
              <a:buSzPct val="100000"/>
              <a:buChar char="•"/>
            </a:pPr>
            <a:r>
              <a:rPr lang="en-US" sz="1050" dirty="0">
                <a:solidFill>
                  <a:srgbClr val="C9C2C0"/>
                </a:solidFill>
                <a:latin typeface="Gelasio" pitchFamily="34" charset="0"/>
                <a:ea typeface="Gelasio" pitchFamily="34" charset="-122"/>
                <a:cs typeface="Gelasio" pitchFamily="34" charset="-120"/>
              </a:rPr>
              <a:t>Cloud deployment: AWS EMR or GCP Dataproc for production-scale HDFS clusters.</a:t>
            </a:r>
            <a:endParaRPr lang="en-US" sz="1050" dirty="0"/>
          </a:p>
          <a:p>
            <a:pPr marL="342900" indent="-342900" algn="l">
              <a:lnSpc>
                <a:spcPct val="131000"/>
              </a:lnSpc>
              <a:buSzPct val="100000"/>
              <a:buChar char="•"/>
            </a:pPr>
            <a:r>
              <a:rPr lang="en-US" sz="1050" dirty="0">
                <a:solidFill>
                  <a:srgbClr val="C9C2C0"/>
                </a:solidFill>
                <a:latin typeface="Gelasio" pitchFamily="34" charset="0"/>
                <a:ea typeface="Gelasio" pitchFamily="34" charset="-122"/>
                <a:cs typeface="Gelasio" pitchFamily="34" charset="-120"/>
              </a:rPr>
              <a:t>Model serving API: Flask/FastAPI backend to serve CNB predictions to CineVault live.</a:t>
            </a:r>
            <a:endParaRPr lang="en-US" sz="1050" dirty="0"/>
          </a:p>
        </p:txBody>
      </p:sp>
      <p:sp>
        <p:nvSpPr>
          <p:cNvPr id="7" name="Rectangle 6">
            <a:extLst>
              <a:ext uri="{FF2B5EF4-FFF2-40B4-BE49-F238E27FC236}">
                <a16:creationId xmlns:a16="http://schemas.microsoft.com/office/drawing/2014/main" id="{768BC90B-5915-23E4-8E29-EF161D5981D6}"/>
              </a:ext>
            </a:extLst>
          </p:cNvPr>
          <p:cNvSpPr/>
          <p:nvPr/>
        </p:nvSpPr>
        <p:spPr>
          <a:xfrm>
            <a:off x="8060788" y="4831849"/>
            <a:ext cx="1012370" cy="226815"/>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464342">
              <a:alpha val="80000"/>
            </a:srgbClr>
          </a:solidFill>
          <a:ln/>
        </p:spPr>
        <p:txBody>
          <a:bodyPr/>
          <a:lstStyle/>
          <a:p>
            <a:endParaRPr lang="en-IN"/>
          </a:p>
        </p:txBody>
      </p:sp>
      <p:sp>
        <p:nvSpPr>
          <p:cNvPr id="4" name="Text 1"/>
          <p:cNvSpPr/>
          <p:nvPr/>
        </p:nvSpPr>
        <p:spPr>
          <a:xfrm>
            <a:off x="496119" y="1400621"/>
            <a:ext cx="4001319" cy="442987"/>
          </a:xfrm>
          <a:prstGeom prst="rect">
            <a:avLst/>
          </a:prstGeom>
          <a:noFill/>
          <a:ln/>
        </p:spPr>
        <p:txBody>
          <a:bodyPr wrap="none" lIns="0" tIns="0" rIns="0" bIns="0" rtlCol="0" anchor="t"/>
          <a:lstStyle/>
          <a:p>
            <a:pPr marL="0" indent="0" algn="l">
              <a:lnSpc>
                <a:spcPct val="104000"/>
              </a:lnSpc>
              <a:buNone/>
            </a:pPr>
            <a:r>
              <a:rPr lang="en-US" sz="2750" dirty="0">
                <a:solidFill>
                  <a:srgbClr val="D8B6A4"/>
                </a:solidFill>
                <a:latin typeface="Gelasio" pitchFamily="34" charset="0"/>
                <a:ea typeface="Gelasio" pitchFamily="34" charset="-122"/>
                <a:cs typeface="Gelasio" pitchFamily="34" charset="-120"/>
              </a:rPr>
              <a:t>REFERENCES</a:t>
            </a:r>
            <a:endParaRPr lang="en-US" sz="2750" dirty="0"/>
          </a:p>
        </p:txBody>
      </p:sp>
      <p:sp>
        <p:nvSpPr>
          <p:cNvPr id="5" name="Text 2"/>
          <p:cNvSpPr/>
          <p:nvPr/>
        </p:nvSpPr>
        <p:spPr>
          <a:xfrm>
            <a:off x="496119" y="2183755"/>
            <a:ext cx="3902943" cy="1055936"/>
          </a:xfrm>
          <a:prstGeom prst="rect">
            <a:avLst/>
          </a:prstGeom>
          <a:noFill/>
          <a:ln/>
        </p:spPr>
        <p:txBody>
          <a:bodyPr wrap="square" lIns="0" tIns="0" rIns="0" bIns="0" rtlCol="0" anchor="t">
            <a:normAutofit/>
          </a:bodyPr>
          <a:lstStyle/>
          <a:p>
            <a:pPr marL="342900" indent="-342900" algn="l">
              <a:lnSpc>
                <a:spcPct val="133000"/>
              </a:lnSpc>
              <a:buSzPct val="100000"/>
              <a:buFont typeface="+mj-lt"/>
              <a:buAutoNum type="arabicPeriod"/>
            </a:pPr>
            <a:r>
              <a:rPr lang="en-US" sz="1100" dirty="0">
                <a:solidFill>
                  <a:srgbClr val="C9C2C0"/>
                </a:solidFill>
                <a:latin typeface="Gelasio" pitchFamily="34" charset="0"/>
                <a:ea typeface="Gelasio" pitchFamily="34" charset="-122"/>
                <a:cs typeface="Gelasio" pitchFamily="34" charset="-120"/>
              </a:rPr>
              <a:t>[1] </a:t>
            </a:r>
            <a:r>
              <a:rPr lang="en-US" sz="1100" u="sng" dirty="0">
                <a:solidFill>
                  <a:srgbClr val="C49F8C"/>
                </a:solidFill>
                <a:latin typeface="Gelasio" pitchFamily="34" charset="0"/>
                <a:ea typeface="Gelasio" pitchFamily="34" charset="-122"/>
                <a:cs typeface="Gelasio" pitchFamily="34" charset="-120"/>
                <a:hlinkClick r:id="rId4">
                  <a:extLst>
                    <a:ext uri="{A12FA001-AC4F-418D-AE19-62706E023703}">
                      <ahyp:hlinkClr xmlns:ahyp="http://schemas.microsoft.com/office/drawing/2018/hyperlinkcolor" val="tx"/>
                    </a:ext>
                  </a:extLst>
                </a:hlinkClick>
              </a:rPr>
              <a:t>TMDB API Documentation</a:t>
            </a:r>
            <a:endParaRPr lang="en-US" sz="1100" dirty="0"/>
          </a:p>
          <a:p>
            <a:pPr marL="342900" indent="-342900" algn="l">
              <a:lnSpc>
                <a:spcPct val="133000"/>
              </a:lnSpc>
              <a:buSzPct val="100000"/>
              <a:buFont typeface="+mj-lt"/>
              <a:buAutoNum type="arabicPeriod" startAt="2"/>
            </a:pPr>
            <a:r>
              <a:rPr lang="en-US" sz="1100" dirty="0">
                <a:solidFill>
                  <a:srgbClr val="C9C2C0"/>
                </a:solidFill>
                <a:latin typeface="Gelasio" pitchFamily="34" charset="0"/>
                <a:ea typeface="Gelasio" pitchFamily="34" charset="-122"/>
                <a:cs typeface="Gelasio" pitchFamily="34" charset="-120"/>
              </a:rPr>
              <a:t>[2] </a:t>
            </a:r>
            <a:r>
              <a:rPr lang="en-US" sz="1100" u="sng" dirty="0">
                <a:solidFill>
                  <a:srgbClr val="C49F8C"/>
                </a:solidFill>
                <a:latin typeface="Gelasio" pitchFamily="34" charset="0"/>
                <a:ea typeface="Gelasio" pitchFamily="34" charset="-122"/>
                <a:cs typeface="Gelasio" pitchFamily="34" charset="-120"/>
                <a:hlinkClick r:id="rId5">
                  <a:extLst>
                    <a:ext uri="{A12FA001-AC4F-418D-AE19-62706E023703}">
                      <ahyp:hlinkClr xmlns:ahyp="http://schemas.microsoft.com/office/drawing/2018/hyperlinkcolor" val="tx"/>
                    </a:ext>
                  </a:extLst>
                </a:hlinkClick>
              </a:rPr>
              <a:t>Apache Mahout Documentation</a:t>
            </a:r>
            <a:endParaRPr lang="en-US" sz="1100" dirty="0"/>
          </a:p>
          <a:p>
            <a:pPr marL="342900" indent="-342900" algn="l">
              <a:lnSpc>
                <a:spcPct val="133000"/>
              </a:lnSpc>
              <a:buSzPct val="100000"/>
              <a:buFont typeface="+mj-lt"/>
              <a:buAutoNum type="arabicPeriod" startAt="3"/>
            </a:pPr>
            <a:r>
              <a:rPr lang="en-US" sz="1100" dirty="0">
                <a:solidFill>
                  <a:srgbClr val="C9C2C0"/>
                </a:solidFill>
                <a:latin typeface="Gelasio" pitchFamily="34" charset="0"/>
                <a:ea typeface="Gelasio" pitchFamily="34" charset="-122"/>
                <a:cs typeface="Gelasio" pitchFamily="34" charset="-120"/>
              </a:rPr>
              <a:t>[3] </a:t>
            </a:r>
            <a:r>
              <a:rPr lang="en-US" sz="1100" u="sng" dirty="0">
                <a:solidFill>
                  <a:srgbClr val="C49F8C"/>
                </a:solidFill>
                <a:latin typeface="Gelasio" pitchFamily="34" charset="0"/>
                <a:ea typeface="Gelasio" pitchFamily="34" charset="-122"/>
                <a:cs typeface="Gelasio" pitchFamily="34" charset="-120"/>
                <a:hlinkClick r:id="rId6">
                  <a:extLst>
                    <a:ext uri="{A12FA001-AC4F-418D-AE19-62706E023703}">
                      <ahyp:hlinkClr xmlns:ahyp="http://schemas.microsoft.com/office/drawing/2018/hyperlinkcolor" val="tx"/>
                    </a:ext>
                  </a:extLst>
                </a:hlinkClick>
              </a:rPr>
              <a:t>Hadoop HDFS Guide</a:t>
            </a:r>
            <a:endParaRPr lang="en-US" sz="1100" dirty="0"/>
          </a:p>
          <a:p>
            <a:pPr marL="342900" indent="-342900" algn="l">
              <a:lnSpc>
                <a:spcPct val="133000"/>
              </a:lnSpc>
              <a:buSzPct val="100000"/>
              <a:buFont typeface="+mj-lt"/>
              <a:buAutoNum type="arabicPeriod" startAt="4"/>
            </a:pPr>
            <a:r>
              <a:rPr lang="en-US" sz="1100" dirty="0">
                <a:solidFill>
                  <a:srgbClr val="C9C2C0"/>
                </a:solidFill>
                <a:latin typeface="Gelasio" pitchFamily="34" charset="0"/>
                <a:ea typeface="Gelasio" pitchFamily="34" charset="-122"/>
                <a:cs typeface="Gelasio" pitchFamily="34" charset="-120"/>
              </a:rPr>
              <a:t>[4] </a:t>
            </a:r>
            <a:r>
              <a:rPr lang="en-US" sz="1100" u="sng" dirty="0">
                <a:solidFill>
                  <a:srgbClr val="C49F8C"/>
                </a:solidFill>
                <a:latin typeface="Gelasio" pitchFamily="34" charset="0"/>
                <a:ea typeface="Gelasio" pitchFamily="34" charset="-122"/>
                <a:cs typeface="Gelasio" pitchFamily="34" charset="-120"/>
                <a:hlinkClick r:id="rId7">
                  <a:extLst>
                    <a:ext uri="{A12FA001-AC4F-418D-AE19-62706E023703}">
                      <ahyp:hlinkClr xmlns:ahyp="http://schemas.microsoft.com/office/drawing/2018/hyperlinkcolor" val="tx"/>
                    </a:ext>
                  </a:extLst>
                </a:hlinkClick>
              </a:rPr>
              <a:t>Docker Compose Reference</a:t>
            </a:r>
            <a:endParaRPr lang="en-US" sz="1100" dirty="0"/>
          </a:p>
        </p:txBody>
      </p:sp>
      <p:sp>
        <p:nvSpPr>
          <p:cNvPr id="6" name="Text 3"/>
          <p:cNvSpPr/>
          <p:nvPr/>
        </p:nvSpPr>
        <p:spPr>
          <a:xfrm>
            <a:off x="4749701" y="2183755"/>
            <a:ext cx="3902943" cy="1509564"/>
          </a:xfrm>
          <a:prstGeom prst="rect">
            <a:avLst/>
          </a:prstGeom>
          <a:noFill/>
          <a:ln/>
        </p:spPr>
        <p:txBody>
          <a:bodyPr wrap="square" lIns="0" tIns="0" rIns="0" bIns="0" rtlCol="0" anchor="t">
            <a:normAutofit/>
          </a:bodyPr>
          <a:lstStyle/>
          <a:p>
            <a:pPr marL="342900" indent="-342900" algn="l">
              <a:lnSpc>
                <a:spcPct val="133000"/>
              </a:lnSpc>
              <a:buSzPct val="100000"/>
              <a:buFont typeface="+mj-lt"/>
              <a:buAutoNum type="arabicPeriod"/>
            </a:pPr>
            <a:r>
              <a:rPr lang="en-US" sz="1100" dirty="0">
                <a:solidFill>
                  <a:srgbClr val="C9C2C0"/>
                </a:solidFill>
                <a:latin typeface="Gelasio" pitchFamily="34" charset="0"/>
                <a:ea typeface="Gelasio" pitchFamily="34" charset="-122"/>
                <a:cs typeface="Gelasio" pitchFamily="34" charset="-120"/>
              </a:rPr>
              <a:t>[5] </a:t>
            </a:r>
            <a:r>
              <a:rPr lang="en-US" sz="1100" u="sng" dirty="0">
                <a:solidFill>
                  <a:srgbClr val="C49F8C"/>
                </a:solidFill>
                <a:latin typeface="Gelasio" pitchFamily="34" charset="0"/>
                <a:ea typeface="Gelasio" pitchFamily="34" charset="-122"/>
                <a:cs typeface="Gelasio" pitchFamily="34" charset="-120"/>
                <a:hlinkClick r:id="rId8">
                  <a:extLst>
                    <a:ext uri="{A12FA001-AC4F-418D-AE19-62706E023703}">
                      <ahyp:hlinkClr xmlns:ahyp="http://schemas.microsoft.com/office/drawing/2018/hyperlinkcolor" val="tx"/>
                    </a:ext>
                  </a:extLst>
                </a:hlinkClick>
              </a:rPr>
              <a:t>Apache Lucene EnglishAnalyzer</a:t>
            </a:r>
            <a:endParaRPr lang="en-US" sz="1100" dirty="0"/>
          </a:p>
          <a:p>
            <a:pPr marL="342900" indent="-342900" algn="l">
              <a:lnSpc>
                <a:spcPct val="133000"/>
              </a:lnSpc>
              <a:buSzPct val="100000"/>
              <a:buFont typeface="+mj-lt"/>
              <a:buAutoNum type="arabicPeriod" startAt="2"/>
            </a:pPr>
            <a:r>
              <a:rPr lang="en-US" sz="1100" dirty="0">
                <a:solidFill>
                  <a:srgbClr val="C9C2C0"/>
                </a:solidFill>
                <a:latin typeface="Gelasio" pitchFamily="34" charset="0"/>
                <a:ea typeface="Gelasio" pitchFamily="34" charset="-122"/>
                <a:cs typeface="Gelasio" pitchFamily="34" charset="-120"/>
              </a:rPr>
              <a:t>[6] J. D. M. Rennie et al., 'Tackling the Poor Assumptions of Naive Bayes Text Classifiers,' ICML 2003</a:t>
            </a:r>
            <a:endParaRPr lang="en-US" sz="1100" dirty="0"/>
          </a:p>
          <a:p>
            <a:pPr marL="342900" indent="-342900" algn="l">
              <a:lnSpc>
                <a:spcPct val="133000"/>
              </a:lnSpc>
              <a:buSzPct val="100000"/>
              <a:buFont typeface="+mj-lt"/>
              <a:buAutoNum type="arabicPeriod" startAt="3"/>
            </a:pPr>
            <a:r>
              <a:rPr lang="en-US" sz="1100" dirty="0">
                <a:solidFill>
                  <a:srgbClr val="C9C2C0"/>
                </a:solidFill>
                <a:latin typeface="Gelasio" pitchFamily="34" charset="0"/>
                <a:ea typeface="Gelasio" pitchFamily="34" charset="-122"/>
                <a:cs typeface="Gelasio" pitchFamily="34" charset="-120"/>
              </a:rPr>
              <a:t>[7] G. Salton &amp; C. Buckley, 'Term-Weighting Approaches in Automatic Text Retrieval,' IPM 1988</a:t>
            </a:r>
            <a:endParaRPr lang="en-US" sz="1100" dirty="0"/>
          </a:p>
          <a:p>
            <a:pPr marL="342900" indent="-342900" algn="l">
              <a:lnSpc>
                <a:spcPct val="133000"/>
              </a:lnSpc>
              <a:buSzPct val="100000"/>
              <a:buFont typeface="+mj-lt"/>
              <a:buAutoNum type="arabicPeriod" startAt="4"/>
            </a:pPr>
            <a:r>
              <a:rPr lang="en-US" sz="1100" dirty="0">
                <a:solidFill>
                  <a:srgbClr val="C9C2C0"/>
                </a:solidFill>
                <a:latin typeface="Gelasio" pitchFamily="34" charset="0"/>
                <a:ea typeface="Gelasio" pitchFamily="34" charset="-122"/>
                <a:cs typeface="Gelasio" pitchFamily="34" charset="-120"/>
              </a:rPr>
              <a:t>[8] </a:t>
            </a:r>
            <a:r>
              <a:rPr lang="en-US" sz="1100" u="sng" dirty="0">
                <a:solidFill>
                  <a:srgbClr val="C49F8C"/>
                </a:solidFill>
                <a:latin typeface="Gelasio" pitchFamily="34" charset="0"/>
                <a:ea typeface="Gelasio" pitchFamily="34" charset="-122"/>
                <a:cs typeface="Gelasio" pitchFamily="34" charset="-120"/>
                <a:hlinkClick r:id="rId9">
                  <a:extLst>
                    <a:ext uri="{A12FA001-AC4F-418D-AE19-62706E023703}">
                      <ahyp:hlinkClr xmlns:ahyp="http://schemas.microsoft.com/office/drawing/2018/hyperlinkcolor" val="tx"/>
                    </a:ext>
                  </a:extLst>
                </a:hlinkClick>
              </a:rPr>
              <a:t>bde2020/hadoop Docker images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TotalTime>
  <Words>2874</Words>
  <Application>Microsoft Office PowerPoint</Application>
  <PresentationFormat>On-screen Show (16:9)</PresentationFormat>
  <Paragraphs>238</Paragraphs>
  <Slides>18</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Gelasio Light</vt:lpstr>
      <vt:lpstr>Gelasio</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Sunil Kerketta</cp:lastModifiedBy>
  <cp:revision>5</cp:revision>
  <dcterms:created xsi:type="dcterms:W3CDTF">2026-05-15T21:09:03Z</dcterms:created>
  <dcterms:modified xsi:type="dcterms:W3CDTF">2026-05-16T05:38:47Z</dcterms:modified>
</cp:coreProperties>
</file>